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59" r:id="rId5"/>
    <p:sldId id="459" r:id="rId6"/>
    <p:sldId id="487" r:id="rId7"/>
    <p:sldId id="488" r:id="rId8"/>
    <p:sldId id="489" r:id="rId9"/>
    <p:sldId id="490" r:id="rId10"/>
    <p:sldId id="491" r:id="rId11"/>
    <p:sldId id="492" r:id="rId12"/>
    <p:sldId id="493" r:id="rId13"/>
    <p:sldId id="495" r:id="rId14"/>
    <p:sldId id="494" r:id="rId15"/>
    <p:sldId id="501" r:id="rId16"/>
    <p:sldId id="496" r:id="rId17"/>
    <p:sldId id="497" r:id="rId18"/>
    <p:sldId id="498" r:id="rId19"/>
    <p:sldId id="499" r:id="rId20"/>
    <p:sldId id="500" r:id="rId21"/>
    <p:sldId id="351"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162A7457-63A4-4FA5-A5FE-EF022AC61CB8}">
          <p14:sldIdLst>
            <p14:sldId id="259"/>
            <p14:sldId id="459"/>
          </p14:sldIdLst>
        </p14:section>
        <p14:section name="Introduction" id="{05B3D7C6-CCCF-434D-81C4-479EB2687557}">
          <p14:sldIdLst>
            <p14:sldId id="487"/>
            <p14:sldId id="488"/>
            <p14:sldId id="489"/>
          </p14:sldIdLst>
        </p14:section>
        <p14:section name="Methodology" id="{05A4AFF5-CF4A-4A51-A04D-068493478CD9}">
          <p14:sldIdLst>
            <p14:sldId id="490"/>
            <p14:sldId id="491"/>
            <p14:sldId id="492"/>
          </p14:sldIdLst>
        </p14:section>
        <p14:section name="AI Application" id="{E090A2F8-1D36-410E-B1A5-636875E1E38F}">
          <p14:sldIdLst>
            <p14:sldId id="493"/>
            <p14:sldId id="495"/>
            <p14:sldId id="494"/>
            <p14:sldId id="501"/>
          </p14:sldIdLst>
        </p14:section>
        <p14:section name="Result" id="{1CC235C1-FE21-4A97-81A0-E9B800C7C9A1}">
          <p14:sldIdLst>
            <p14:sldId id="496"/>
            <p14:sldId id="497"/>
          </p14:sldIdLst>
        </p14:section>
        <p14:section name="Discussion" id="{4E7B9B58-CB9D-4770-B5D7-61576BA6CC15}">
          <p14:sldIdLst>
            <p14:sldId id="498"/>
            <p14:sldId id="499"/>
          </p14:sldIdLst>
        </p14:section>
        <p14:section name="Conclusion" id="{C8830391-8B7E-4CBB-8CB5-5066C18F9A82}">
          <p14:sldIdLst>
            <p14:sldId id="500"/>
            <p14:sldId id="351"/>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1C62"/>
    <a:srgbClr val="D71440"/>
    <a:srgbClr val="C6C6C6"/>
    <a:srgbClr val="044B9B"/>
    <a:srgbClr val="0250A1"/>
    <a:srgbClr val="FFFFFF"/>
    <a:srgbClr val="F79646"/>
    <a:srgbClr val="0372C2"/>
    <a:srgbClr val="FFFF99"/>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97" autoAdjust="0"/>
    <p:restoredTop sz="88060" autoAdjust="0"/>
  </p:normalViewPr>
  <p:slideViewPr>
    <p:cSldViewPr snapToGrid="0" snapToObjects="1">
      <p:cViewPr varScale="1">
        <p:scale>
          <a:sx n="195" d="100"/>
          <a:sy n="195" d="100"/>
        </p:scale>
        <p:origin x="728" y="112"/>
      </p:cViewPr>
      <p:guideLst>
        <p:guide orient="horz" pos="1620"/>
        <p:guide pos="2880"/>
      </p:guideLst>
    </p:cSldViewPr>
  </p:slideViewPr>
  <p:outlineViewPr>
    <p:cViewPr>
      <p:scale>
        <a:sx n="33" d="100"/>
        <a:sy n="33" d="100"/>
      </p:scale>
      <p:origin x="0" y="-1052"/>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1EFC5B3-379E-EF40-A0D2-38E640436CC2}" type="datetimeFigureOut">
              <a:rPr lang="en-US" smtClean="0">
                <a:latin typeface="Arial"/>
              </a:rPr>
              <a:t>10/22/2026</a:t>
            </a:fld>
            <a:endParaRPr lang="en-US" dirty="0">
              <a:latin typeface="Aria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A029101-7F9C-2D47-B95D-7561785BF174}" type="slidenum">
              <a:rPr lang="en-US" smtClean="0">
                <a:latin typeface="Arial"/>
              </a:rPr>
              <a:t>‹#›</a:t>
            </a:fld>
            <a:endParaRPr lang="en-US" dirty="0">
              <a:latin typeface="Arial"/>
            </a:endParaRPr>
          </a:p>
        </p:txBody>
      </p:sp>
    </p:spTree>
    <p:extLst>
      <p:ext uri="{BB962C8B-B14F-4D97-AF65-F5344CB8AC3E}">
        <p14:creationId xmlns:p14="http://schemas.microsoft.com/office/powerpoint/2010/main" val="396117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C20F65-AD8A-450C-9CF3-746F4B0F2E7F}"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AA2D71-53A4-4733-9771-F771EA6183E5}" type="slidenum">
              <a:rPr lang="en-US" smtClean="0"/>
              <a:t>‹#›</a:t>
            </a:fld>
            <a:endParaRPr lang="en-US"/>
          </a:p>
        </p:txBody>
      </p:sp>
    </p:spTree>
    <p:extLst>
      <p:ext uri="{BB962C8B-B14F-4D97-AF65-F5344CB8AC3E}">
        <p14:creationId xmlns:p14="http://schemas.microsoft.com/office/powerpoint/2010/main" val="1209847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AA2D71-53A4-4733-9771-F771EA6183E5}" type="slidenum">
              <a:rPr lang="en-US" smtClean="0"/>
              <a:t>1</a:t>
            </a:fld>
            <a:endParaRPr lang="en-US"/>
          </a:p>
        </p:txBody>
      </p:sp>
    </p:spTree>
    <p:extLst>
      <p:ext uri="{BB962C8B-B14F-4D97-AF65-F5344CB8AC3E}">
        <p14:creationId xmlns:p14="http://schemas.microsoft.com/office/powerpoint/2010/main" val="3551815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AA2D71-53A4-4733-9771-F771EA6183E5}" type="slidenum">
              <a:rPr lang="en-US" smtClean="0"/>
              <a:t>2</a:t>
            </a:fld>
            <a:endParaRPr lang="en-US"/>
          </a:p>
        </p:txBody>
      </p:sp>
    </p:spTree>
    <p:extLst>
      <p:ext uri="{BB962C8B-B14F-4D97-AF65-F5344CB8AC3E}">
        <p14:creationId xmlns:p14="http://schemas.microsoft.com/office/powerpoint/2010/main" val="445317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FB043-03E1-A6AD-687B-023F15D48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1C1FC-CAE3-0C56-6FE3-752665C53BF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1FA5769-757F-979B-8390-68089A6E5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392C0E-CE5E-2D6C-1035-7B68DC8E99B7}"/>
              </a:ext>
            </a:extLst>
          </p:cNvPr>
          <p:cNvSpPr>
            <a:spLocks noGrp="1"/>
          </p:cNvSpPr>
          <p:nvPr>
            <p:ph type="sldNum" sz="quarter" idx="5"/>
          </p:nvPr>
        </p:nvSpPr>
        <p:spPr/>
        <p:txBody>
          <a:bodyPr/>
          <a:lstStyle/>
          <a:p>
            <a:fld id="{BDAA2D71-53A4-4733-9771-F771EA6183E5}" type="slidenum">
              <a:rPr lang="en-US" smtClean="0"/>
              <a:t>3</a:t>
            </a:fld>
            <a:endParaRPr lang="en-US"/>
          </a:p>
        </p:txBody>
      </p:sp>
    </p:spTree>
    <p:extLst>
      <p:ext uri="{BB962C8B-B14F-4D97-AF65-F5344CB8AC3E}">
        <p14:creationId xmlns:p14="http://schemas.microsoft.com/office/powerpoint/2010/main" val="2942745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EBE60-5BA2-DB2D-A78E-06DF14830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07EDC-AB15-87C4-4EFC-AAE3D7135CF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A9D08D-789E-819A-311F-A4984F831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106D98-BA1B-7959-FE14-C1FB917A08AE}"/>
              </a:ext>
            </a:extLst>
          </p:cNvPr>
          <p:cNvSpPr>
            <a:spLocks noGrp="1"/>
          </p:cNvSpPr>
          <p:nvPr>
            <p:ph type="sldNum" sz="quarter" idx="5"/>
          </p:nvPr>
        </p:nvSpPr>
        <p:spPr/>
        <p:txBody>
          <a:bodyPr/>
          <a:lstStyle/>
          <a:p>
            <a:fld id="{BDAA2D71-53A4-4733-9771-F771EA6183E5}" type="slidenum">
              <a:rPr lang="en-US" smtClean="0"/>
              <a:t>4</a:t>
            </a:fld>
            <a:endParaRPr lang="en-US"/>
          </a:p>
        </p:txBody>
      </p:sp>
    </p:spTree>
    <p:extLst>
      <p:ext uri="{BB962C8B-B14F-4D97-AF65-F5344CB8AC3E}">
        <p14:creationId xmlns:p14="http://schemas.microsoft.com/office/powerpoint/2010/main" val="201336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F484-222D-B1CB-5415-74F6C3449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DA595-D4B5-D574-1982-8949EA657DF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E339B4A-486B-6C37-1A97-A0490C2DFF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B28294-760B-36A7-BEF5-DA6734250CAF}"/>
              </a:ext>
            </a:extLst>
          </p:cNvPr>
          <p:cNvSpPr>
            <a:spLocks noGrp="1"/>
          </p:cNvSpPr>
          <p:nvPr>
            <p:ph type="sldNum" sz="quarter" idx="5"/>
          </p:nvPr>
        </p:nvSpPr>
        <p:spPr/>
        <p:txBody>
          <a:bodyPr/>
          <a:lstStyle/>
          <a:p>
            <a:fld id="{BDAA2D71-53A4-4733-9771-F771EA6183E5}" type="slidenum">
              <a:rPr lang="en-US" smtClean="0"/>
              <a:t>5</a:t>
            </a:fld>
            <a:endParaRPr lang="en-US"/>
          </a:p>
        </p:txBody>
      </p:sp>
    </p:spTree>
    <p:extLst>
      <p:ext uri="{BB962C8B-B14F-4D97-AF65-F5344CB8AC3E}">
        <p14:creationId xmlns:p14="http://schemas.microsoft.com/office/powerpoint/2010/main" val="1190070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9A59B-802A-0D51-E05F-9AD20DC24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63F3A-A8C0-B4DA-A3FF-1BCA518E8F0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869FCE6-36A5-954D-08A8-AC9C8AD06F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87C5C8-34C8-D5CC-4C10-F63B89DCCED1}"/>
              </a:ext>
            </a:extLst>
          </p:cNvPr>
          <p:cNvSpPr>
            <a:spLocks noGrp="1"/>
          </p:cNvSpPr>
          <p:nvPr>
            <p:ph type="sldNum" sz="quarter" idx="5"/>
          </p:nvPr>
        </p:nvSpPr>
        <p:spPr/>
        <p:txBody>
          <a:bodyPr/>
          <a:lstStyle/>
          <a:p>
            <a:fld id="{BDAA2D71-53A4-4733-9771-F771EA6183E5}" type="slidenum">
              <a:rPr lang="en-US" smtClean="0"/>
              <a:t>6</a:t>
            </a:fld>
            <a:endParaRPr lang="en-US"/>
          </a:p>
        </p:txBody>
      </p:sp>
    </p:spTree>
    <p:extLst>
      <p:ext uri="{BB962C8B-B14F-4D97-AF65-F5344CB8AC3E}">
        <p14:creationId xmlns:p14="http://schemas.microsoft.com/office/powerpoint/2010/main" val="428926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CC385-7101-C2F4-C5CB-493542E41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F0A9B-69F6-8D06-8C1F-8EF1BE03A5A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6A9BF2A-3DA6-551A-4F52-F6944956EF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4A4EA6-4C70-1E53-5222-265D816C6FC4}"/>
              </a:ext>
            </a:extLst>
          </p:cNvPr>
          <p:cNvSpPr>
            <a:spLocks noGrp="1"/>
          </p:cNvSpPr>
          <p:nvPr>
            <p:ph type="sldNum" sz="quarter" idx="5"/>
          </p:nvPr>
        </p:nvSpPr>
        <p:spPr/>
        <p:txBody>
          <a:bodyPr/>
          <a:lstStyle/>
          <a:p>
            <a:fld id="{BDAA2D71-53A4-4733-9771-F771EA6183E5}" type="slidenum">
              <a:rPr lang="en-US" smtClean="0"/>
              <a:t>7</a:t>
            </a:fld>
            <a:endParaRPr lang="en-US"/>
          </a:p>
        </p:txBody>
      </p:sp>
    </p:spTree>
    <p:extLst>
      <p:ext uri="{BB962C8B-B14F-4D97-AF65-F5344CB8AC3E}">
        <p14:creationId xmlns:p14="http://schemas.microsoft.com/office/powerpoint/2010/main" val="2225160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24626-12CE-49A6-7190-418DBAE33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82C69-F9B8-F93E-AD5B-ADF87242190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015F11E-206B-436F-FC58-B4C6AABE57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99254A-A3AD-4DD1-D4A3-C017FDDDD35E}"/>
              </a:ext>
            </a:extLst>
          </p:cNvPr>
          <p:cNvSpPr>
            <a:spLocks noGrp="1"/>
          </p:cNvSpPr>
          <p:nvPr>
            <p:ph type="sldNum" sz="quarter" idx="5"/>
          </p:nvPr>
        </p:nvSpPr>
        <p:spPr/>
        <p:txBody>
          <a:bodyPr/>
          <a:lstStyle/>
          <a:p>
            <a:fld id="{BDAA2D71-53A4-4733-9771-F771EA6183E5}" type="slidenum">
              <a:rPr lang="en-US" smtClean="0"/>
              <a:t>8</a:t>
            </a:fld>
            <a:endParaRPr lang="en-US"/>
          </a:p>
        </p:txBody>
      </p:sp>
    </p:spTree>
    <p:extLst>
      <p:ext uri="{BB962C8B-B14F-4D97-AF65-F5344CB8AC3E}">
        <p14:creationId xmlns:p14="http://schemas.microsoft.com/office/powerpoint/2010/main" val="3654810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A717-25F9-F3AA-62A1-A34A92CFE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40520-0D0A-4C0A-710B-6C7125CA98F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67AC8E9-6682-D3F6-D3C9-FB63808AB71E}"/>
              </a:ext>
            </a:extLst>
          </p:cNvPr>
          <p:cNvSpPr>
            <a:spLocks noGrp="1"/>
          </p:cNvSpPr>
          <p:nvPr>
            <p:ph type="body" idx="1"/>
          </p:nvPr>
        </p:nvSpPr>
        <p:spPr/>
        <p:txBody>
          <a:bodyPr/>
          <a:lstStyle/>
          <a:p>
            <a:pPr algn="l">
              <a:lnSpc>
                <a:spcPct val="105000"/>
              </a:lnSpc>
              <a:spcAft>
                <a:spcPts val="0"/>
              </a:spcAft>
              <a:buNone/>
            </a:pPr>
            <a:r>
              <a:rPr lang="en-SG" sz="1200" b="0">
                <a:solidFill>
                  <a:srgbClr val="000000"/>
                </a:solidFill>
                <a:latin typeface="Times New Roman"/>
                <a:ea typeface="Times New Roman"/>
                <a:cs typeface="Times New Roman"/>
              </a:rPr>
              <a:t>Our application takes a person's profile and returns three ranked careers to explore. The project contains 15,000 profiles, 18 inputs, and 22 career labels. We already have a working CSV prototype. We tested whether more complex models improve its recommendations. The main question is whether they can choose the right career first, rather than simply recover the right group of careers.</a:t>
            </a:r>
            <a:endParaRPr lang="en-SG" sz="1200"/>
          </a:p>
        </p:txBody>
      </p:sp>
      <p:sp>
        <p:nvSpPr>
          <p:cNvPr id="4" name="Slide Number Placeholder 3">
            <a:extLst>
              <a:ext uri="{FF2B5EF4-FFF2-40B4-BE49-F238E27FC236}">
                <a16:creationId xmlns:a16="http://schemas.microsoft.com/office/drawing/2014/main" id="{E282719D-9B94-76B4-A63E-C5CAA8AEF63D}"/>
              </a:ext>
            </a:extLst>
          </p:cNvPr>
          <p:cNvSpPr>
            <a:spLocks noGrp="1"/>
          </p:cNvSpPr>
          <p:nvPr>
            <p:ph type="sldNum" sz="quarter" idx="5"/>
          </p:nvPr>
        </p:nvSpPr>
        <p:spPr/>
        <p:txBody>
          <a:bodyPr/>
          <a:lstStyle/>
          <a:p>
            <a:fld id="{BDAA2D71-53A4-4733-9771-F771EA6183E5}" type="slidenum">
              <a:rPr lang="en-US" smtClean="0"/>
              <a:t>9</a:t>
            </a:fld>
            <a:endParaRPr lang="en-US"/>
          </a:p>
        </p:txBody>
      </p:sp>
    </p:spTree>
    <p:extLst>
      <p:ext uri="{BB962C8B-B14F-4D97-AF65-F5344CB8AC3E}">
        <p14:creationId xmlns:p14="http://schemas.microsoft.com/office/powerpoint/2010/main" val="2966857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C17C5-9AA5-9C45-D8AA-6EB171137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52378-E8D3-C27B-3E1F-FBD5D10ABF3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BF5A804-4FA8-0BB5-7FD5-F0CC30FA2A0F}"/>
              </a:ext>
            </a:extLst>
          </p:cNvPr>
          <p:cNvSpPr>
            <a:spLocks noGrp="1"/>
          </p:cNvSpPr>
          <p:nvPr>
            <p:ph type="body" idx="1"/>
          </p:nvPr>
        </p:nvSpPr>
        <p:spPr/>
        <p:txBody>
          <a:bodyPr/>
          <a:lstStyle/>
          <a:p>
            <a:pPr algn="l">
              <a:lnSpc>
                <a:spcPct val="105000"/>
              </a:lnSpc>
              <a:spcAft>
                <a:spcPts val="0"/>
              </a:spcAft>
              <a:buNone/>
            </a:pPr>
            <a:r>
              <a:rPr lang="en-SG" sz="1200" b="0">
                <a:solidFill>
                  <a:srgbClr val="000000"/>
                </a:solidFill>
                <a:latin typeface="Times New Roman"/>
                <a:ea typeface="Times New Roman"/>
                <a:cs typeface="Times New Roman"/>
              </a:rPr>
              <a:t>The inputs cover education, skills, experience, and work preferences. Age and grades are numerical. We fill missing numbers and scale them. For the other fields, we split lists such as technical skills into terms and retain each term's field name. Missing text gets its own marker. Each model uses an appropriate encoding of these same inputs. Career interest identifies a broad family effectively, while choosing a particular career remains difficult.</a:t>
            </a:r>
            <a:endParaRPr lang="en-SG" sz="1200"/>
          </a:p>
        </p:txBody>
      </p:sp>
      <p:sp>
        <p:nvSpPr>
          <p:cNvPr id="4" name="Slide Number Placeholder 3">
            <a:extLst>
              <a:ext uri="{FF2B5EF4-FFF2-40B4-BE49-F238E27FC236}">
                <a16:creationId xmlns:a16="http://schemas.microsoft.com/office/drawing/2014/main" id="{6125B17B-8FE9-216E-E7EA-252BFDCFDFD2}"/>
              </a:ext>
            </a:extLst>
          </p:cNvPr>
          <p:cNvSpPr>
            <a:spLocks noGrp="1"/>
          </p:cNvSpPr>
          <p:nvPr>
            <p:ph type="sldNum" sz="quarter" idx="5"/>
          </p:nvPr>
        </p:nvSpPr>
        <p:spPr/>
        <p:txBody>
          <a:bodyPr/>
          <a:lstStyle/>
          <a:p>
            <a:fld id="{BDAA2D71-53A4-4733-9771-F771EA6183E5}" type="slidenum">
              <a:rPr lang="en-US" smtClean="0"/>
              <a:t>10</a:t>
            </a:fld>
            <a:endParaRPr lang="en-US"/>
          </a:p>
        </p:txBody>
      </p:sp>
    </p:spTree>
    <p:extLst>
      <p:ext uri="{BB962C8B-B14F-4D97-AF65-F5344CB8AC3E}">
        <p14:creationId xmlns:p14="http://schemas.microsoft.com/office/powerpoint/2010/main" val="4035764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B8C17-E61E-5752-4978-F266BF9D4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D2963-10D7-A991-EE88-07D32187001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CE572C8-BE61-388C-B50A-F741B643C0C0}"/>
              </a:ext>
            </a:extLst>
          </p:cNvPr>
          <p:cNvSpPr>
            <a:spLocks noGrp="1"/>
          </p:cNvSpPr>
          <p:nvPr>
            <p:ph type="body" idx="1"/>
          </p:nvPr>
        </p:nvSpPr>
        <p:spPr/>
        <p:txBody>
          <a:bodyPr/>
          <a:lstStyle/>
          <a:p>
            <a:pPr algn="l">
              <a:lnSpc>
                <a:spcPct val="105000"/>
              </a:lnSpc>
              <a:spcAft>
                <a:spcPts val="0"/>
              </a:spcAft>
              <a:buNone/>
            </a:pPr>
            <a:r>
              <a:rPr lang="en-SG" sz="1200" b="0">
                <a:solidFill>
                  <a:srgbClr val="000000"/>
                </a:solidFill>
                <a:latin typeface="Times New Roman"/>
                <a:ea typeface="Times New Roman"/>
                <a:cs typeface="Times New Roman"/>
              </a:rPr>
              <a:t>We extended the original MLP experiment to three more complex neural network families. The original model has two hidden layers with 64 and 32 neurons and 9,014 parameters. The deeper MLPs have three or five hidden layers, with up to 512 neurons in the first layer. Residual networks add skip connections, which help information and gradients pass through deeper networks. The Transformer represents each original field as a token and uses attention to combine information across fields. It also has a classification token. The largest tested network has more than 821,000 parameters. Logistic regression remains our main reference, alongside the earlier random forest, extra trees and gradient boosting experiments.</a:t>
            </a:r>
            <a:endParaRPr lang="en-SG" sz="1200"/>
          </a:p>
        </p:txBody>
      </p:sp>
      <p:sp>
        <p:nvSpPr>
          <p:cNvPr id="4" name="Slide Number Placeholder 3">
            <a:extLst>
              <a:ext uri="{FF2B5EF4-FFF2-40B4-BE49-F238E27FC236}">
                <a16:creationId xmlns:a16="http://schemas.microsoft.com/office/drawing/2014/main" id="{AF6787EE-93F5-76F4-2E41-AA953044204E}"/>
              </a:ext>
            </a:extLst>
          </p:cNvPr>
          <p:cNvSpPr>
            <a:spLocks noGrp="1"/>
          </p:cNvSpPr>
          <p:nvPr>
            <p:ph type="sldNum" sz="quarter" idx="5"/>
          </p:nvPr>
        </p:nvSpPr>
        <p:spPr/>
        <p:txBody>
          <a:bodyPr/>
          <a:lstStyle/>
          <a:p>
            <a:fld id="{BDAA2D71-53A4-4733-9771-F771EA6183E5}" type="slidenum">
              <a:rPr lang="en-US" smtClean="0"/>
              <a:t>11</a:t>
            </a:fld>
            <a:endParaRPr lang="en-US"/>
          </a:p>
        </p:txBody>
      </p:sp>
    </p:spTree>
    <p:extLst>
      <p:ext uri="{BB962C8B-B14F-4D97-AF65-F5344CB8AC3E}">
        <p14:creationId xmlns:p14="http://schemas.microsoft.com/office/powerpoint/2010/main" val="162325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49C91-3D4F-0AD9-5722-8100F12FC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CB534-457A-B244-E781-4CECC132A10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C727EED-3F79-9425-0CCE-488D4C0F88C6}"/>
              </a:ext>
            </a:extLst>
          </p:cNvPr>
          <p:cNvSpPr>
            <a:spLocks noGrp="1"/>
          </p:cNvSpPr>
          <p:nvPr>
            <p:ph type="body" idx="1"/>
          </p:nvPr>
        </p:nvSpPr>
        <p:spPr/>
        <p:txBody>
          <a:bodyPr/>
          <a:lstStyle/>
          <a:p>
            <a:pPr algn="l">
              <a:lnSpc>
                <a:spcPct val="105000"/>
              </a:lnSpc>
              <a:spcAft>
                <a:spcPts val="0"/>
              </a:spcAft>
              <a:buNone/>
            </a:pPr>
            <a:r>
              <a:rPr lang="en-SG" sz="1200" b="0">
                <a:solidFill>
                  <a:srgbClr val="000000"/>
                </a:solidFill>
                <a:latin typeface="Times New Roman"/>
                <a:ea typeface="Times New Roman"/>
                <a:cs typeface="Times New Roman"/>
              </a:rPr>
              <a:t>We tested 18 configurations in each of five folds, giving 90 tuning trials. These vary the learning rate, network size, dropout, weight decay, batch size and input encoding. The new networks use AdamW. Some keep the learning rate constant, while others reduce it when validation loss stalls or use cosine decay.</a:t>
            </a:r>
            <a:endParaRPr lang="en-SG" sz="1200"/>
          </a:p>
          <a:p>
            <a:pPr algn="l">
              <a:lnSpc>
                <a:spcPct val="105000"/>
              </a:lnSpc>
              <a:spcAft>
                <a:spcPts val="0"/>
              </a:spcAft>
              <a:buNone/>
            </a:pPr>
            <a:r>
              <a:rPr lang="en-SG" sz="1200" b="0">
                <a:solidFill>
                  <a:srgbClr val="000000"/>
                </a:solidFill>
                <a:latin typeface="Times New Roman"/>
                <a:ea typeface="Times New Roman"/>
                <a:cs typeface="Times New Roman"/>
              </a:rPr>
              <a:t/>
            </a:r>
            <a:endParaRPr lang="en-SG" sz="1200"/>
          </a:p>
          <a:p>
            <a:pPr algn="l">
              <a:lnSpc>
                <a:spcPct val="105000"/>
              </a:lnSpc>
              <a:spcAft>
                <a:spcPts val="0"/>
              </a:spcAft>
              <a:buNone/>
            </a:pPr>
            <a:r>
              <a:rPr lang="en-SG" sz="1200" b="0">
                <a:solidFill>
                  <a:srgbClr val="000000"/>
                </a:solidFill>
                <a:latin typeface="Times New Roman"/>
                <a:ea typeface="Times New Roman"/>
                <a:cs typeface="Times New Roman"/>
              </a:rPr>
              <a:t>Within each fold, 9,600 profiles train the candidates and 2,400 select their settings and stopping epoch. Preprocessing learns only from those inner training profiles. We then refit preprocessing and the selected network using all 12,000 training profiles, replaying the selected learning-rate schedule. The separate 3,000 test profiles do not influence tuning. Early stopping uses a patience of 12 epochs and a limit of 60. All trials stopped after 13 to 46 epochs. These are tested configurations, rather than an exhaustive search.</a:t>
            </a:r>
            <a:endParaRPr lang="en-SG" sz="1200"/>
          </a:p>
        </p:txBody>
      </p:sp>
      <p:sp>
        <p:nvSpPr>
          <p:cNvPr id="4" name="Slide Number Placeholder 3">
            <a:extLst>
              <a:ext uri="{FF2B5EF4-FFF2-40B4-BE49-F238E27FC236}">
                <a16:creationId xmlns:a16="http://schemas.microsoft.com/office/drawing/2014/main" id="{0E672589-63A6-29BA-4F0E-3852FF587DF4}"/>
              </a:ext>
            </a:extLst>
          </p:cNvPr>
          <p:cNvSpPr>
            <a:spLocks noGrp="1"/>
          </p:cNvSpPr>
          <p:nvPr>
            <p:ph type="sldNum" sz="quarter" idx="5"/>
          </p:nvPr>
        </p:nvSpPr>
        <p:spPr/>
        <p:txBody>
          <a:bodyPr/>
          <a:lstStyle/>
          <a:p>
            <a:fld id="{BDAA2D71-53A4-4733-9771-F771EA6183E5}" type="slidenum">
              <a:rPr lang="en-US" smtClean="0"/>
              <a:t>12</a:t>
            </a:fld>
            <a:endParaRPr lang="en-US"/>
          </a:p>
        </p:txBody>
      </p:sp>
    </p:spTree>
    <p:extLst>
      <p:ext uri="{BB962C8B-B14F-4D97-AF65-F5344CB8AC3E}">
        <p14:creationId xmlns:p14="http://schemas.microsoft.com/office/powerpoint/2010/main" val="1558508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04B0D-BFF3-59AB-678D-355308B5C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3D12E-1929-0663-3BB4-90400EC42C6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D39AD8D-DDDF-474B-1D5B-761196D1A3F1}"/>
              </a:ext>
            </a:extLst>
          </p:cNvPr>
          <p:cNvSpPr>
            <a:spLocks noGrp="1"/>
          </p:cNvSpPr>
          <p:nvPr>
            <p:ph type="body" idx="1"/>
          </p:nvPr>
        </p:nvSpPr>
        <p:spPr/>
        <p:txBody>
          <a:bodyPr/>
          <a:lstStyle/>
          <a:p>
            <a:pPr algn="l">
              <a:lnSpc>
                <a:spcPct val="105000"/>
              </a:lnSpc>
              <a:spcAft>
                <a:spcPts val="0"/>
              </a:spcAft>
              <a:buNone/>
            </a:pPr>
            <a:r>
              <a:rPr lang="en-SG" sz="1200" b="0">
                <a:solidFill>
                  <a:srgbClr val="000000"/>
                </a:solidFill>
                <a:latin typeface="Times New Roman"/>
                <a:ea typeface="Times New Roman"/>
                <a:cs typeface="Times New Roman"/>
              </a:rPr>
              <a:t>This comparison includes three traditional machine learning models and two tuned deep learning models. Logistic regression reached 32.82 percent Top-1 accuracy, followed by Random Forest at 32.49 percent and Extra Trees at 32.25 percent. The tuned deep MLP reached 32.32 percent and the field Transformer reached 32.23 percent. These are the two new neural families with the highest average Top-1 scores. The small accuracy differences do not establish a statistically significant winner.</a:t>
            </a:r>
            <a:endParaRPr lang="en-SG" sz="1200"/>
          </a:p>
          <a:p>
            <a:pPr algn="l">
              <a:lnSpc>
                <a:spcPct val="105000"/>
              </a:lnSpc>
              <a:spcAft>
                <a:spcPts val="0"/>
              </a:spcAft>
              <a:buNone/>
            </a:pPr>
            <a:r>
              <a:rPr lang="en-SG" sz="1200" b="0">
                <a:solidFill>
                  <a:srgbClr val="000000"/>
                </a:solidFill>
                <a:latin typeface="Times New Roman"/>
                <a:ea typeface="Times New Roman"/>
                <a:cs typeface="Times New Roman"/>
              </a:rPr>
              <a:t/>
            </a:r>
            <a:endParaRPr lang="en-SG" sz="1200"/>
          </a:p>
          <a:p>
            <a:pPr algn="l">
              <a:lnSpc>
                <a:spcPct val="105000"/>
              </a:lnSpc>
              <a:spcAft>
                <a:spcPts val="0"/>
              </a:spcAft>
              <a:buNone/>
            </a:pPr>
            <a:r>
              <a:rPr lang="en-SG" sz="1200" b="0">
                <a:solidFill>
                  <a:srgbClr val="000000"/>
                </a:solidFill>
                <a:latin typeface="Times New Roman"/>
                <a:ea typeface="Times New Roman"/>
                <a:cs typeface="Times New Roman"/>
              </a:rPr>
              <a:t>Logistic regression also achieved the highest macro-F1, which gives every career equal weight. Top-1 checks the first suggestion, while Top-3 checks whether the recorded label appears anywhere in three suggestions. Top-3 stays high because the models identify career groups more reliably than individual careers.</a:t>
            </a:r>
            <a:endParaRPr lang="en-SG" sz="1200"/>
          </a:p>
          <a:p>
            <a:pPr algn="l">
              <a:lnSpc>
                <a:spcPct val="105000"/>
              </a:lnSpc>
              <a:spcAft>
                <a:spcPts val="0"/>
              </a:spcAft>
              <a:buNone/>
            </a:pPr>
            <a:r>
              <a:rPr lang="en-SG" sz="1200" b="0">
                <a:solidFill>
                  <a:srgbClr val="000000"/>
                </a:solidFill>
                <a:latin typeface="Times New Roman"/>
                <a:ea typeface="Times New Roman"/>
                <a:cs typeface="Times New Roman"/>
              </a:rPr>
              <a:t/>
            </a:r>
            <a:endParaRPr lang="en-SG" sz="1200"/>
          </a:p>
          <a:p>
            <a:pPr algn="l">
              <a:lnSpc>
                <a:spcPct val="105000"/>
              </a:lnSpc>
              <a:spcAft>
                <a:spcPts val="0"/>
              </a:spcAft>
              <a:buNone/>
            </a:pPr>
            <a:r>
              <a:rPr lang="en-SG" sz="1200" b="0">
                <a:solidFill>
                  <a:srgbClr val="000000"/>
                </a:solidFill>
                <a:latin typeface="Times New Roman"/>
                <a:ea typeface="Times New Roman"/>
                <a:cs typeface="Times New Roman"/>
              </a:rPr>
              <a:t>The neural networks select their settings within each training fold, so their configurations can differ between folds. These results do not show an advantage from added neural-network complexity. The CSV application continues to use its saved logistic regression model.</a:t>
            </a:r>
            <a:endParaRPr lang="en-SG" sz="1200"/>
          </a:p>
        </p:txBody>
      </p:sp>
      <p:sp>
        <p:nvSpPr>
          <p:cNvPr id="4" name="Slide Number Placeholder 3">
            <a:extLst>
              <a:ext uri="{FF2B5EF4-FFF2-40B4-BE49-F238E27FC236}">
                <a16:creationId xmlns:a16="http://schemas.microsoft.com/office/drawing/2014/main" id="{CDC33C9D-6283-4761-FB79-1D1F2BBB3B1E}"/>
              </a:ext>
            </a:extLst>
          </p:cNvPr>
          <p:cNvSpPr>
            <a:spLocks noGrp="1"/>
          </p:cNvSpPr>
          <p:nvPr>
            <p:ph type="sldNum" sz="quarter" idx="5"/>
          </p:nvPr>
        </p:nvSpPr>
        <p:spPr/>
        <p:txBody>
          <a:bodyPr/>
          <a:lstStyle/>
          <a:p>
            <a:fld id="{BDAA2D71-53A4-4733-9771-F771EA6183E5}" type="slidenum">
              <a:rPr lang="en-US" smtClean="0"/>
              <a:t>13</a:t>
            </a:fld>
            <a:endParaRPr lang="en-US"/>
          </a:p>
        </p:txBody>
      </p:sp>
    </p:spTree>
    <p:extLst>
      <p:ext uri="{BB962C8B-B14F-4D97-AF65-F5344CB8AC3E}">
        <p14:creationId xmlns:p14="http://schemas.microsoft.com/office/powerpoint/2010/main" val="195392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A5A1E-90E8-73C2-54F9-ADB8D65DD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31418-90BE-9384-002F-11C0E42BF50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D49E7F0-47FA-465F-F719-0354A2393C1F}"/>
              </a:ext>
            </a:extLst>
          </p:cNvPr>
          <p:cNvSpPr>
            <a:spLocks noGrp="1"/>
          </p:cNvSpPr>
          <p:nvPr>
            <p:ph type="body" idx="1"/>
          </p:nvPr>
        </p:nvSpPr>
        <p:spPr/>
        <p:txBody>
          <a:bodyPr/>
          <a:lstStyle/>
          <a:p>
            <a:pPr algn="l">
              <a:lnSpc>
                <a:spcPct val="105000"/>
              </a:lnSpc>
              <a:spcAft>
                <a:spcPts val="0"/>
              </a:spcAft>
              <a:buNone/>
            </a:pPr>
            <a:r>
              <a:rPr lang="en-SG" sz="1200" b="0">
                <a:solidFill>
                  <a:srgbClr val="000000"/>
                </a:solidFill>
                <a:latin typeface="Times New Roman"/>
                <a:ea typeface="Times New Roman"/>
                <a:cs typeface="Times New Roman"/>
              </a:rPr>
              <a:t>Here is why the gap is so large. Among 2,140 Data Science profiles, the recorded careers are Data Analyst 719 times, Data Scientist 716 times, and Business Analyst 705 times. That is almost a one-third split. Choosing one label requires useful information to distinguish those careers. The tested models have limited success at that. A shortlist of three can contain all three labels.</a:t>
            </a:r>
            <a:endParaRPr lang="en-SG" sz="1200"/>
          </a:p>
          <a:p>
            <a:pPr algn="l">
              <a:lnSpc>
                <a:spcPct val="105000"/>
              </a:lnSpc>
              <a:spcAft>
                <a:spcPts val="0"/>
              </a:spcAft>
              <a:buNone/>
            </a:pPr>
            <a:endParaRPr lang="en-SG" sz="1200"/>
          </a:p>
          <a:p>
            <a:pPr algn="l">
              <a:lnSpc>
                <a:spcPct val="105000"/>
              </a:lnSpc>
              <a:spcAft>
                <a:spcPts val="0"/>
              </a:spcAft>
              <a:buNone/>
            </a:pPr>
            <a:r>
              <a:rPr lang="en-SG" sz="1200" b="0">
                <a:solidFill>
                  <a:srgbClr val="000000"/>
                </a:solidFill>
                <a:latin typeface="Times New Roman"/>
                <a:ea typeface="Times New Roman"/>
                <a:cs typeface="Times New Roman"/>
              </a:rPr>
              <a:t>Six of the seven interest groups have exactly three careers. Software Development has four and represents about 14.7 percent of the data, so three suggestions can still miss a label there. If careers were equally likely within each group, this structure would produce roughly 96.3 percent Top-3 coverage. That is an illustration, not a proven accuracy ceiling. Our results measure agreement with dataset labels. More informative data is needed to improve first choice and assess real career suitability.</a:t>
            </a:r>
            <a:endParaRPr lang="en-SG" sz="1200"/>
          </a:p>
        </p:txBody>
      </p:sp>
      <p:sp>
        <p:nvSpPr>
          <p:cNvPr id="4" name="Slide Number Placeholder 3">
            <a:extLst>
              <a:ext uri="{FF2B5EF4-FFF2-40B4-BE49-F238E27FC236}">
                <a16:creationId xmlns:a16="http://schemas.microsoft.com/office/drawing/2014/main" id="{A9B06C26-506B-1569-D01B-A6949662CD1A}"/>
              </a:ext>
            </a:extLst>
          </p:cNvPr>
          <p:cNvSpPr>
            <a:spLocks noGrp="1"/>
          </p:cNvSpPr>
          <p:nvPr>
            <p:ph type="sldNum" sz="quarter" idx="5"/>
          </p:nvPr>
        </p:nvSpPr>
        <p:spPr/>
        <p:txBody>
          <a:bodyPr/>
          <a:lstStyle/>
          <a:p>
            <a:fld id="{BDAA2D71-53A4-4733-9771-F771EA6183E5}" type="slidenum">
              <a:rPr lang="en-US" smtClean="0"/>
              <a:t>14</a:t>
            </a:fld>
            <a:endParaRPr lang="en-US"/>
          </a:p>
        </p:txBody>
      </p:sp>
    </p:spTree>
    <p:extLst>
      <p:ext uri="{BB962C8B-B14F-4D97-AF65-F5344CB8AC3E}">
        <p14:creationId xmlns:p14="http://schemas.microsoft.com/office/powerpoint/2010/main" val="2310440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029DF-3D99-68D9-A28A-05264C6FE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DB721-420E-DAD1-E889-F6F2A4C0BB4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D554784-19B1-DB6C-F85E-8374953FCB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27A9DC-DE21-0059-7A25-1C72013E557D}"/>
              </a:ext>
            </a:extLst>
          </p:cNvPr>
          <p:cNvSpPr>
            <a:spLocks noGrp="1"/>
          </p:cNvSpPr>
          <p:nvPr>
            <p:ph type="sldNum" sz="quarter" idx="5"/>
          </p:nvPr>
        </p:nvSpPr>
        <p:spPr/>
        <p:txBody>
          <a:bodyPr/>
          <a:lstStyle/>
          <a:p>
            <a:fld id="{BDAA2D71-53A4-4733-9771-F771EA6183E5}" type="slidenum">
              <a:rPr lang="en-US" smtClean="0"/>
              <a:t>15</a:t>
            </a:fld>
            <a:endParaRPr lang="en-US"/>
          </a:p>
        </p:txBody>
      </p:sp>
    </p:spTree>
    <p:extLst>
      <p:ext uri="{BB962C8B-B14F-4D97-AF65-F5344CB8AC3E}">
        <p14:creationId xmlns:p14="http://schemas.microsoft.com/office/powerpoint/2010/main" val="760000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76ED8-B491-0DD9-2651-E4FFCC9B1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3E338-C5A1-4F3A-B361-B639261EDC2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2FE68B9-C560-A637-248A-25047FF0B1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BE651A-A11D-6EBC-B322-8E2E44AE59D6}"/>
              </a:ext>
            </a:extLst>
          </p:cNvPr>
          <p:cNvSpPr>
            <a:spLocks noGrp="1"/>
          </p:cNvSpPr>
          <p:nvPr>
            <p:ph type="sldNum" sz="quarter" idx="5"/>
          </p:nvPr>
        </p:nvSpPr>
        <p:spPr/>
        <p:txBody>
          <a:bodyPr/>
          <a:lstStyle/>
          <a:p>
            <a:fld id="{BDAA2D71-53A4-4733-9771-F771EA6183E5}" type="slidenum">
              <a:rPr lang="en-US" smtClean="0"/>
              <a:t>16</a:t>
            </a:fld>
            <a:endParaRPr lang="en-US"/>
          </a:p>
        </p:txBody>
      </p:sp>
    </p:spTree>
    <p:extLst>
      <p:ext uri="{BB962C8B-B14F-4D97-AF65-F5344CB8AC3E}">
        <p14:creationId xmlns:p14="http://schemas.microsoft.com/office/powerpoint/2010/main" val="4190942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7620D-9065-54E6-75C8-DA894F95E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1F7FE-1A57-F5A6-17D6-8D793F67B7E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D93CC16-82EC-88BD-2B9A-3B19FD3062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3F8588-4A3F-A1C7-7687-EAA9EDBD23AD}"/>
              </a:ext>
            </a:extLst>
          </p:cNvPr>
          <p:cNvSpPr>
            <a:spLocks noGrp="1"/>
          </p:cNvSpPr>
          <p:nvPr>
            <p:ph type="sldNum" sz="quarter" idx="5"/>
          </p:nvPr>
        </p:nvSpPr>
        <p:spPr/>
        <p:txBody>
          <a:bodyPr/>
          <a:lstStyle/>
          <a:p>
            <a:fld id="{BDAA2D71-53A4-4733-9771-F771EA6183E5}" type="slidenum">
              <a:rPr lang="en-US" smtClean="0"/>
              <a:t>17</a:t>
            </a:fld>
            <a:endParaRPr lang="en-US"/>
          </a:p>
        </p:txBody>
      </p:sp>
    </p:spTree>
    <p:extLst>
      <p:ext uri="{BB962C8B-B14F-4D97-AF65-F5344CB8AC3E}">
        <p14:creationId xmlns:p14="http://schemas.microsoft.com/office/powerpoint/2010/main" val="2345431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5"/>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9717498-E1F9-47A6-9FC7-8EACBE2A28AB}"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3792405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278648-83C5-4BE3-AB82-23E6C3470EA7}"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1492943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3305176"/>
            <a:ext cx="8229600" cy="1021556"/>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457200" y="2180035"/>
            <a:ext cx="8229600" cy="1125140"/>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F5C010D-BB69-4ADD-A4F5-80337570F282}"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2426584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A99F6B1-4003-489D-BF3A-14B43B6CD867}"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1061538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391245"/>
            <a:ext cx="4040188" cy="47982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3" y="1871068"/>
            <a:ext cx="4040188" cy="272130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391245"/>
            <a:ext cx="4041775" cy="47982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871068"/>
            <a:ext cx="4041775" cy="272130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CB891CE-006B-48C0-B06C-D88B720DEA36}" type="datetime1">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2983490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799ABC-DD35-4BBC-9211-DD482B225FAC}" type="datetime1">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1911849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07A069-5617-42B1-A848-68D2010E9707}" type="datetime1">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3064485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591463"/>
            <a:ext cx="3008313" cy="871538"/>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3" y="591470"/>
            <a:ext cx="5111751" cy="40486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5" y="1593860"/>
            <a:ext cx="3008313" cy="3046254"/>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1EAEDE14-C48F-4C76-94BE-B57772DD43B3}"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415777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4025509"/>
            <a:ext cx="5486400" cy="603647"/>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9A9293-B664-4187-99BF-A13DD8B1329C}"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2072899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22724"/>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6896"/>
            <a:ext cx="8229600" cy="29070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361530"/>
            <a:ext cx="2133600" cy="273844"/>
          </a:xfrm>
          <a:prstGeom prst="rect">
            <a:avLst/>
          </a:prstGeom>
        </p:spPr>
        <p:txBody>
          <a:bodyPr vert="horz" lIns="91440" tIns="45720" rIns="91440" bIns="45720" rtlCol="0" anchor="ctr"/>
          <a:lstStyle>
            <a:lvl1pPr algn="l">
              <a:defRPr sz="1200">
                <a:solidFill>
                  <a:schemeClr val="tx1">
                    <a:tint val="75000"/>
                  </a:schemeClr>
                </a:solidFill>
                <a:latin typeface="Arial"/>
              </a:defRPr>
            </a:lvl1pPr>
          </a:lstStyle>
          <a:p>
            <a:fld id="{8EADEA99-96C7-4967-B57C-3592CE65418D}" type="datetime1">
              <a:rPr lang="en-US" smtClean="0"/>
              <a:t>10/22/2026</a:t>
            </a:fld>
            <a:endParaRPr lang="en-US" dirty="0"/>
          </a:p>
        </p:txBody>
      </p:sp>
      <p:sp>
        <p:nvSpPr>
          <p:cNvPr id="5" name="Footer Placeholder 4"/>
          <p:cNvSpPr>
            <a:spLocks noGrp="1"/>
          </p:cNvSpPr>
          <p:nvPr>
            <p:ph type="ftr" sz="quarter" idx="3"/>
          </p:nvPr>
        </p:nvSpPr>
        <p:spPr>
          <a:xfrm>
            <a:off x="3124200" y="4361530"/>
            <a:ext cx="2895600" cy="273844"/>
          </a:xfrm>
          <a:prstGeom prst="rect">
            <a:avLst/>
          </a:prstGeom>
        </p:spPr>
        <p:txBody>
          <a:bodyPr vert="horz" lIns="91440" tIns="45720" rIns="91440" bIns="45720" rtlCol="0" anchor="ctr"/>
          <a:lstStyle>
            <a:lvl1pPr algn="ctr">
              <a:defRPr sz="1200">
                <a:solidFill>
                  <a:schemeClr val="tx1">
                    <a:tint val="75000"/>
                  </a:schemeClr>
                </a:solidFill>
                <a:latin typeface="Arial"/>
              </a:defRPr>
            </a:lvl1pPr>
          </a:lstStyle>
          <a:p>
            <a:endParaRPr lang="en-US" dirty="0"/>
          </a:p>
        </p:txBody>
      </p:sp>
      <p:sp>
        <p:nvSpPr>
          <p:cNvPr id="6" name="Slide Number Placeholder 5"/>
          <p:cNvSpPr>
            <a:spLocks noGrp="1"/>
          </p:cNvSpPr>
          <p:nvPr>
            <p:ph type="sldNum" sz="quarter" idx="4"/>
          </p:nvPr>
        </p:nvSpPr>
        <p:spPr>
          <a:xfrm>
            <a:off x="6553200" y="4361530"/>
            <a:ext cx="2133600" cy="273844"/>
          </a:xfrm>
          <a:prstGeom prst="rect">
            <a:avLst/>
          </a:prstGeom>
        </p:spPr>
        <p:txBody>
          <a:bodyPr vert="horz" lIns="91440" tIns="45720" rIns="91440" bIns="45720" rtlCol="0" anchor="ctr"/>
          <a:lstStyle>
            <a:lvl1pPr algn="r">
              <a:defRPr sz="1200" baseline="0">
                <a:solidFill>
                  <a:schemeClr val="tx1">
                    <a:tint val="75000"/>
                  </a:schemeClr>
                </a:solidFill>
                <a:latin typeface="Arial"/>
              </a:defRPr>
            </a:lvl1pPr>
          </a:lstStyle>
          <a:p>
            <a:fld id="{8E6562B1-0B0F-0246-9532-09536BC2AE59}" type="slidenum">
              <a:rPr lang="en-US" smtClean="0"/>
              <a:pPr/>
              <a:t>‹#›</a:t>
            </a:fld>
            <a:endParaRPr lang="en-US" dirty="0"/>
          </a:p>
        </p:txBody>
      </p:sp>
      <p:pic>
        <p:nvPicPr>
          <p:cNvPr id="7" name="Picture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4872197"/>
            <a:ext cx="9144000" cy="286893"/>
          </a:xfrm>
          <a:prstGeom prst="rect">
            <a:avLst/>
          </a:prstGeom>
        </p:spPr>
      </p:pic>
    </p:spTree>
    <p:extLst>
      <p:ext uri="{BB962C8B-B14F-4D97-AF65-F5344CB8AC3E}">
        <p14:creationId xmlns:p14="http://schemas.microsoft.com/office/powerpoint/2010/main" val="671930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457189" rtl="0" eaLnBrk="1" latinLnBrk="0" hangingPunct="1">
        <a:spcBef>
          <a:spcPct val="0"/>
        </a:spcBef>
        <a:buNone/>
        <a:defRPr sz="4400" kern="1200">
          <a:solidFill>
            <a:schemeClr val="tx1"/>
          </a:solidFill>
          <a:latin typeface="Arial"/>
          <a:ea typeface="+mj-ea"/>
          <a:cs typeface="+mj-cs"/>
        </a:defRPr>
      </a:lvl1pPr>
    </p:titleStyle>
    <p:bodyStyle>
      <a:lvl1pPr marL="342891" indent="-342891" algn="l" defTabSz="457189" rtl="0" eaLnBrk="1" latinLnBrk="0" hangingPunct="1">
        <a:spcBef>
          <a:spcPct val="20000"/>
        </a:spcBef>
        <a:buFont typeface="Arial"/>
        <a:buChar char="•"/>
        <a:defRPr sz="3200" kern="1200">
          <a:solidFill>
            <a:schemeClr val="tx1"/>
          </a:solidFill>
          <a:latin typeface="Arial"/>
          <a:ea typeface="+mn-ea"/>
          <a:cs typeface="+mn-cs"/>
        </a:defRPr>
      </a:lvl1pPr>
      <a:lvl2pPr marL="742932" indent="-285744" algn="l" defTabSz="457189" rtl="0" eaLnBrk="1" latinLnBrk="0" hangingPunct="1">
        <a:spcBef>
          <a:spcPct val="20000"/>
        </a:spcBef>
        <a:buFont typeface="Arial"/>
        <a:buChar char="–"/>
        <a:defRPr sz="2800" kern="1200">
          <a:solidFill>
            <a:schemeClr val="tx1"/>
          </a:solidFill>
          <a:latin typeface="Arial"/>
          <a:ea typeface="+mn-ea"/>
          <a:cs typeface="+mn-cs"/>
        </a:defRPr>
      </a:lvl2pPr>
      <a:lvl3pPr marL="1142971" indent="-228594" algn="l" defTabSz="457189" rtl="0" eaLnBrk="1" latinLnBrk="0" hangingPunct="1">
        <a:spcBef>
          <a:spcPct val="20000"/>
        </a:spcBef>
        <a:buFont typeface="Arial"/>
        <a:buChar char="•"/>
        <a:defRPr sz="2400" kern="1200">
          <a:solidFill>
            <a:schemeClr val="tx1"/>
          </a:solidFill>
          <a:latin typeface="Arial"/>
          <a:ea typeface="+mn-ea"/>
          <a:cs typeface="+mn-cs"/>
        </a:defRPr>
      </a:lvl3pPr>
      <a:lvl4pPr marL="1600160" indent="-228594" algn="l" defTabSz="457189" rtl="0" eaLnBrk="1" latinLnBrk="0" hangingPunct="1">
        <a:spcBef>
          <a:spcPct val="20000"/>
        </a:spcBef>
        <a:buFont typeface="Arial"/>
        <a:buChar char="–"/>
        <a:defRPr sz="2000" kern="1200">
          <a:solidFill>
            <a:schemeClr val="tx1"/>
          </a:solidFill>
          <a:latin typeface="Arial"/>
          <a:ea typeface="+mn-ea"/>
          <a:cs typeface="+mn-cs"/>
        </a:defRPr>
      </a:lvl4pPr>
      <a:lvl5pPr marL="2057349" indent="-228594" algn="l" defTabSz="457189" rtl="0" eaLnBrk="1" latinLnBrk="0" hangingPunct="1">
        <a:spcBef>
          <a:spcPct val="20000"/>
        </a:spcBef>
        <a:buFont typeface="Arial"/>
        <a:buChar char="»"/>
        <a:defRPr sz="2000" kern="1200">
          <a:solidFill>
            <a:schemeClr val="tx1"/>
          </a:solidFill>
          <a:latin typeface="Arial"/>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68306" y="1244381"/>
            <a:ext cx="4111713" cy="1243716"/>
          </a:xfrm>
        </p:spPr>
        <p:txBody>
          <a:bodyPr>
            <a:noAutofit/>
          </a:bodyPr>
          <a:lstStyle/>
          <a:p>
            <a:pPr algn="l"/>
            <a:r>
              <a:rPr lang="en-SG" sz="1600" b="1" dirty="0">
                <a:solidFill>
                  <a:schemeClr val="bg1"/>
                </a:solidFill>
                <a:cs typeface="Arial"/>
              </a:rPr>
              <a:t>From Education to Career: </a:t>
            </a:r>
            <a:br>
              <a:rPr lang="en-SG" sz="2400" b="1" dirty="0">
                <a:solidFill>
                  <a:schemeClr val="bg1"/>
                </a:solidFill>
                <a:cs typeface="Arial"/>
              </a:rPr>
            </a:br>
            <a:r>
              <a:rPr lang="en-SG" sz="2400" b="1" dirty="0">
                <a:solidFill>
                  <a:schemeClr val="bg1"/>
                </a:solidFill>
                <a:cs typeface="Arial"/>
              </a:rPr>
              <a:t>AI-Based Career Recommendation System</a:t>
            </a:r>
            <a:endParaRPr lang="en-US" sz="2400" b="1" dirty="0">
              <a:solidFill>
                <a:schemeClr val="bg1"/>
              </a:solidFill>
              <a:cs typeface="Arial"/>
            </a:endParaRPr>
          </a:p>
        </p:txBody>
      </p:sp>
      <p:sp>
        <p:nvSpPr>
          <p:cNvPr id="3" name="Subtitle 2"/>
          <p:cNvSpPr>
            <a:spLocks noGrp="1"/>
          </p:cNvSpPr>
          <p:nvPr>
            <p:ph type="subTitle" idx="1"/>
          </p:nvPr>
        </p:nvSpPr>
        <p:spPr>
          <a:xfrm>
            <a:off x="376093" y="3391849"/>
            <a:ext cx="5008720" cy="1575129"/>
          </a:xfrm>
        </p:spPr>
        <p:txBody>
          <a:bodyPr>
            <a:normAutofit/>
          </a:bodyPr>
          <a:lstStyle/>
          <a:p>
            <a:pPr algn="l"/>
            <a:r>
              <a:rPr lang="en-US" sz="1400" b="1" dirty="0">
                <a:solidFill>
                  <a:schemeClr val="bg1"/>
                </a:solidFill>
                <a:latin typeface="Arial" panose="020B0604020202020204" pitchFamily="34" charset="0"/>
                <a:cs typeface="Arial" panose="020B0604020202020204" pitchFamily="34" charset="0"/>
              </a:rPr>
              <a:t>GP8001, Group E-2</a:t>
            </a:r>
          </a:p>
          <a:p>
            <a:pPr algn="l"/>
            <a:r>
              <a:rPr lang="en-US" sz="1100" dirty="0">
                <a:solidFill>
                  <a:srgbClr val="FFFFFF"/>
                </a:solidFill>
                <a:cs typeface="Arial"/>
              </a:rPr>
              <a:t>HAN ZILIN</a:t>
            </a:r>
          </a:p>
          <a:p>
            <a:pPr algn="l"/>
            <a:r>
              <a:rPr lang="en-US" sz="1100" dirty="0">
                <a:solidFill>
                  <a:srgbClr val="FFFFFF"/>
                </a:solidFill>
                <a:cs typeface="Arial"/>
              </a:rPr>
              <a:t>HE YANGFAN</a:t>
            </a:r>
          </a:p>
          <a:p>
            <a:pPr algn="l"/>
            <a:r>
              <a:rPr lang="en-US" sz="1100" dirty="0">
                <a:solidFill>
                  <a:srgbClr val="FFFFFF"/>
                </a:solidFill>
                <a:cs typeface="Arial"/>
              </a:rPr>
              <a:t>NGUYEN THIEN AN</a:t>
            </a:r>
          </a:p>
          <a:p>
            <a:pPr algn="l"/>
            <a:r>
              <a:rPr lang="en-US" sz="1100" dirty="0">
                <a:solidFill>
                  <a:srgbClr val="FFFFFF"/>
                </a:solidFill>
                <a:cs typeface="Arial"/>
              </a:rPr>
              <a:t>PARK SEUNGWOO (G2609551C)</a:t>
            </a:r>
          </a:p>
          <a:p>
            <a:pPr algn="l"/>
            <a:r>
              <a:rPr lang="en-US" sz="1100" dirty="0">
                <a:solidFill>
                  <a:srgbClr val="FFFFFF"/>
                </a:solidFill>
                <a:cs typeface="Arial"/>
              </a:rPr>
              <a:t>LIM CHUAN ZHONG</a:t>
            </a:r>
          </a:p>
          <a:p>
            <a:pPr algn="l"/>
            <a:r>
              <a:rPr lang="en-US" sz="1100" dirty="0">
                <a:solidFill>
                  <a:srgbClr val="FFFFFF"/>
                </a:solidFill>
                <a:cs typeface="Arial"/>
              </a:rPr>
              <a:t>LI ZHENYING</a:t>
            </a:r>
          </a:p>
        </p:txBody>
      </p:sp>
      <p:sp>
        <p:nvSpPr>
          <p:cNvPr id="4" name="TextBox 3">
            <a:extLst>
              <a:ext uri="{FF2B5EF4-FFF2-40B4-BE49-F238E27FC236}">
                <a16:creationId xmlns:a16="http://schemas.microsoft.com/office/drawing/2014/main" id="{1D621AC5-9368-B527-EB48-C345FA66813F}"/>
              </a:ext>
            </a:extLst>
          </p:cNvPr>
          <p:cNvSpPr txBox="1"/>
          <p:nvPr/>
        </p:nvSpPr>
        <p:spPr>
          <a:xfrm>
            <a:off x="376093" y="2417861"/>
            <a:ext cx="4572000" cy="307777"/>
          </a:xfrm>
          <a:prstGeom prst="rect">
            <a:avLst/>
          </a:prstGeom>
          <a:noFill/>
        </p:spPr>
        <p:txBody>
          <a:bodyPr wrap="square">
            <a:spAutoFit/>
          </a:bodyPr>
          <a:lstStyle/>
          <a:p>
            <a:r>
              <a:rPr lang="en-US" sz="1400" i="1" dirty="0">
                <a:solidFill>
                  <a:srgbClr val="FFFFFF"/>
                </a:solidFill>
                <a:cs typeface="Arial"/>
              </a:rPr>
              <a:t>26</a:t>
            </a:r>
            <a:r>
              <a:rPr lang="en-US" sz="1400" i="1" baseline="30000" dirty="0">
                <a:solidFill>
                  <a:srgbClr val="FFFFFF"/>
                </a:solidFill>
                <a:cs typeface="Arial"/>
              </a:rPr>
              <a:t>th</a:t>
            </a:r>
            <a:r>
              <a:rPr lang="en-US" sz="1400" i="1" dirty="0">
                <a:solidFill>
                  <a:srgbClr val="FFFFFF"/>
                </a:solidFill>
                <a:cs typeface="Arial"/>
              </a:rPr>
              <a:t> Oct 2026</a:t>
            </a:r>
            <a:r>
              <a:rPr lang="en-US" sz="1400" b="1" dirty="0">
                <a:solidFill>
                  <a:schemeClr val="bg1"/>
                </a:solidFill>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7986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3EC55-45EF-4C8F-830D-1EE8176B3F0E}"/>
              </a:ext>
            </a:extLst>
          </p:cNvPr>
          <p:cNvSpPr>
            <a:spLocks noGrp="1"/>
          </p:cNvSpPr>
          <p:nvPr>
            <p:ph type="title"/>
          </p:nvPr>
        </p:nvSpPr>
        <p:spPr>
          <a:xfrm>
            <a:off x="5291615"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Table of contents</a:t>
            </a:r>
          </a:p>
        </p:txBody>
      </p:sp>
      <p:cxnSp>
        <p:nvCxnSpPr>
          <p:cNvPr id="28" name="Straight Connector 27">
            <a:extLst>
              <a:ext uri="{FF2B5EF4-FFF2-40B4-BE49-F238E27FC236}">
                <a16:creationId xmlns:a16="http://schemas.microsoft.com/office/drawing/2014/main" id="{6D6BEE81-929A-67B1-5347-B6A51FA2767E}"/>
              </a:ext>
            </a:extLst>
          </p:cNvPr>
          <p:cNvCxnSpPr>
            <a:cxnSpLocks/>
          </p:cNvCxnSpPr>
          <p:nvPr/>
        </p:nvCxnSpPr>
        <p:spPr>
          <a:xfrm>
            <a:off x="5291616" y="712002"/>
            <a:ext cx="3238647"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직사각형 31">
            <a:extLst>
              <a:ext uri="{FF2B5EF4-FFF2-40B4-BE49-F238E27FC236}">
                <a16:creationId xmlns:a16="http://schemas.microsoft.com/office/drawing/2014/main" id="{360AEF17-5E8B-1AA6-9906-B32E1D06A233}"/>
              </a:ext>
            </a:extLst>
          </p:cNvPr>
          <p:cNvSpPr/>
          <p:nvPr/>
        </p:nvSpPr>
        <p:spPr>
          <a:xfrm>
            <a:off x="8075771" y="-1"/>
            <a:ext cx="633046" cy="1060467"/>
          </a:xfrm>
          <a:prstGeom prst="rect">
            <a:avLst/>
          </a:prstGeom>
          <a:solidFill>
            <a:srgbClr val="181C6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solidFill>
                <a:srgbClr val="181C62"/>
              </a:solidFill>
              <a:effectLst>
                <a:outerShdw blurRad="38100" dist="38100" dir="2700000" algn="tl">
                  <a:srgbClr val="000000">
                    <a:alpha val="43137"/>
                  </a:srgbClr>
                </a:outerShdw>
              </a:effectLst>
            </a:endParaRPr>
          </a:p>
        </p:txBody>
      </p:sp>
      <p:grpSp>
        <p:nvGrpSpPr>
          <p:cNvPr id="35" name="그룹 34">
            <a:extLst>
              <a:ext uri="{FF2B5EF4-FFF2-40B4-BE49-F238E27FC236}">
                <a16:creationId xmlns:a16="http://schemas.microsoft.com/office/drawing/2014/main" id="{82D00DEC-9FD5-C8B6-4EA3-60B16F64AD69}"/>
              </a:ext>
            </a:extLst>
          </p:cNvPr>
          <p:cNvGrpSpPr/>
          <p:nvPr/>
        </p:nvGrpSpPr>
        <p:grpSpPr>
          <a:xfrm>
            <a:off x="0" y="702707"/>
            <a:ext cx="7770627" cy="4160740"/>
            <a:chOff x="0" y="756815"/>
            <a:chExt cx="7770627" cy="4160740"/>
          </a:xfrm>
        </p:grpSpPr>
        <p:grpSp>
          <p:nvGrpSpPr>
            <p:cNvPr id="19" name="그룹 18">
              <a:extLst>
                <a:ext uri="{FF2B5EF4-FFF2-40B4-BE49-F238E27FC236}">
                  <a16:creationId xmlns:a16="http://schemas.microsoft.com/office/drawing/2014/main" id="{7F7868B0-07BB-B788-1DE9-EF2F539A0A66}"/>
                </a:ext>
              </a:extLst>
            </p:cNvPr>
            <p:cNvGrpSpPr/>
            <p:nvPr/>
          </p:nvGrpSpPr>
          <p:grpSpPr>
            <a:xfrm>
              <a:off x="4577409" y="1192471"/>
              <a:ext cx="3193218" cy="3725084"/>
              <a:chOff x="4867784" y="1166679"/>
              <a:chExt cx="3193218" cy="3725084"/>
            </a:xfrm>
          </p:grpSpPr>
          <p:sp>
            <p:nvSpPr>
              <p:cNvPr id="5" name="文本框 30">
                <a:extLst>
                  <a:ext uri="{FF2B5EF4-FFF2-40B4-BE49-F238E27FC236}">
                    <a16:creationId xmlns:a16="http://schemas.microsoft.com/office/drawing/2014/main" id="{743059EF-5B4B-1336-554E-1032ABE81CEB}"/>
                  </a:ext>
                </a:extLst>
              </p:cNvPr>
              <p:cNvSpPr txBox="1"/>
              <p:nvPr/>
            </p:nvSpPr>
            <p:spPr>
              <a:xfrm>
                <a:off x="5664017" y="1166679"/>
                <a:ext cx="2396985" cy="3691844"/>
              </a:xfrm>
              <a:prstGeom prst="rect">
                <a:avLst/>
              </a:prstGeom>
              <a:noFill/>
            </p:spPr>
            <p:txBody>
              <a:bodyPr wrap="square">
                <a:spAutoFit/>
              </a:bodyPr>
              <a:lstStyle/>
              <a:p>
                <a:pPr algn="just">
                  <a:lnSpc>
                    <a:spcPct val="200000"/>
                  </a:lnSpc>
                </a:pPr>
                <a:r>
                  <a:rPr lang="en-US" altLang="zh-CN" sz="2000" b="1" dirty="0">
                    <a:latin typeface="Times New Roman" panose="02020603050405020304" pitchFamily="18" charset="0"/>
                    <a:cs typeface="Times New Roman" panose="02020603050405020304" pitchFamily="18" charset="0"/>
                  </a:rPr>
                  <a:t>Introduction</a:t>
                </a:r>
              </a:p>
              <a:p>
                <a:pPr algn="just">
                  <a:lnSpc>
                    <a:spcPct val="200000"/>
                  </a:lnSpc>
                </a:pPr>
                <a:r>
                  <a:rPr lang="en-US" altLang="zh-CN" sz="2000" b="1" dirty="0">
                    <a:latin typeface="Times New Roman" panose="02020603050405020304" pitchFamily="18" charset="0"/>
                    <a:cs typeface="Times New Roman" panose="02020603050405020304" pitchFamily="18" charset="0"/>
                  </a:rPr>
                  <a:t>Methodology</a:t>
                </a:r>
              </a:p>
              <a:p>
                <a:pPr algn="just">
                  <a:lnSpc>
                    <a:spcPct val="200000"/>
                  </a:lnSpc>
                </a:pPr>
                <a:r>
                  <a:rPr lang="en-US" altLang="zh-CN" sz="2000" b="1" dirty="0">
                    <a:latin typeface="Times New Roman" panose="02020603050405020304" pitchFamily="18" charset="0"/>
                    <a:cs typeface="Times New Roman" panose="02020603050405020304" pitchFamily="18" charset="0"/>
                  </a:rPr>
                  <a:t>AI Application</a:t>
                </a:r>
              </a:p>
              <a:p>
                <a:pPr algn="just">
                  <a:lnSpc>
                    <a:spcPct val="200000"/>
                  </a:lnSpc>
                </a:pPr>
                <a:r>
                  <a:rPr lang="en-US" altLang="zh-CN" sz="2000" b="1" dirty="0">
                    <a:latin typeface="Times New Roman" panose="02020603050405020304" pitchFamily="18" charset="0"/>
                    <a:cs typeface="Times New Roman" panose="02020603050405020304" pitchFamily="18" charset="0"/>
                  </a:rPr>
                  <a:t>Results</a:t>
                </a:r>
              </a:p>
              <a:p>
                <a:pPr algn="just">
                  <a:lnSpc>
                    <a:spcPct val="200000"/>
                  </a:lnSpc>
                </a:pPr>
                <a:r>
                  <a:rPr lang="en-US" altLang="zh-CN" sz="2000" b="1" dirty="0">
                    <a:latin typeface="Times New Roman" panose="02020603050405020304" pitchFamily="18" charset="0"/>
                    <a:cs typeface="Times New Roman" panose="02020603050405020304" pitchFamily="18" charset="0"/>
                  </a:rPr>
                  <a:t>Discussion</a:t>
                </a:r>
              </a:p>
              <a:p>
                <a:pPr algn="just">
                  <a:lnSpc>
                    <a:spcPct val="200000"/>
                  </a:lnSpc>
                </a:pPr>
                <a:r>
                  <a:rPr lang="en-US" altLang="zh-CN" sz="2000" b="1" dirty="0">
                    <a:latin typeface="Times New Roman" panose="02020603050405020304" pitchFamily="18" charset="0"/>
                    <a:cs typeface="Times New Roman" panose="02020603050405020304" pitchFamily="18" charset="0"/>
                  </a:rPr>
                  <a:t>Conclusion</a:t>
                </a:r>
              </a:p>
            </p:txBody>
          </p:sp>
          <p:sp>
            <p:nvSpPr>
              <p:cNvPr id="7" name="직사각형 6">
                <a:extLst>
                  <a:ext uri="{FF2B5EF4-FFF2-40B4-BE49-F238E27FC236}">
                    <a16:creationId xmlns:a16="http://schemas.microsoft.com/office/drawing/2014/main" id="{E7109691-EC76-34BA-376E-A820647DD83D}"/>
                  </a:ext>
                </a:extLst>
              </p:cNvPr>
              <p:cNvSpPr/>
              <p:nvPr/>
            </p:nvSpPr>
            <p:spPr>
              <a:xfrm>
                <a:off x="4867784" y="1331020"/>
                <a:ext cx="714206" cy="3560743"/>
              </a:xfrm>
              <a:prstGeom prst="rect">
                <a:avLst/>
              </a:prstGeom>
              <a:solidFill>
                <a:srgbClr val="181C62"/>
              </a:solidFill>
              <a:ln>
                <a:solidFill>
                  <a:srgbClr val="181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C9771C9B-6999-393D-1C63-9D390BEE5164}"/>
                  </a:ext>
                </a:extLst>
              </p:cNvPr>
              <p:cNvSpPr txBox="1"/>
              <p:nvPr/>
            </p:nvSpPr>
            <p:spPr>
              <a:xfrm>
                <a:off x="4949811" y="1369043"/>
                <a:ext cx="550151" cy="523220"/>
              </a:xfrm>
              <a:prstGeom prst="rect">
                <a:avLst/>
              </a:prstGeom>
              <a:noFill/>
            </p:spPr>
            <p:txBody>
              <a:bodyPr wrap="none" rtlCol="0">
                <a:spAutoFit/>
              </a:bodyPr>
              <a:lstStyle/>
              <a:p>
                <a:r>
                  <a:rPr lang="en-SG" sz="2800" b="1" dirty="0">
                    <a:solidFill>
                      <a:schemeClr val="bg1"/>
                    </a:solidFill>
                  </a:rPr>
                  <a:t>01</a:t>
                </a:r>
              </a:p>
            </p:txBody>
          </p:sp>
          <p:sp>
            <p:nvSpPr>
              <p:cNvPr id="9" name="TextBox 8">
                <a:extLst>
                  <a:ext uri="{FF2B5EF4-FFF2-40B4-BE49-F238E27FC236}">
                    <a16:creationId xmlns:a16="http://schemas.microsoft.com/office/drawing/2014/main" id="{8342BF5B-2F67-F65E-E4F8-D52762336C18}"/>
                  </a:ext>
                </a:extLst>
              </p:cNvPr>
              <p:cNvSpPr txBox="1"/>
              <p:nvPr/>
            </p:nvSpPr>
            <p:spPr>
              <a:xfrm>
                <a:off x="4949811" y="1967038"/>
                <a:ext cx="550151" cy="523220"/>
              </a:xfrm>
              <a:prstGeom prst="rect">
                <a:avLst/>
              </a:prstGeom>
              <a:noFill/>
            </p:spPr>
            <p:txBody>
              <a:bodyPr wrap="none" rtlCol="0">
                <a:spAutoFit/>
              </a:bodyPr>
              <a:lstStyle/>
              <a:p>
                <a:r>
                  <a:rPr lang="en-SG" sz="2800" b="1" dirty="0">
                    <a:solidFill>
                      <a:schemeClr val="bg1"/>
                    </a:solidFill>
                  </a:rPr>
                  <a:t>02</a:t>
                </a:r>
              </a:p>
            </p:txBody>
          </p:sp>
          <p:sp>
            <p:nvSpPr>
              <p:cNvPr id="13" name="TextBox 12">
                <a:extLst>
                  <a:ext uri="{FF2B5EF4-FFF2-40B4-BE49-F238E27FC236}">
                    <a16:creationId xmlns:a16="http://schemas.microsoft.com/office/drawing/2014/main" id="{2573E18F-FE04-AA6C-7778-20E0C028FAD9}"/>
                  </a:ext>
                </a:extLst>
              </p:cNvPr>
              <p:cNvSpPr txBox="1"/>
              <p:nvPr/>
            </p:nvSpPr>
            <p:spPr>
              <a:xfrm>
                <a:off x="4949811" y="2565033"/>
                <a:ext cx="550151" cy="523220"/>
              </a:xfrm>
              <a:prstGeom prst="rect">
                <a:avLst/>
              </a:prstGeom>
              <a:noFill/>
            </p:spPr>
            <p:txBody>
              <a:bodyPr wrap="none" rtlCol="0">
                <a:spAutoFit/>
              </a:bodyPr>
              <a:lstStyle/>
              <a:p>
                <a:r>
                  <a:rPr lang="en-SG" sz="2800" b="1" dirty="0">
                    <a:solidFill>
                      <a:schemeClr val="bg1"/>
                    </a:solidFill>
                  </a:rPr>
                  <a:t>03</a:t>
                </a:r>
              </a:p>
            </p:txBody>
          </p:sp>
          <p:sp>
            <p:nvSpPr>
              <p:cNvPr id="14" name="TextBox 13">
                <a:extLst>
                  <a:ext uri="{FF2B5EF4-FFF2-40B4-BE49-F238E27FC236}">
                    <a16:creationId xmlns:a16="http://schemas.microsoft.com/office/drawing/2014/main" id="{B156F11F-D3D3-C93A-C47A-FA1AD07AF9DA}"/>
                  </a:ext>
                </a:extLst>
              </p:cNvPr>
              <p:cNvSpPr txBox="1"/>
              <p:nvPr/>
            </p:nvSpPr>
            <p:spPr>
              <a:xfrm>
                <a:off x="4949811" y="3163028"/>
                <a:ext cx="550151" cy="523220"/>
              </a:xfrm>
              <a:prstGeom prst="rect">
                <a:avLst/>
              </a:prstGeom>
              <a:noFill/>
            </p:spPr>
            <p:txBody>
              <a:bodyPr wrap="none" rtlCol="0">
                <a:spAutoFit/>
              </a:bodyPr>
              <a:lstStyle/>
              <a:p>
                <a:r>
                  <a:rPr lang="en-SG" sz="2800" b="1" dirty="0">
                    <a:solidFill>
                      <a:schemeClr val="bg1"/>
                    </a:solidFill>
                  </a:rPr>
                  <a:t>04</a:t>
                </a:r>
              </a:p>
            </p:txBody>
          </p:sp>
          <p:sp>
            <p:nvSpPr>
              <p:cNvPr id="17" name="TextBox 16">
                <a:extLst>
                  <a:ext uri="{FF2B5EF4-FFF2-40B4-BE49-F238E27FC236}">
                    <a16:creationId xmlns:a16="http://schemas.microsoft.com/office/drawing/2014/main" id="{B36E9624-F965-F9FE-CE14-5FFCD0BF9BE0}"/>
                  </a:ext>
                </a:extLst>
              </p:cNvPr>
              <p:cNvSpPr txBox="1"/>
              <p:nvPr/>
            </p:nvSpPr>
            <p:spPr>
              <a:xfrm>
                <a:off x="4949811" y="3761023"/>
                <a:ext cx="550151" cy="523220"/>
              </a:xfrm>
              <a:prstGeom prst="rect">
                <a:avLst/>
              </a:prstGeom>
              <a:noFill/>
            </p:spPr>
            <p:txBody>
              <a:bodyPr wrap="none" rtlCol="0">
                <a:spAutoFit/>
              </a:bodyPr>
              <a:lstStyle/>
              <a:p>
                <a:r>
                  <a:rPr lang="en-SG" sz="2800" b="1" dirty="0">
                    <a:solidFill>
                      <a:schemeClr val="bg1"/>
                    </a:solidFill>
                  </a:rPr>
                  <a:t>05</a:t>
                </a:r>
              </a:p>
            </p:txBody>
          </p:sp>
          <p:sp>
            <p:nvSpPr>
              <p:cNvPr id="18" name="TextBox 17">
                <a:extLst>
                  <a:ext uri="{FF2B5EF4-FFF2-40B4-BE49-F238E27FC236}">
                    <a16:creationId xmlns:a16="http://schemas.microsoft.com/office/drawing/2014/main" id="{BB7C7E28-11CC-3D94-EDFB-4BB173D3E7FA}"/>
                  </a:ext>
                </a:extLst>
              </p:cNvPr>
              <p:cNvSpPr txBox="1"/>
              <p:nvPr/>
            </p:nvSpPr>
            <p:spPr>
              <a:xfrm>
                <a:off x="4949811" y="4359019"/>
                <a:ext cx="550151" cy="523220"/>
              </a:xfrm>
              <a:prstGeom prst="rect">
                <a:avLst/>
              </a:prstGeom>
              <a:noFill/>
            </p:spPr>
            <p:txBody>
              <a:bodyPr wrap="none" rtlCol="0">
                <a:spAutoFit/>
              </a:bodyPr>
              <a:lstStyle/>
              <a:p>
                <a:r>
                  <a:rPr lang="en-SG" sz="2800" b="1" dirty="0">
                    <a:solidFill>
                      <a:schemeClr val="bg1"/>
                    </a:solidFill>
                  </a:rPr>
                  <a:t>06</a:t>
                </a:r>
              </a:p>
            </p:txBody>
          </p:sp>
        </p:grpSp>
        <p:pic>
          <p:nvPicPr>
            <p:cNvPr id="34" name="그림 33">
              <a:extLst>
                <a:ext uri="{FF2B5EF4-FFF2-40B4-BE49-F238E27FC236}">
                  <a16:creationId xmlns:a16="http://schemas.microsoft.com/office/drawing/2014/main" id="{25253D2E-929B-3DBF-3496-FB196AFD16E3}"/>
                </a:ext>
              </a:extLst>
            </p:cNvPr>
            <p:cNvPicPr>
              <a:picLocks noChangeAspect="1"/>
            </p:cNvPicPr>
            <p:nvPr/>
          </p:nvPicPr>
          <p:blipFill>
            <a:blip r:embed="rId3"/>
            <a:srcRect r="16923"/>
            <a:stretch>
              <a:fillRect/>
            </a:stretch>
          </p:blipFill>
          <p:spPr>
            <a:xfrm>
              <a:off x="0" y="756815"/>
              <a:ext cx="4571999" cy="4127500"/>
            </a:xfrm>
            <a:prstGeom prst="rect">
              <a:avLst/>
            </a:prstGeom>
          </p:spPr>
        </p:pic>
      </p:grpSp>
    </p:spTree>
    <p:extLst>
      <p:ext uri="{BB962C8B-B14F-4D97-AF65-F5344CB8AC3E}">
        <p14:creationId xmlns:p14="http://schemas.microsoft.com/office/powerpoint/2010/main" val="3059383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EAC6D-AE0C-74AE-CB3A-C7C43EEDC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1DB5D-4204-B8EC-30EA-0D269D9BD359}"/>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01 Introduction</a:t>
            </a:r>
          </a:p>
        </p:txBody>
      </p:sp>
      <p:sp>
        <p:nvSpPr>
          <p:cNvPr id="6" name="Slide Number Placeholder 5">
            <a:extLst>
              <a:ext uri="{FF2B5EF4-FFF2-40B4-BE49-F238E27FC236}">
                <a16:creationId xmlns:a16="http://schemas.microsoft.com/office/drawing/2014/main" id="{4C315797-54C5-AB2F-55BF-5C2535D7E29F}"/>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3</a:t>
            </a:fld>
            <a:endParaRPr lang="en-US" dirty="0"/>
          </a:p>
        </p:txBody>
      </p:sp>
      <p:cxnSp>
        <p:nvCxnSpPr>
          <p:cNvPr id="28" name="Straight Connector 27">
            <a:extLst>
              <a:ext uri="{FF2B5EF4-FFF2-40B4-BE49-F238E27FC236}">
                <a16:creationId xmlns:a16="http://schemas.microsoft.com/office/drawing/2014/main" id="{C6B992D8-345B-6227-97DB-FED5E842BAEE}"/>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1BB1612E-7826-2819-BB86-872505E4365D}"/>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CA428FD4-82DE-9360-D0E5-69375EA1E1C3}"/>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F32A701-50F4-002D-B66C-6CA0227A36BE}"/>
              </a:ext>
            </a:extLst>
          </p:cNvPr>
          <p:cNvSpPr txBox="1"/>
          <p:nvPr/>
        </p:nvSpPr>
        <p:spPr>
          <a:xfrm rot="5400000">
            <a:off x="8318137" y="377434"/>
            <a:ext cx="1018677"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CE9CEBEA-3340-257F-B04A-5624FA5D4C7D}"/>
              </a:ext>
            </a:extLst>
          </p:cNvPr>
          <p:cNvSpPr txBox="1"/>
          <p:nvPr/>
        </p:nvSpPr>
        <p:spPr>
          <a:xfrm rot="5400000">
            <a:off x="8340002" y="1274739"/>
            <a:ext cx="97494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1BE5A7F4-B1D7-D74A-4215-E0B71D84F83E}"/>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CA36401C-B0FA-65D4-0535-7D41969DBAFF}"/>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F99524D5-7427-1B61-962C-B77FE07348B5}"/>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CB1E16C3-340A-DB88-979C-A199265EB5E7}"/>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51292909-EE5B-B269-F3F9-BF8B262325CF}"/>
              </a:ext>
            </a:extLst>
          </p:cNvPr>
          <p:cNvSpPr txBox="1"/>
          <p:nvPr/>
        </p:nvSpPr>
        <p:spPr>
          <a:xfrm>
            <a:off x="870708" y="937730"/>
            <a:ext cx="1398781"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Background</a:t>
            </a:r>
          </a:p>
        </p:txBody>
      </p:sp>
      <p:pic>
        <p:nvPicPr>
          <p:cNvPr id="32" name="그림 31" descr="구직자 ">
            <a:extLst>
              <a:ext uri="{FF2B5EF4-FFF2-40B4-BE49-F238E27FC236}">
                <a16:creationId xmlns:a16="http://schemas.microsoft.com/office/drawing/2014/main" id="{DBF60E27-9DD8-2538-4D67-5F7C6D743724}"/>
              </a:ext>
            </a:extLst>
          </p:cNvPr>
          <p:cNvPicPr>
            <a:picLocks noChangeAspect="1"/>
          </p:cNvPicPr>
          <p:nvPr/>
        </p:nvPicPr>
        <p:blipFill>
          <a:blip r:embed="rId3"/>
          <a:stretch>
            <a:fillRect/>
          </a:stretch>
        </p:blipFill>
        <p:spPr>
          <a:xfrm>
            <a:off x="405088" y="2391582"/>
            <a:ext cx="2330019" cy="2330019"/>
          </a:xfrm>
          <a:prstGeom prst="rect">
            <a:avLst/>
          </a:prstGeom>
        </p:spPr>
      </p:pic>
      <p:pic>
        <p:nvPicPr>
          <p:cNvPr id="35" name="그림 34">
            <a:extLst>
              <a:ext uri="{FF2B5EF4-FFF2-40B4-BE49-F238E27FC236}">
                <a16:creationId xmlns:a16="http://schemas.microsoft.com/office/drawing/2014/main" id="{7B4EAFBF-031E-06B0-C681-A0C4713C45CF}"/>
              </a:ext>
            </a:extLst>
          </p:cNvPr>
          <p:cNvPicPr>
            <a:picLocks noChangeAspect="1"/>
          </p:cNvPicPr>
          <p:nvPr/>
        </p:nvPicPr>
        <p:blipFill>
          <a:blip r:embed="rId4"/>
          <a:stretch>
            <a:fillRect/>
          </a:stretch>
        </p:blipFill>
        <p:spPr>
          <a:xfrm>
            <a:off x="3050101" y="1396612"/>
            <a:ext cx="929158" cy="929158"/>
          </a:xfrm>
          <a:prstGeom prst="rect">
            <a:avLst/>
          </a:prstGeom>
        </p:spPr>
      </p:pic>
      <p:pic>
        <p:nvPicPr>
          <p:cNvPr id="36" name="그림 35" descr="과학 기술 ">
            <a:extLst>
              <a:ext uri="{FF2B5EF4-FFF2-40B4-BE49-F238E27FC236}">
                <a16:creationId xmlns:a16="http://schemas.microsoft.com/office/drawing/2014/main" id="{0D02DBAE-C760-5F36-4500-4C07EA44E6E9}"/>
              </a:ext>
            </a:extLst>
          </p:cNvPr>
          <p:cNvPicPr>
            <a:picLocks noChangeAspect="1"/>
          </p:cNvPicPr>
          <p:nvPr/>
        </p:nvPicPr>
        <p:blipFill>
          <a:blip r:embed="rId5"/>
          <a:stretch>
            <a:fillRect/>
          </a:stretch>
        </p:blipFill>
        <p:spPr>
          <a:xfrm>
            <a:off x="4372359" y="1396610"/>
            <a:ext cx="929159" cy="929159"/>
          </a:xfrm>
          <a:prstGeom prst="rect">
            <a:avLst/>
          </a:prstGeom>
        </p:spPr>
      </p:pic>
      <p:pic>
        <p:nvPicPr>
          <p:cNvPr id="37" name="그림 36" descr="어린이들 ">
            <a:extLst>
              <a:ext uri="{FF2B5EF4-FFF2-40B4-BE49-F238E27FC236}">
                <a16:creationId xmlns:a16="http://schemas.microsoft.com/office/drawing/2014/main" id="{5B839FDA-9304-67DB-91C5-E1DAC9D4F831}"/>
              </a:ext>
            </a:extLst>
          </p:cNvPr>
          <p:cNvPicPr>
            <a:picLocks noChangeAspect="1"/>
          </p:cNvPicPr>
          <p:nvPr/>
        </p:nvPicPr>
        <p:blipFill>
          <a:blip r:embed="rId6"/>
          <a:stretch>
            <a:fillRect/>
          </a:stretch>
        </p:blipFill>
        <p:spPr>
          <a:xfrm>
            <a:off x="3072015" y="2602315"/>
            <a:ext cx="929160" cy="929160"/>
          </a:xfrm>
          <a:prstGeom prst="rect">
            <a:avLst/>
          </a:prstGeom>
        </p:spPr>
      </p:pic>
      <p:pic>
        <p:nvPicPr>
          <p:cNvPr id="38" name="그림 37" descr="젠더 유체 ">
            <a:extLst>
              <a:ext uri="{FF2B5EF4-FFF2-40B4-BE49-F238E27FC236}">
                <a16:creationId xmlns:a16="http://schemas.microsoft.com/office/drawing/2014/main" id="{0ADCDC22-B61D-09F8-63D4-51B55F601ADA}"/>
              </a:ext>
            </a:extLst>
          </p:cNvPr>
          <p:cNvPicPr>
            <a:picLocks noChangeAspect="1"/>
          </p:cNvPicPr>
          <p:nvPr/>
        </p:nvPicPr>
        <p:blipFill>
          <a:blip r:embed="rId7"/>
          <a:stretch>
            <a:fillRect/>
          </a:stretch>
        </p:blipFill>
        <p:spPr>
          <a:xfrm>
            <a:off x="4318777" y="2602315"/>
            <a:ext cx="929160" cy="929160"/>
          </a:xfrm>
          <a:prstGeom prst="rect">
            <a:avLst/>
          </a:prstGeom>
        </p:spPr>
      </p:pic>
      <p:pic>
        <p:nvPicPr>
          <p:cNvPr id="39" name="그림 38" descr="취업률 ">
            <a:extLst>
              <a:ext uri="{FF2B5EF4-FFF2-40B4-BE49-F238E27FC236}">
                <a16:creationId xmlns:a16="http://schemas.microsoft.com/office/drawing/2014/main" id="{49DCAC28-0D04-64B4-0C15-76F79719C98F}"/>
              </a:ext>
            </a:extLst>
          </p:cNvPr>
          <p:cNvPicPr>
            <a:picLocks noChangeAspect="1"/>
          </p:cNvPicPr>
          <p:nvPr/>
        </p:nvPicPr>
        <p:blipFill>
          <a:blip r:embed="rId8"/>
          <a:stretch>
            <a:fillRect/>
          </a:stretch>
        </p:blipFill>
        <p:spPr>
          <a:xfrm>
            <a:off x="3764326" y="3712099"/>
            <a:ext cx="929160" cy="929160"/>
          </a:xfrm>
          <a:prstGeom prst="rect">
            <a:avLst/>
          </a:prstGeom>
        </p:spPr>
      </p:pic>
    </p:spTree>
    <p:extLst>
      <p:ext uri="{BB962C8B-B14F-4D97-AF65-F5344CB8AC3E}">
        <p14:creationId xmlns:p14="http://schemas.microsoft.com/office/powerpoint/2010/main" val="99322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67BFB-33FE-3709-D211-EB2FFB800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7D926-2BAE-F7D6-D748-5DEBA91B6348}"/>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01 Introduction</a:t>
            </a:r>
          </a:p>
        </p:txBody>
      </p:sp>
      <p:sp>
        <p:nvSpPr>
          <p:cNvPr id="6" name="Slide Number Placeholder 5">
            <a:extLst>
              <a:ext uri="{FF2B5EF4-FFF2-40B4-BE49-F238E27FC236}">
                <a16:creationId xmlns:a16="http://schemas.microsoft.com/office/drawing/2014/main" id="{AA50BABA-52E4-553F-E374-03060F6ACA79}"/>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4</a:t>
            </a:fld>
            <a:endParaRPr lang="en-US" dirty="0"/>
          </a:p>
        </p:txBody>
      </p:sp>
      <p:cxnSp>
        <p:nvCxnSpPr>
          <p:cNvPr id="28" name="Straight Connector 27">
            <a:extLst>
              <a:ext uri="{FF2B5EF4-FFF2-40B4-BE49-F238E27FC236}">
                <a16:creationId xmlns:a16="http://schemas.microsoft.com/office/drawing/2014/main" id="{90AAB933-B420-1FA1-7176-72654AF38CA7}"/>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4D7BCC7D-FE6B-DDE9-4C9C-ABEC1F970C3B}"/>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964DB769-78CD-8C30-3A0F-03934C143E64}"/>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B426580-2A69-1EB5-4C30-031644001501}"/>
              </a:ext>
            </a:extLst>
          </p:cNvPr>
          <p:cNvSpPr txBox="1"/>
          <p:nvPr/>
        </p:nvSpPr>
        <p:spPr>
          <a:xfrm rot="5400000">
            <a:off x="8318137" y="377434"/>
            <a:ext cx="1018677"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91458FB5-163A-8A54-C095-AABD80F6F6DB}"/>
              </a:ext>
            </a:extLst>
          </p:cNvPr>
          <p:cNvSpPr txBox="1"/>
          <p:nvPr/>
        </p:nvSpPr>
        <p:spPr>
          <a:xfrm rot="5400000">
            <a:off x="8340002" y="1274739"/>
            <a:ext cx="97494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AC839E4E-583B-ABAD-EAC4-2DBF9C5628CC}"/>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5C9EAFDA-F12F-0405-C0BD-D31BB0289276}"/>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9F16425E-DC5B-F21A-F1E5-8F5D0A079019}"/>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AA5B4AAF-007C-29AD-4DD7-A2A095EAB39B}"/>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CCFE02D9-8819-C807-4BA7-18C8CD58E492}"/>
              </a:ext>
            </a:extLst>
          </p:cNvPr>
          <p:cNvSpPr txBox="1"/>
          <p:nvPr/>
        </p:nvSpPr>
        <p:spPr>
          <a:xfrm>
            <a:off x="870708" y="937730"/>
            <a:ext cx="1982274"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3750603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438E4-4E82-3360-8FCE-F10E9CA16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7E2BF-DCB5-C439-AF8B-D309DDAA94D6}"/>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01 Introduction</a:t>
            </a:r>
          </a:p>
        </p:txBody>
      </p:sp>
      <p:sp>
        <p:nvSpPr>
          <p:cNvPr id="6" name="Slide Number Placeholder 5">
            <a:extLst>
              <a:ext uri="{FF2B5EF4-FFF2-40B4-BE49-F238E27FC236}">
                <a16:creationId xmlns:a16="http://schemas.microsoft.com/office/drawing/2014/main" id="{302305E8-F470-C06E-14F1-53FA236CE5FE}"/>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5</a:t>
            </a:fld>
            <a:endParaRPr lang="en-US" dirty="0"/>
          </a:p>
        </p:txBody>
      </p:sp>
      <p:cxnSp>
        <p:nvCxnSpPr>
          <p:cNvPr id="28" name="Straight Connector 27">
            <a:extLst>
              <a:ext uri="{FF2B5EF4-FFF2-40B4-BE49-F238E27FC236}">
                <a16:creationId xmlns:a16="http://schemas.microsoft.com/office/drawing/2014/main" id="{BBCF5332-4B5C-48D0-07B9-84270C49F2B8}"/>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C1F140C3-4574-AE0B-9CE9-DD9D0A752014}"/>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3650BE3A-CEAB-4233-2742-E0487EB5A7B9}"/>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3F83B61-58F7-A244-E8A8-7BDB9E1C0454}"/>
              </a:ext>
            </a:extLst>
          </p:cNvPr>
          <p:cNvSpPr txBox="1"/>
          <p:nvPr/>
        </p:nvSpPr>
        <p:spPr>
          <a:xfrm rot="5400000">
            <a:off x="8318137" y="377434"/>
            <a:ext cx="1018677"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B0C6203C-A638-B2C0-95C5-26A12D68A570}"/>
              </a:ext>
            </a:extLst>
          </p:cNvPr>
          <p:cNvSpPr txBox="1"/>
          <p:nvPr/>
        </p:nvSpPr>
        <p:spPr>
          <a:xfrm rot="5400000">
            <a:off x="8340002" y="1274739"/>
            <a:ext cx="97494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C57886C2-CBEA-0A3F-556E-C1BC16B81984}"/>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9FA59C4C-CDCC-0E40-1E75-13D28D0CDD12}"/>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19F128CA-180D-0B5C-FA06-574A8534718D}"/>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2573ED51-5C19-125E-F9F8-DA1E6B5080BD}"/>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FB416FCF-B67C-7BAA-C8F5-42C7FDB8B767}"/>
              </a:ext>
            </a:extLst>
          </p:cNvPr>
          <p:cNvSpPr txBox="1"/>
          <p:nvPr/>
        </p:nvSpPr>
        <p:spPr>
          <a:xfrm>
            <a:off x="870708" y="937730"/>
            <a:ext cx="2101857"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Aim and Objective</a:t>
            </a:r>
          </a:p>
        </p:txBody>
      </p:sp>
    </p:spTree>
    <p:extLst>
      <p:ext uri="{BB962C8B-B14F-4D97-AF65-F5344CB8AC3E}">
        <p14:creationId xmlns:p14="http://schemas.microsoft.com/office/powerpoint/2010/main" val="1575338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3E308-8DD4-6873-4F8D-BC285F9929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D7056-C773-D008-265A-D38988F1C795}"/>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02 Methodology</a:t>
            </a:r>
          </a:p>
        </p:txBody>
      </p:sp>
      <p:sp>
        <p:nvSpPr>
          <p:cNvPr id="6" name="Slide Number Placeholder 5">
            <a:extLst>
              <a:ext uri="{FF2B5EF4-FFF2-40B4-BE49-F238E27FC236}">
                <a16:creationId xmlns:a16="http://schemas.microsoft.com/office/drawing/2014/main" id="{DF4477F9-7792-27D3-5397-04B90FB92394}"/>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6</a:t>
            </a:fld>
            <a:endParaRPr lang="en-US" dirty="0"/>
          </a:p>
        </p:txBody>
      </p:sp>
      <p:cxnSp>
        <p:nvCxnSpPr>
          <p:cNvPr id="28" name="Straight Connector 27">
            <a:extLst>
              <a:ext uri="{FF2B5EF4-FFF2-40B4-BE49-F238E27FC236}">
                <a16:creationId xmlns:a16="http://schemas.microsoft.com/office/drawing/2014/main" id="{700A4E64-669A-B37D-8D8B-54BE8D5DB695}"/>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DB367105-6426-E472-C749-051B77706352}"/>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DE3F86AF-D941-50FB-1D5B-B9FC31E3EB9B}"/>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F161F1E9-943D-8F0C-6892-A64019D335F6}"/>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987A736C-E4EB-08B9-428A-7584DEF6D9A0}"/>
              </a:ext>
            </a:extLst>
          </p:cNvPr>
          <p:cNvSpPr txBox="1"/>
          <p:nvPr/>
        </p:nvSpPr>
        <p:spPr>
          <a:xfrm rot="5400000">
            <a:off x="8303133" y="1267045"/>
            <a:ext cx="1048685"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855B059D-0809-0044-D35B-CA7BCE5274FC}"/>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73B6EF2A-CE9F-8504-D835-1FCB5C439664}"/>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4309C02F-31F7-52E8-AABE-7E60D66E71B7}"/>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7428485B-A5D4-40CC-41B1-1C115EA86C2A}"/>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B0870F18-F947-60D6-232D-85E6F2D5B87F}"/>
              </a:ext>
            </a:extLst>
          </p:cNvPr>
          <p:cNvSpPr txBox="1"/>
          <p:nvPr/>
        </p:nvSpPr>
        <p:spPr>
          <a:xfrm>
            <a:off x="870708" y="937730"/>
            <a:ext cx="1905330"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Project</a:t>
            </a:r>
            <a:r>
              <a:rPr lang="ko-KR" altLang="en-US" b="1" dirty="0">
                <a:latin typeface="Times New Roman" panose="02020603050405020304" pitchFamily="18" charset="0"/>
                <a:cs typeface="Times New Roman" panose="02020603050405020304" pitchFamily="18" charset="0"/>
              </a:rPr>
              <a:t> </a:t>
            </a:r>
            <a:r>
              <a:rPr lang="en-SG" altLang="ko-KR" b="1" dirty="0">
                <a:latin typeface="Times New Roman" panose="02020603050405020304" pitchFamily="18" charset="0"/>
                <a:cs typeface="Times New Roman" panose="02020603050405020304" pitchFamily="18" charset="0"/>
              </a:rPr>
              <a:t>Overview</a:t>
            </a:r>
            <a:endParaRPr lang="en-SG"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1566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E17F-9E75-0E67-B32D-FE90242C8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4C56CA-AE66-960F-2F95-1BAC58EA4B84}"/>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02 Methodology</a:t>
            </a:r>
          </a:p>
        </p:txBody>
      </p:sp>
      <p:sp>
        <p:nvSpPr>
          <p:cNvPr id="6" name="Slide Number Placeholder 5">
            <a:extLst>
              <a:ext uri="{FF2B5EF4-FFF2-40B4-BE49-F238E27FC236}">
                <a16:creationId xmlns:a16="http://schemas.microsoft.com/office/drawing/2014/main" id="{4E3BC94D-B44C-8749-C85A-4037A10DC2F2}"/>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7</a:t>
            </a:fld>
            <a:endParaRPr lang="en-US" dirty="0"/>
          </a:p>
        </p:txBody>
      </p:sp>
      <p:cxnSp>
        <p:nvCxnSpPr>
          <p:cNvPr id="28" name="Straight Connector 27">
            <a:extLst>
              <a:ext uri="{FF2B5EF4-FFF2-40B4-BE49-F238E27FC236}">
                <a16:creationId xmlns:a16="http://schemas.microsoft.com/office/drawing/2014/main" id="{77B51C8C-1AEA-903F-A64D-EBAA6341DB51}"/>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5A5CBDF4-8F83-E80C-7E7B-1AC14D69A5D4}"/>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107A2674-41A8-7604-D21B-D06404946A29}"/>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1F8613F-2AF2-C1CE-E54E-2CA806A8FC92}"/>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B412DF58-3A81-3D07-278F-E1B672818048}"/>
              </a:ext>
            </a:extLst>
          </p:cNvPr>
          <p:cNvSpPr txBox="1"/>
          <p:nvPr/>
        </p:nvSpPr>
        <p:spPr>
          <a:xfrm rot="5400000">
            <a:off x="8303133" y="1267045"/>
            <a:ext cx="1048685"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C5F766F6-9039-2961-FFF5-FD49E4B4B443}"/>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9D9912E9-E47E-57B6-DB46-50C8E77AE65A}"/>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4D87B242-190F-6329-5DC5-081223C1D3BC}"/>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F09E86A7-1A86-C687-F360-394B45B5C369}"/>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DE4EFBBB-0233-A763-FBED-106093134ED8}"/>
              </a:ext>
            </a:extLst>
          </p:cNvPr>
          <p:cNvSpPr txBox="1"/>
          <p:nvPr/>
        </p:nvSpPr>
        <p:spPr>
          <a:xfrm>
            <a:off x="870708" y="937730"/>
            <a:ext cx="1877437"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Build the Dataset</a:t>
            </a:r>
          </a:p>
        </p:txBody>
      </p:sp>
    </p:spTree>
    <p:extLst>
      <p:ext uri="{BB962C8B-B14F-4D97-AF65-F5344CB8AC3E}">
        <p14:creationId xmlns:p14="http://schemas.microsoft.com/office/powerpoint/2010/main" val="2125398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4F81-ED7D-2257-4DEF-EA480272C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93180-7D43-9B5A-2B37-16436EAE7705}"/>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02 Methodology</a:t>
            </a:r>
          </a:p>
        </p:txBody>
      </p:sp>
      <p:sp>
        <p:nvSpPr>
          <p:cNvPr id="6" name="Slide Number Placeholder 5">
            <a:extLst>
              <a:ext uri="{FF2B5EF4-FFF2-40B4-BE49-F238E27FC236}">
                <a16:creationId xmlns:a16="http://schemas.microsoft.com/office/drawing/2014/main" id="{74ED8718-2CB1-1376-110E-1F0B88FC1F32}"/>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8</a:t>
            </a:fld>
            <a:endParaRPr lang="en-US" dirty="0"/>
          </a:p>
        </p:txBody>
      </p:sp>
      <p:cxnSp>
        <p:nvCxnSpPr>
          <p:cNvPr id="28" name="Straight Connector 27">
            <a:extLst>
              <a:ext uri="{FF2B5EF4-FFF2-40B4-BE49-F238E27FC236}">
                <a16:creationId xmlns:a16="http://schemas.microsoft.com/office/drawing/2014/main" id="{AFBC5C14-97E4-6575-58CB-EAC9B6EFC84F}"/>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516A49C2-4993-81CB-5975-1D5D2AB2240B}"/>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0328C977-F5EF-C33D-0002-0189B2FE8F95}"/>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39A858D7-6A2C-7D51-166B-0E7F23286A62}"/>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B1FEA8F2-0833-8334-299F-672ED59A2FA7}"/>
              </a:ext>
            </a:extLst>
          </p:cNvPr>
          <p:cNvSpPr txBox="1"/>
          <p:nvPr/>
        </p:nvSpPr>
        <p:spPr>
          <a:xfrm rot="5400000">
            <a:off x="8303133" y="1267045"/>
            <a:ext cx="1048685"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34DEB367-29B1-2841-C832-D63E4501D65F}"/>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0BDDCD4C-D4B9-8A32-14A5-C5304A765D05}"/>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713D933F-7C5D-C273-86E0-1C1AFFECC723}"/>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020557DF-FE6A-4263-B6DA-E3B54799D0E8}"/>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16C1B431-F759-50A5-2F19-D3E81933A3A7}"/>
              </a:ext>
            </a:extLst>
          </p:cNvPr>
          <p:cNvSpPr txBox="1"/>
          <p:nvPr/>
        </p:nvSpPr>
        <p:spPr>
          <a:xfrm>
            <a:off x="870708" y="937730"/>
            <a:ext cx="1155124"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Prototype</a:t>
            </a:r>
          </a:p>
        </p:txBody>
      </p:sp>
    </p:spTree>
    <p:extLst>
      <p:ext uri="{BB962C8B-B14F-4D97-AF65-F5344CB8AC3E}">
        <p14:creationId xmlns:p14="http://schemas.microsoft.com/office/powerpoint/2010/main" val="220836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47EFA-8B24-0F79-E674-F573845AC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42F6A-FE37-8811-4581-9A071FA4F1F6}"/>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03 AI Application </a:t>
            </a:r>
          </a:p>
        </p:txBody>
      </p:sp>
      <p:sp>
        <p:nvSpPr>
          <p:cNvPr id="6" name="Slide Number Placeholder 5">
            <a:extLst>
              <a:ext uri="{FF2B5EF4-FFF2-40B4-BE49-F238E27FC236}">
                <a16:creationId xmlns:a16="http://schemas.microsoft.com/office/drawing/2014/main" id="{A18D9647-3B4F-9B7A-7692-8728F2C9AC71}"/>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9</a:t>
            </a:fld>
            <a:endParaRPr lang="en-US" dirty="0"/>
          </a:p>
        </p:txBody>
      </p:sp>
      <p:cxnSp>
        <p:nvCxnSpPr>
          <p:cNvPr id="28" name="Straight Connector 27">
            <a:extLst>
              <a:ext uri="{FF2B5EF4-FFF2-40B4-BE49-F238E27FC236}">
                <a16:creationId xmlns:a16="http://schemas.microsoft.com/office/drawing/2014/main" id="{173CFC4D-2056-805E-9AAF-7EDB5B7BD407}"/>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C22CEC2F-47CF-51BD-8112-147E34A7DC32}"/>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CA23A1C2-EBC2-CAD2-8E99-BB10F4B4BF2C}"/>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D64AF20-A885-1C9A-FE81-80305FFD3CDD}"/>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96A7A3D1-BCC3-4F10-7F12-FA61C026AC3D}"/>
              </a:ext>
            </a:extLst>
          </p:cNvPr>
          <p:cNvSpPr txBox="1"/>
          <p:nvPr/>
        </p:nvSpPr>
        <p:spPr>
          <a:xfrm rot="5400000">
            <a:off x="8356032" y="1274739"/>
            <a:ext cx="94288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DEFD161F-49C3-9AB6-BAF5-C2EA9B6A6DE9}"/>
              </a:ext>
            </a:extLst>
          </p:cNvPr>
          <p:cNvSpPr txBox="1"/>
          <p:nvPr/>
        </p:nvSpPr>
        <p:spPr>
          <a:xfrm rot="5400000">
            <a:off x="8287102" y="2205227"/>
            <a:ext cx="1080745" cy="261610"/>
          </a:xfrm>
          <a:prstGeom prst="rect">
            <a:avLst/>
          </a:prstGeom>
          <a:noFill/>
        </p:spPr>
        <p:txBody>
          <a:bodyPr wrap="none" rtlCol="0">
            <a:spAutoFit/>
          </a:bodyPr>
          <a:lstStyle/>
          <a:p>
            <a:r>
              <a:rPr lang="en-SG" sz="1100" b="1" dirty="0">
                <a:solidFill>
                  <a:schemeClr val="bg1"/>
                </a:solidFill>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3F3AE515-849F-1628-9D9D-14E528CD4C64}"/>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1C05498C-07E0-DCE9-E315-9A095F9C1EDF}"/>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81844BF3-BC82-4D32-A123-BE7F74A6FE0B}"/>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961E9B38-76F3-DE66-7C09-C105381F00E2}"/>
              </a:ext>
            </a:extLst>
          </p:cNvPr>
          <p:cNvSpPr txBox="1"/>
          <p:nvPr/>
        </p:nvSpPr>
        <p:spPr>
          <a:xfrm>
            <a:off x="870708" y="937730"/>
            <a:ext cx="6500000" cy="369332"/>
          </a:xfrm>
          <a:prstGeom prst="rect">
            <a:avLst/>
          </a:prstGeom>
          <a:noFill/>
        </p:spPr>
        <p:txBody>
          <a:bodyPr wrap="none" rtlCol="0">
            <a:spAutoFit/>
          </a:bodyPr>
          <a:lstStyle/>
          <a:p>
            <a:r>
              <a:rPr lang="en-SG" altLang="ko-KR" b="1" dirty="0">
                <a:latin typeface="Times New Roman" panose="02020603050405020304" pitchFamily="18" charset="0"/>
                <a:cs typeface="Times New Roman" panose="02020603050405020304" pitchFamily="18" charset="0"/>
              </a:rPr>
              <a:t>Career recommendation prototype</a:t>
            </a:r>
            <a:endParaRPr lang="en-SG" b="1" dirty="0">
              <a:latin typeface="Times New Roman" panose="02020603050405020304" pitchFamily="18" charset="0"/>
              <a:cs typeface="Times New Roman" panose="02020603050405020304" pitchFamily="18" charset="0"/>
            </a:endParaRPr>
          </a:p>
        </p:txBody>
      </p:sp>
      <p:sp>
        <p:nvSpPr>
          <p:cNvPr id="101" name="Project content 101"/>
          <p:cNvSpPr txBox="1"/>
          <p:nvPr/>
        </p:nvSpPr>
        <p:spPr>
          <a:xfrm>
            <a:off x="594360" y="1508760"/>
            <a:ext cx="7315200" cy="457200"/>
          </a:xfrm>
          <a:prstGeom prst="rect">
            <a:avLst/>
          </a:prstGeom>
          <a:noFill/>
          <a:ln>
            <a:noFill/>
          </a:ln>
        </p:spPr>
        <p:txBody>
          <a:bodyPr wrap="square" lIns="0" tIns="0" rIns="0" bIns="0" anchor="t">
            <a:noAutofit/>
          </a:bodyPr>
          <a:lstStyle/>
          <a:p>
            <a:pPr algn="l">
              <a:lnSpc>
                <a:spcPct val="105000"/>
              </a:lnSpc>
              <a:spcAft>
                <a:spcPts val="0"/>
              </a:spcAft>
              <a:buNone/>
            </a:pPr>
            <a:r>
              <a:rPr lang="en-SG" sz="2400" b="1">
                <a:solidFill>
                  <a:srgbClr val="181C62"/>
                </a:solidFill>
                <a:latin typeface="Times New Roman"/>
                <a:ea typeface="Times New Roman"/>
                <a:cs typeface="Times New Roman"/>
              </a:rPr>
              <a:t>Three ranked careers for a person to explore</a:t>
            </a:r>
            <a:endParaRPr lang="en-SG" sz="2400"/>
          </a:p>
        </p:txBody>
      </p:sp>
      <p:sp>
        <p:nvSpPr>
          <p:cNvPr id="102" name="Project content 102"/>
          <p:cNvSpPr txBox="1"/>
          <p:nvPr/>
        </p:nvSpPr>
        <p:spPr>
          <a:xfrm>
            <a:off x="594360" y="2267712"/>
            <a:ext cx="2377440" cy="548640"/>
          </a:xfrm>
          <a:prstGeom prst="rect">
            <a:avLst/>
          </a:prstGeom>
          <a:noFill/>
          <a:ln>
            <a:noFill/>
          </a:ln>
        </p:spPr>
        <p:txBody>
          <a:bodyPr wrap="square" lIns="0" tIns="0" rIns="0" bIns="0" anchor="t">
            <a:noAutofit/>
          </a:bodyPr>
          <a:lstStyle/>
          <a:p>
            <a:pPr algn="l">
              <a:lnSpc>
                <a:spcPct val="105000"/>
              </a:lnSpc>
              <a:spcAft>
                <a:spcPts val="0"/>
              </a:spcAft>
              <a:buNone/>
            </a:pPr>
            <a:r>
              <a:rPr lang="en-SG" sz="3600" b="1">
                <a:solidFill>
                  <a:srgbClr val="181C62"/>
                </a:solidFill>
                <a:latin typeface="Times New Roman"/>
                <a:ea typeface="Times New Roman"/>
                <a:cs typeface="Times New Roman"/>
              </a:rPr>
              <a:t>15,000</a:t>
            </a:r>
            <a:endParaRPr lang="en-SG" sz="3600"/>
          </a:p>
        </p:txBody>
      </p:sp>
      <p:sp>
        <p:nvSpPr>
          <p:cNvPr id="103" name="Project content 103"/>
          <p:cNvSpPr txBox="1"/>
          <p:nvPr/>
        </p:nvSpPr>
        <p:spPr>
          <a:xfrm>
            <a:off x="594360" y="2816352"/>
            <a:ext cx="2377440" cy="365760"/>
          </a:xfrm>
          <a:prstGeom prst="rect">
            <a:avLst/>
          </a:prstGeom>
          <a:noFill/>
          <a:ln>
            <a:noFill/>
          </a:ln>
        </p:spPr>
        <p:txBody>
          <a:bodyPr wrap="square" lIns="0" tIns="0" rIns="0" bIns="0" anchor="t">
            <a:noAutofit/>
          </a:bodyPr>
          <a:lstStyle/>
          <a:p>
            <a:pPr algn="l">
              <a:lnSpc>
                <a:spcPct val="105000"/>
              </a:lnSpc>
              <a:spcAft>
                <a:spcPts val="0"/>
              </a:spcAft>
              <a:buNone/>
            </a:pPr>
            <a:r>
              <a:rPr lang="en-SG" sz="1800" b="0">
                <a:solidFill>
                  <a:srgbClr val="000000"/>
                </a:solidFill>
                <a:latin typeface="Times New Roman"/>
                <a:ea typeface="Times New Roman"/>
                <a:cs typeface="Times New Roman"/>
              </a:rPr>
              <a:t>profiles in the dataset</a:t>
            </a:r>
            <a:endParaRPr lang="en-SG" sz="1800"/>
          </a:p>
        </p:txBody>
      </p:sp>
      <p:sp>
        <p:nvSpPr>
          <p:cNvPr id="104" name="Project content 104"/>
          <p:cNvSpPr txBox="1"/>
          <p:nvPr/>
        </p:nvSpPr>
        <p:spPr>
          <a:xfrm>
            <a:off x="3200400" y="2267712"/>
            <a:ext cx="1965960" cy="548640"/>
          </a:xfrm>
          <a:prstGeom prst="rect">
            <a:avLst/>
          </a:prstGeom>
          <a:noFill/>
          <a:ln>
            <a:noFill/>
          </a:ln>
        </p:spPr>
        <p:txBody>
          <a:bodyPr wrap="square" lIns="0" tIns="0" rIns="0" bIns="0" anchor="t">
            <a:noAutofit/>
          </a:bodyPr>
          <a:lstStyle/>
          <a:p>
            <a:pPr algn="l">
              <a:lnSpc>
                <a:spcPct val="105000"/>
              </a:lnSpc>
              <a:spcAft>
                <a:spcPts val="0"/>
              </a:spcAft>
              <a:buNone/>
            </a:pPr>
            <a:r>
              <a:rPr lang="en-SG" sz="3600" b="1">
                <a:solidFill>
                  <a:srgbClr val="181C62"/>
                </a:solidFill>
                <a:latin typeface="Times New Roman"/>
                <a:ea typeface="Times New Roman"/>
                <a:cs typeface="Times New Roman"/>
              </a:rPr>
              <a:t>18</a:t>
            </a:r>
            <a:endParaRPr lang="en-SG" sz="3600"/>
          </a:p>
        </p:txBody>
      </p:sp>
      <p:sp>
        <p:nvSpPr>
          <p:cNvPr id="105" name="Project content 105"/>
          <p:cNvSpPr txBox="1"/>
          <p:nvPr/>
        </p:nvSpPr>
        <p:spPr>
          <a:xfrm>
            <a:off x="3200400" y="2816352"/>
            <a:ext cx="1965960" cy="365760"/>
          </a:xfrm>
          <a:prstGeom prst="rect">
            <a:avLst/>
          </a:prstGeom>
          <a:noFill/>
          <a:ln>
            <a:noFill/>
          </a:ln>
        </p:spPr>
        <p:txBody>
          <a:bodyPr wrap="square" lIns="0" tIns="0" rIns="0" bIns="0" anchor="t">
            <a:noAutofit/>
          </a:bodyPr>
          <a:lstStyle/>
          <a:p>
            <a:pPr algn="l">
              <a:lnSpc>
                <a:spcPct val="105000"/>
              </a:lnSpc>
              <a:spcAft>
                <a:spcPts val="0"/>
              </a:spcAft>
              <a:buNone/>
            </a:pPr>
            <a:r>
              <a:rPr lang="en-SG" sz="1800" b="0">
                <a:solidFill>
                  <a:srgbClr val="000000"/>
                </a:solidFill>
                <a:latin typeface="Times New Roman"/>
                <a:ea typeface="Times New Roman"/>
                <a:cs typeface="Times New Roman"/>
              </a:rPr>
              <a:t>input fields</a:t>
            </a:r>
            <a:endParaRPr lang="en-SG" sz="1800"/>
          </a:p>
        </p:txBody>
      </p:sp>
      <p:sp>
        <p:nvSpPr>
          <p:cNvPr id="106" name="Project content 106"/>
          <p:cNvSpPr txBox="1"/>
          <p:nvPr/>
        </p:nvSpPr>
        <p:spPr>
          <a:xfrm>
            <a:off x="5715000" y="2267712"/>
            <a:ext cx="2103120" cy="548640"/>
          </a:xfrm>
          <a:prstGeom prst="rect">
            <a:avLst/>
          </a:prstGeom>
          <a:noFill/>
          <a:ln>
            <a:noFill/>
          </a:ln>
        </p:spPr>
        <p:txBody>
          <a:bodyPr wrap="square" lIns="0" tIns="0" rIns="0" bIns="0" anchor="t">
            <a:noAutofit/>
          </a:bodyPr>
          <a:lstStyle/>
          <a:p>
            <a:pPr algn="l">
              <a:lnSpc>
                <a:spcPct val="105000"/>
              </a:lnSpc>
              <a:spcAft>
                <a:spcPts val="0"/>
              </a:spcAft>
              <a:buNone/>
            </a:pPr>
            <a:r>
              <a:rPr lang="en-SG" sz="3600" b="1">
                <a:solidFill>
                  <a:srgbClr val="181C62"/>
                </a:solidFill>
                <a:latin typeface="Times New Roman"/>
                <a:ea typeface="Times New Roman"/>
                <a:cs typeface="Times New Roman"/>
              </a:rPr>
              <a:t>22</a:t>
            </a:r>
            <a:endParaRPr lang="en-SG" sz="3600"/>
          </a:p>
        </p:txBody>
      </p:sp>
      <p:sp>
        <p:nvSpPr>
          <p:cNvPr id="107" name="Project content 107"/>
          <p:cNvSpPr txBox="1"/>
          <p:nvPr/>
        </p:nvSpPr>
        <p:spPr>
          <a:xfrm>
            <a:off x="5715000" y="2816352"/>
            <a:ext cx="2103120" cy="365760"/>
          </a:xfrm>
          <a:prstGeom prst="rect">
            <a:avLst/>
          </a:prstGeom>
          <a:noFill/>
          <a:ln>
            <a:noFill/>
          </a:ln>
        </p:spPr>
        <p:txBody>
          <a:bodyPr wrap="square" lIns="0" tIns="0" rIns="0" bIns="0" anchor="t">
            <a:noAutofit/>
          </a:bodyPr>
          <a:lstStyle/>
          <a:p>
            <a:pPr algn="l">
              <a:lnSpc>
                <a:spcPct val="105000"/>
              </a:lnSpc>
              <a:spcAft>
                <a:spcPts val="0"/>
              </a:spcAft>
              <a:buNone/>
            </a:pPr>
            <a:r>
              <a:rPr lang="en-SG" sz="1800" b="0">
                <a:solidFill>
                  <a:srgbClr val="000000"/>
                </a:solidFill>
                <a:latin typeface="Times New Roman"/>
                <a:ea typeface="Times New Roman"/>
                <a:cs typeface="Times New Roman"/>
              </a:rPr>
              <a:t>possible careers</a:t>
            </a:r>
            <a:endParaRPr lang="en-SG" sz="1800"/>
          </a:p>
        </p:txBody>
      </p:sp>
      <p:sp>
        <p:nvSpPr>
          <p:cNvPr id="108" name="Project content 108"/>
          <p:cNvSpPr txBox="1"/>
          <p:nvPr/>
        </p:nvSpPr>
        <p:spPr>
          <a:xfrm>
            <a:off x="594360" y="3520440"/>
            <a:ext cx="7406640" cy="457200"/>
          </a:xfrm>
          <a:prstGeom prst="rect">
            <a:avLst/>
          </a:prstGeom>
          <a:noFill/>
          <a:ln>
            <a:noFill/>
          </a:ln>
        </p:spPr>
        <p:txBody>
          <a:bodyPr wrap="square" lIns="0" tIns="0" rIns="0" bIns="0" anchor="t">
            <a:noAutofit/>
          </a:bodyPr>
          <a:lstStyle/>
          <a:p>
            <a:pPr algn="l">
              <a:lnSpc>
                <a:spcPct val="105000"/>
              </a:lnSpc>
              <a:spcAft>
                <a:spcPts val="0"/>
              </a:spcAft>
              <a:buNone/>
            </a:pPr>
            <a:r>
              <a:rPr lang="en-SG" sz="1900" b="0">
                <a:solidFill>
                  <a:srgbClr val="000000"/>
                </a:solidFill>
                <a:latin typeface="Times New Roman"/>
                <a:ea typeface="Times New Roman"/>
                <a:cs typeface="Times New Roman"/>
              </a:rPr>
              <a:t>Input: a profile CSV     Output: a ranked shortlist with model scores</a:t>
            </a:r>
            <a:endParaRPr lang="en-SG" sz="1900"/>
          </a:p>
        </p:txBody>
      </p:sp>
      <p:sp>
        <p:nvSpPr>
          <p:cNvPr id="109" name="Project content 109"/>
          <p:cNvSpPr txBox="1"/>
          <p:nvPr/>
        </p:nvSpPr>
        <p:spPr>
          <a:xfrm>
            <a:off x="594360" y="4096512"/>
            <a:ext cx="7406640" cy="365760"/>
          </a:xfrm>
          <a:prstGeom prst="rect">
            <a:avLst/>
          </a:prstGeom>
          <a:noFill/>
          <a:ln>
            <a:noFill/>
          </a:ln>
        </p:spPr>
        <p:txBody>
          <a:bodyPr wrap="square" lIns="0" tIns="0" rIns="0" bIns="0" anchor="t">
            <a:noAutofit/>
          </a:bodyPr>
          <a:lstStyle/>
          <a:p>
            <a:pPr algn="l">
              <a:lnSpc>
                <a:spcPct val="105000"/>
              </a:lnSpc>
              <a:spcAft>
                <a:spcPts val="0"/>
              </a:spcAft>
              <a:buNone/>
            </a:pPr>
            <a:r>
              <a:rPr lang="en-SG" sz="1700" b="0">
                <a:solidFill>
                  <a:srgbClr val="444444"/>
                </a:solidFill>
                <a:latin typeface="Times New Roman"/>
                <a:ea typeface="Times New Roman"/>
                <a:cs typeface="Times New Roman"/>
              </a:rPr>
              <a:t>Current prototype: Python command line with CSV export</a:t>
            </a:r>
            <a:endParaRPr lang="en-SG" sz="1700"/>
          </a:p>
        </p:txBody>
      </p:sp>
    </p:spTree>
    <p:extLst>
      <p:ext uri="{BB962C8B-B14F-4D97-AF65-F5344CB8AC3E}">
        <p14:creationId xmlns:p14="http://schemas.microsoft.com/office/powerpoint/2010/main" val="3159390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6C103-8E6B-FB59-53B9-86C5750B0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9D573-F488-59A9-9DB4-99799600D0E6}"/>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03 AI Application </a:t>
            </a:r>
          </a:p>
        </p:txBody>
      </p:sp>
      <p:sp>
        <p:nvSpPr>
          <p:cNvPr id="6" name="Slide Number Placeholder 5">
            <a:extLst>
              <a:ext uri="{FF2B5EF4-FFF2-40B4-BE49-F238E27FC236}">
                <a16:creationId xmlns:a16="http://schemas.microsoft.com/office/drawing/2014/main" id="{D32C60F6-C9D3-E56E-D615-A867D0722D4A}"/>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10</a:t>
            </a:fld>
            <a:endParaRPr lang="en-US" dirty="0"/>
          </a:p>
        </p:txBody>
      </p:sp>
      <p:cxnSp>
        <p:nvCxnSpPr>
          <p:cNvPr id="28" name="Straight Connector 27">
            <a:extLst>
              <a:ext uri="{FF2B5EF4-FFF2-40B4-BE49-F238E27FC236}">
                <a16:creationId xmlns:a16="http://schemas.microsoft.com/office/drawing/2014/main" id="{27F37A32-ACD8-98A7-84FA-C1FB0052DE48}"/>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7DDF53BF-62AE-D657-78C8-071493FC988E}"/>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363BABCA-60B7-1596-9B64-F1B28669C8C8}"/>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74ED7A61-BAD4-6517-239A-0C07F94FD7D9}"/>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24A9F612-7E73-53BC-1C79-13141FB17762}"/>
              </a:ext>
            </a:extLst>
          </p:cNvPr>
          <p:cNvSpPr txBox="1"/>
          <p:nvPr/>
        </p:nvSpPr>
        <p:spPr>
          <a:xfrm rot="5400000">
            <a:off x="8356032" y="1274739"/>
            <a:ext cx="94288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1DF34EA3-C361-F1EB-276A-E288A3469EB1}"/>
              </a:ext>
            </a:extLst>
          </p:cNvPr>
          <p:cNvSpPr txBox="1"/>
          <p:nvPr/>
        </p:nvSpPr>
        <p:spPr>
          <a:xfrm rot="5400000">
            <a:off x="8287102" y="2205227"/>
            <a:ext cx="1080745" cy="261610"/>
          </a:xfrm>
          <a:prstGeom prst="rect">
            <a:avLst/>
          </a:prstGeom>
          <a:noFill/>
        </p:spPr>
        <p:txBody>
          <a:bodyPr wrap="none" rtlCol="0">
            <a:spAutoFit/>
          </a:bodyPr>
          <a:lstStyle/>
          <a:p>
            <a:r>
              <a:rPr lang="en-SG" sz="1100" b="1" dirty="0">
                <a:solidFill>
                  <a:schemeClr val="bg1"/>
                </a:solidFill>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79E8DE10-FE9B-2F08-6037-D719FCF758CE}"/>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49CE078D-E5B9-12FF-B921-766DA80B16B0}"/>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851CEA15-B827-175E-EC54-93C53416F765}"/>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C7941C50-DCD0-7748-2B3C-96608B4BAE6F}"/>
              </a:ext>
            </a:extLst>
          </p:cNvPr>
          <p:cNvSpPr txBox="1"/>
          <p:nvPr/>
        </p:nvSpPr>
        <p:spPr>
          <a:xfrm>
            <a:off x="870708" y="937730"/>
            <a:ext cx="6500000"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Data parameters</a:t>
            </a:r>
          </a:p>
        </p:txBody>
      </p:sp>
      <p:graphicFrame>
        <p:nvGraphicFramePr>
          <p:cNvPr id="101" name="Editable project table 101"/>
          <p:cNvGraphicFramePr/>
          <p:nvPr/>
        </p:nvGraphicFramePr>
        <p:xfrm>
          <a:off x="594360" y="1481328"/>
          <a:ext cx="7406640" cy="2636331"/>
        </p:xfrm>
        <a:graphic>
          <a:graphicData uri="http://schemas.openxmlformats.org/drawingml/2006/table">
            <a:tbl>
              <a:tblPr firstRow="1"/>
              <a:tblGrid>
                <a:gridCol w="233172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tblGrid>
              <a:tr h="384048">
                <a:tc>
                  <a:txBody>
                    <a:bodyPr/>
                    <a:lstStyle/>
                    <a:p>
                      <a:pPr algn="l">
                        <a:lnSpc>
                          <a:spcPct val="105000"/>
                        </a:lnSpc>
                        <a:spcAft>
                          <a:spcPts val="0"/>
                        </a:spcAft>
                        <a:buNone/>
                      </a:pPr>
                      <a:r>
                        <a:rPr lang="en-SG" sz="1650" b="1">
                          <a:solidFill>
                            <a:srgbClr val="FFFFFF"/>
                          </a:solidFill>
                          <a:latin typeface="Times New Roman"/>
                          <a:ea typeface="Times New Roman"/>
                          <a:cs typeface="Times New Roman"/>
                        </a:rPr>
                        <a:t>Input group</a:t>
                      </a:r>
                      <a:endParaRPr lang="en-SG" sz="1650"/>
                    </a:p>
                  </a:txBody>
                  <a:tcPr anchor="ctr">
                    <a:lnL w="0">
                      <a:noFill/>
                    </a:lnL>
                    <a:lnR w="0">
                      <a:noFill/>
                    </a:lnR>
                    <a:lnT w="0">
                      <a:noFill/>
                    </a:lnT>
                    <a:lnB w="6350">
                      <a:solidFill>
                        <a:srgbClr val="CCD5E0"/>
                      </a:solidFill>
                    </a:lnB>
                    <a:solidFill>
                      <a:srgbClr val="181C62"/>
                    </a:solidFill>
                  </a:tcPr>
                </a:tc>
                <a:tc>
                  <a:txBody>
                    <a:bodyPr/>
                    <a:lstStyle/>
                    <a:p>
                      <a:pPr algn="l">
                        <a:lnSpc>
                          <a:spcPct val="105000"/>
                        </a:lnSpc>
                        <a:spcAft>
                          <a:spcPts val="0"/>
                        </a:spcAft>
                        <a:buNone/>
                      </a:pPr>
                      <a:r>
                        <a:rPr lang="en-SG" sz="1650" b="1">
                          <a:solidFill>
                            <a:srgbClr val="FFFFFF"/>
                          </a:solidFill>
                          <a:latin typeface="Times New Roman"/>
                          <a:ea typeface="Times New Roman"/>
                          <a:cs typeface="Times New Roman"/>
                        </a:rPr>
                        <a:t>Fields used by the model</a:t>
                      </a:r>
                      <a:endParaRPr lang="en-SG" sz="1650"/>
                    </a:p>
                  </a:txBody>
                  <a:tcPr anchor="ctr">
                    <a:lnL w="0">
                      <a:noFill/>
                    </a:lnL>
                    <a:lnR w="0">
                      <a:noFill/>
                    </a:lnR>
                    <a:lnT w="0">
                      <a:noFill/>
                    </a:lnT>
                    <a:lnB w="6350">
                      <a:solidFill>
                        <a:srgbClr val="CCD5E0"/>
                      </a:solidFill>
                    </a:lnB>
                    <a:solidFill>
                      <a:srgbClr val="181C62"/>
                    </a:solidFill>
                  </a:tcPr>
                </a:tc>
                <a:extLst>
                  <a:ext uri="{0D108BD9-81ED-4DB2-BD59-A6C34878D82A}">
                    <a16:rowId xmlns:a16="http://schemas.microsoft.com/office/drawing/2014/main" val="10000"/>
                  </a:ext>
                </a:extLst>
              </a:tr>
              <a:tr h="429768">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Education</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Qualification, stream, academic level, grade</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extLst>
                  <a:ext uri="{0D108BD9-81ED-4DB2-BD59-A6C34878D82A}">
                    <a16:rowId xmlns:a16="http://schemas.microsoft.com/office/drawing/2014/main" val="10001"/>
                  </a:ext>
                </a:extLst>
              </a:tr>
              <a:tr h="594360">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Skills</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Technical skills, soft skills, languages,</a:t>
                      </a:r>
                      <a:endParaRPr lang="en-SG" sz="1650"/>
                    </a:p>
                    <a:p>
                      <a:pPr algn="l">
                        <a:lnSpc>
                          <a:spcPct val="105000"/>
                        </a:lnSpc>
                        <a:spcAft>
                          <a:spcPts val="0"/>
                        </a:spcAft>
                        <a:buNone/>
                      </a:pPr>
                      <a:r>
                        <a:rPr lang="en-SG" sz="1650" b="0">
                          <a:solidFill>
                            <a:srgbClr val="000000"/>
                          </a:solidFill>
                          <a:latin typeface="Times New Roman"/>
                          <a:ea typeface="Times New Roman"/>
                          <a:cs typeface="Times New Roman"/>
                        </a:rPr>
                        <a:t>certifications, skills gained</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extLst>
                  <a:ext uri="{0D108BD9-81ED-4DB2-BD59-A6C34878D82A}">
                    <a16:rowId xmlns:a16="http://schemas.microsoft.com/office/drawing/2014/main" val="10002"/>
                  </a:ext>
                </a:extLst>
              </a:tr>
              <a:tr h="594360">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Interests and preferences</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Career interest, work style, work type,</a:t>
                      </a:r>
                      <a:endParaRPr lang="en-SG" sz="1650"/>
                    </a:p>
                    <a:p>
                      <a:pPr algn="l">
                        <a:lnSpc>
                          <a:spcPct val="105000"/>
                        </a:lnSpc>
                        <a:spcAft>
                          <a:spcPts val="0"/>
                        </a:spcAft>
                        <a:buNone/>
                      </a:pPr>
                      <a:r>
                        <a:rPr lang="en-SG" sz="1650" b="0">
                          <a:solidFill>
                            <a:srgbClr val="000000"/>
                          </a:solidFill>
                          <a:latin typeface="Times New Roman"/>
                          <a:ea typeface="Times New Roman"/>
                          <a:cs typeface="Times New Roman"/>
                        </a:rPr>
                        <a:t>willingness to relocate</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extLst>
                  <a:ext uri="{0D108BD9-81ED-4DB2-BD59-A6C34878D82A}">
                    <a16:rowId xmlns:a16="http://schemas.microsoft.com/office/drawing/2014/main" val="10003"/>
                  </a:ext>
                </a:extLst>
              </a:tr>
              <a:tr h="594360">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Personal and experience</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Age, gender, location, past jobs or internships,</a:t>
                      </a:r>
                      <a:endParaRPr lang="en-SG" sz="1650"/>
                    </a:p>
                    <a:p>
                      <a:pPr algn="l">
                        <a:lnSpc>
                          <a:spcPct val="105000"/>
                        </a:lnSpc>
                        <a:spcAft>
                          <a:spcPts val="0"/>
                        </a:spcAft>
                        <a:buNone/>
                      </a:pPr>
                      <a:r>
                        <a:rPr lang="en-SG" sz="1650" b="0">
                          <a:solidFill>
                            <a:srgbClr val="000000"/>
                          </a:solidFill>
                          <a:latin typeface="Times New Roman"/>
                          <a:ea typeface="Times New Roman"/>
                          <a:cs typeface="Times New Roman"/>
                        </a:rPr>
                        <a:t>achievements</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extLst>
                  <a:ext uri="{0D108BD9-81ED-4DB2-BD59-A6C34878D82A}">
                    <a16:rowId xmlns:a16="http://schemas.microsoft.com/office/drawing/2014/main" val="10004"/>
                  </a:ext>
                </a:extLst>
              </a:tr>
            </a:tbl>
          </a:graphicData>
        </a:graphic>
      </p:graphicFrame>
      <p:sp>
        <p:nvSpPr>
          <p:cNvPr id="102" name="Project content 102"/>
          <p:cNvSpPr txBox="1"/>
          <p:nvPr/>
        </p:nvSpPr>
        <p:spPr>
          <a:xfrm>
            <a:off x="594360" y="4215384"/>
            <a:ext cx="7406640" cy="320040"/>
          </a:xfrm>
          <a:prstGeom prst="rect">
            <a:avLst/>
          </a:prstGeom>
          <a:noFill/>
          <a:ln>
            <a:noFill/>
          </a:ln>
        </p:spPr>
        <p:txBody>
          <a:bodyPr wrap="square" lIns="0" tIns="0" rIns="0" bIns="0" anchor="t">
            <a:noAutofit/>
          </a:bodyPr>
          <a:lstStyle/>
          <a:p>
            <a:pPr algn="l">
              <a:lnSpc>
                <a:spcPct val="105000"/>
              </a:lnSpc>
              <a:spcAft>
                <a:spcPts val="0"/>
              </a:spcAft>
              <a:buNone/>
            </a:pPr>
            <a:r>
              <a:rPr lang="en-SG" sz="1700" b="1">
                <a:solidFill>
                  <a:srgbClr val="181C62"/>
                </a:solidFill>
                <a:latin typeface="Times New Roman"/>
                <a:ea typeface="Times New Roman"/>
                <a:cs typeface="Times New Roman"/>
              </a:rPr>
              <a:t>2 numeric fields: median fill and scaling</a:t>
            </a:r>
            <a:endParaRPr lang="en-SG" sz="1700"/>
          </a:p>
        </p:txBody>
      </p:sp>
      <p:sp>
        <p:nvSpPr>
          <p:cNvPr id="103" name="Project content 103"/>
          <p:cNvSpPr txBox="1"/>
          <p:nvPr/>
        </p:nvSpPr>
        <p:spPr>
          <a:xfrm>
            <a:off x="594360" y="4553712"/>
            <a:ext cx="7406640" cy="320040"/>
          </a:xfrm>
          <a:prstGeom prst="rect">
            <a:avLst/>
          </a:prstGeom>
          <a:noFill/>
          <a:ln>
            <a:noFill/>
          </a:ln>
        </p:spPr>
        <p:txBody>
          <a:bodyPr wrap="square" lIns="0" tIns="0" rIns="0" bIns="0" anchor="t">
            <a:noAutofit/>
          </a:bodyPr>
          <a:lstStyle/>
          <a:p>
            <a:pPr algn="l">
              <a:lnSpc>
                <a:spcPct val="105000"/>
              </a:lnSpc>
              <a:spcAft>
                <a:spcPts val="0"/>
              </a:spcAft>
              <a:buNone/>
            </a:pPr>
            <a:r>
              <a:rPr lang="en-SG" sz="1700" b="0">
                <a:solidFill>
                  <a:srgbClr val="000000"/>
                </a:solidFill>
                <a:latin typeface="Times New Roman"/>
                <a:ea typeface="Times New Roman"/>
                <a:cs typeface="Times New Roman"/>
              </a:rPr>
              <a:t>16 profile fields: split lists, preserve field names, encode missing values</a:t>
            </a:r>
            <a:endParaRPr lang="en-SG" sz="1700"/>
          </a:p>
        </p:txBody>
      </p:sp>
    </p:spTree>
    <p:extLst>
      <p:ext uri="{BB962C8B-B14F-4D97-AF65-F5344CB8AC3E}">
        <p14:creationId xmlns:p14="http://schemas.microsoft.com/office/powerpoint/2010/main" val="1211655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3CCBD-DFEF-52A7-56E7-2E2AA5B86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51561-66BA-CF4A-2E3E-7B845DB9285D}"/>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03 AI Application </a:t>
            </a:r>
          </a:p>
        </p:txBody>
      </p:sp>
      <p:sp>
        <p:nvSpPr>
          <p:cNvPr id="6" name="Slide Number Placeholder 5">
            <a:extLst>
              <a:ext uri="{FF2B5EF4-FFF2-40B4-BE49-F238E27FC236}">
                <a16:creationId xmlns:a16="http://schemas.microsoft.com/office/drawing/2014/main" id="{A864FC3C-1186-D51F-2B8E-D00EB6FC2980}"/>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11</a:t>
            </a:fld>
            <a:endParaRPr lang="en-US" dirty="0"/>
          </a:p>
        </p:txBody>
      </p:sp>
      <p:cxnSp>
        <p:nvCxnSpPr>
          <p:cNvPr id="28" name="Straight Connector 27">
            <a:extLst>
              <a:ext uri="{FF2B5EF4-FFF2-40B4-BE49-F238E27FC236}">
                <a16:creationId xmlns:a16="http://schemas.microsoft.com/office/drawing/2014/main" id="{0BA970B7-74B9-0E0C-8243-E5D8574F9621}"/>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702D9B95-1B84-39E7-8CB5-8F8A90660DED}"/>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0EA689CF-FF13-41DC-F407-58D8B69EB431}"/>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6C759E67-D2FC-C4C2-A9AA-25040CD996B9}"/>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DBD5ED28-B1C7-A365-F059-DF772F12272A}"/>
              </a:ext>
            </a:extLst>
          </p:cNvPr>
          <p:cNvSpPr txBox="1"/>
          <p:nvPr/>
        </p:nvSpPr>
        <p:spPr>
          <a:xfrm rot="5400000">
            <a:off x="8356032" y="1274739"/>
            <a:ext cx="94288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3131A017-4666-5E2B-A5B5-7D1518E6D368}"/>
              </a:ext>
            </a:extLst>
          </p:cNvPr>
          <p:cNvSpPr txBox="1"/>
          <p:nvPr/>
        </p:nvSpPr>
        <p:spPr>
          <a:xfrm rot="5400000">
            <a:off x="8287102" y="2205227"/>
            <a:ext cx="1080745" cy="261610"/>
          </a:xfrm>
          <a:prstGeom prst="rect">
            <a:avLst/>
          </a:prstGeom>
          <a:noFill/>
        </p:spPr>
        <p:txBody>
          <a:bodyPr wrap="none" rtlCol="0">
            <a:spAutoFit/>
          </a:bodyPr>
          <a:lstStyle/>
          <a:p>
            <a:r>
              <a:rPr lang="en-SG" sz="1100" b="1" dirty="0">
                <a:solidFill>
                  <a:schemeClr val="bg1"/>
                </a:solidFill>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D7EA36BA-52FB-7E1A-FE32-F408A841DFE0}"/>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F0BABE94-C8A6-3C7E-FDC5-793E0F235339}"/>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B3F305AA-DECE-E03B-9D9D-13A6AEE55024}"/>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F38D322E-6186-4C1F-B8CD-6723ACACE66C}"/>
              </a:ext>
            </a:extLst>
          </p:cNvPr>
          <p:cNvSpPr txBox="1"/>
          <p:nvPr/>
        </p:nvSpPr>
        <p:spPr>
          <a:xfrm>
            <a:off x="870708" y="937730"/>
            <a:ext cx="6500000"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Deep learning models</a:t>
            </a:r>
          </a:p>
        </p:txBody>
      </p:sp>
      <p:graphicFrame>
        <p:nvGraphicFramePr>
          <p:cNvPr id="101" name="Editable project table 101"/>
          <p:cNvGraphicFramePr/>
          <p:nvPr/>
        </p:nvGraphicFramePr>
        <p:xfrm>
          <a:off x="594360" y="1463040"/>
          <a:ext cx="7406640" cy="2926080"/>
        </p:xfrm>
        <a:graphic>
          <a:graphicData uri="http://schemas.openxmlformats.org/drawingml/2006/table">
            <a:tbl>
              <a:tblPr firstRow="1" bandRow="0"/>
              <a:tblGrid>
                <a:gridCol w="2148840"/>
                <a:gridCol w="5257800"/>
              </a:tblGrid>
              <a:tr h="365760">
                <a:tc>
                  <a:txBody>
                    <a:bodyPr wrap="square"/>
                    <a:lstStyle/>
                    <a:p>
                      <a:pPr algn="l">
                        <a:lnSpc>
                          <a:spcPct val="105000"/>
                        </a:lnSpc>
                        <a:spcAft>
                          <a:spcPts val="0"/>
                        </a:spcAft>
                        <a:buNone/>
                      </a:pPr>
                      <a:r>
                        <a:rPr lang="en-SG" sz="1700" b="1">
                          <a:solidFill>
                            <a:srgbClr val="FFFFFF"/>
                          </a:solidFill>
                          <a:latin typeface="Times New Roman"/>
                          <a:ea typeface="Times New Roman"/>
                          <a:cs typeface="Times New Roman"/>
                        </a:rPr>
                        <a:t>Network</a:t>
                      </a:r>
                      <a:endParaRPr lang="en-SG" sz="1700"/>
                    </a:p>
                  </a:txBody>
                  <a:tcPr marL="91440" marR="91440" marT="45720" marB="45720" anchor="ctr">
                    <a:lnL w="0">
                      <a:noFill/>
                    </a:lnL>
                    <a:lnR w="0">
                      <a:noFill/>
                    </a:lnR>
                    <a:lnT w="0">
                      <a:noFill/>
                    </a:lnT>
                    <a:lnB w="6350">
                      <a:solidFill>
                        <a:srgbClr val="CCD5E0"/>
                      </a:solidFill>
                    </a:lnB>
                    <a:solidFill>
                      <a:srgbClr val="181C62"/>
                    </a:solidFill>
                  </a:tcPr>
                </a:tc>
                <a:tc>
                  <a:txBody>
                    <a:bodyPr wrap="square"/>
                    <a:lstStyle/>
                    <a:p>
                      <a:pPr algn="l">
                        <a:lnSpc>
                          <a:spcPct val="105000"/>
                        </a:lnSpc>
                        <a:spcAft>
                          <a:spcPts val="0"/>
                        </a:spcAft>
                        <a:buNone/>
                      </a:pPr>
                      <a:r>
                        <a:rPr lang="en-SG" sz="1700" b="1">
                          <a:solidFill>
                            <a:srgbClr val="FFFFFF"/>
                          </a:solidFill>
                          <a:latin typeface="Times New Roman"/>
                          <a:ea typeface="Times New Roman"/>
                          <a:cs typeface="Times New Roman"/>
                        </a:rPr>
                        <a:t>Architecture tested</a:t>
                      </a:r>
                      <a:endParaRPr lang="en-SG" sz="1700"/>
                    </a:p>
                  </a:txBody>
                  <a:tcPr marL="91440" marR="91440" marT="45720" marB="45720" anchor="ctr">
                    <a:lnL w="0">
                      <a:noFill/>
                    </a:lnL>
                    <a:lnR w="0">
                      <a:noFill/>
                    </a:lnR>
                    <a:lnT w="0">
                      <a:noFill/>
                    </a:lnT>
                    <a:lnB w="6350">
                      <a:solidFill>
                        <a:srgbClr val="CCD5E0"/>
                      </a:solidFill>
                    </a:lnB>
                    <a:solidFill>
                      <a:srgbClr val="181C62"/>
                    </a:solidFill>
                  </a:tcPr>
                </a:tc>
              </a:tr>
              <a:tr h="640080">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Original MLP</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64 and 32 hidden neurons, ReLU</a:t>
                      </a:r>
                      <a:endParaRPr lang="en-SG" sz="1700"/>
                    </a:p>
                    <a:p>
                      <a:pPr algn="l">
                        <a:lnSpc>
                          <a:spcPct val="105000"/>
                        </a:lnSpc>
                        <a:spcAft>
                          <a:spcPts val="0"/>
                        </a:spcAft>
                        <a:buNone/>
                      </a:pPr>
                      <a:r>
                        <a:rPr lang="en-SG" sz="1700" b="0">
                          <a:solidFill>
                            <a:srgbClr val="000000"/>
                          </a:solidFill>
                          <a:latin typeface="Times New Roman"/>
                          <a:ea typeface="Times New Roman"/>
                          <a:cs typeface="Times New Roman"/>
                        </a:rPr>
                        <a:t>9,014 trainable parameters</a:t>
                      </a:r>
                      <a:endParaRPr lang="en-SG" sz="1700"/>
                    </a:p>
                  </a:txBody>
                  <a:tcPr marL="91440" marR="91440" marT="45720" marB="45720" anchor="ctr">
                    <a:lnL w="0">
                      <a:noFill/>
                    </a:lnL>
                    <a:lnR w="0">
                      <a:noFill/>
                    </a:lnR>
                    <a:lnT w="0">
                      <a:noFill/>
                    </a:lnT>
                    <a:lnB w="6350">
                      <a:solidFill>
                        <a:srgbClr val="CCD5E0"/>
                      </a:solidFill>
                    </a:lnB>
                    <a:solidFill>
                      <a:srgbClr val="FFFFFF"/>
                    </a:solidFill>
                  </a:tcPr>
                </a:tc>
              </a:tr>
              <a:tr h="640080">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Deep MLP</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3 or 5 hidden layers, GELU and LayerNorm</a:t>
                      </a:r>
                      <a:endParaRPr lang="en-SG" sz="1700"/>
                    </a:p>
                    <a:p>
                      <a:pPr algn="l">
                        <a:lnSpc>
                          <a:spcPct val="105000"/>
                        </a:lnSpc>
                        <a:spcAft>
                          <a:spcPts val="0"/>
                        </a:spcAft>
                        <a:buNone/>
                      </a:pPr>
                      <a:r>
                        <a:rPr lang="en-SG" sz="1700" b="0">
                          <a:solidFill>
                            <a:srgbClr val="000000"/>
                          </a:solidFill>
                          <a:latin typeface="Times New Roman"/>
                          <a:ea typeface="Times New Roman"/>
                          <a:cs typeface="Times New Roman"/>
                        </a:rPr>
                        <a:t>68,310–226,934 parameters</a:t>
                      </a:r>
                      <a:endParaRPr lang="en-SG" sz="1700"/>
                    </a:p>
                  </a:txBody>
                  <a:tcPr marL="91440" marR="91440" marT="45720" marB="45720" anchor="ctr">
                    <a:lnL w="0">
                      <a:noFill/>
                    </a:lnL>
                    <a:lnR w="0">
                      <a:noFill/>
                    </a:lnR>
                    <a:lnT w="0">
                      <a:noFill/>
                    </a:lnT>
                    <a:lnB w="6350">
                      <a:solidFill>
                        <a:srgbClr val="CCD5E0"/>
                      </a:solidFill>
                    </a:lnB>
                    <a:solidFill>
                      <a:srgbClr val="FFFFFF"/>
                    </a:solidFill>
                  </a:tcPr>
                </a:tc>
              </a:tr>
              <a:tr h="640080">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Residual network</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2–4 blocks with skip connections</a:t>
                      </a:r>
                      <a:endParaRPr lang="en-SG" sz="1700"/>
                    </a:p>
                    <a:p>
                      <a:pPr algn="l">
                        <a:lnSpc>
                          <a:spcPct val="105000"/>
                        </a:lnSpc>
                        <a:spcAft>
                          <a:spcPts val="0"/>
                        </a:spcAft>
                        <a:buNone/>
                      </a:pPr>
                      <a:r>
                        <a:rPr lang="en-SG" sz="1700" b="0">
                          <a:solidFill>
                            <a:srgbClr val="000000"/>
                          </a:solidFill>
                          <a:latin typeface="Times New Roman"/>
                          <a:ea typeface="Times New Roman"/>
                          <a:cs typeface="Times New Roman"/>
                        </a:rPr>
                        <a:t>147,862–821,270 parameters</a:t>
                      </a:r>
                      <a:endParaRPr lang="en-SG" sz="1700"/>
                    </a:p>
                  </a:txBody>
                  <a:tcPr marL="91440" marR="91440" marT="45720" marB="45720" anchor="ctr">
                    <a:lnL w="0">
                      <a:noFill/>
                    </a:lnL>
                    <a:lnR w="0">
                      <a:noFill/>
                    </a:lnR>
                    <a:lnT w="0">
                      <a:noFill/>
                    </a:lnT>
                    <a:lnB w="6350">
                      <a:solidFill>
                        <a:srgbClr val="CCD5E0"/>
                      </a:solidFill>
                    </a:lnB>
                    <a:solidFill>
                      <a:srgbClr val="FFFFFF"/>
                    </a:solidFill>
                  </a:tcPr>
                </a:tc>
              </a:tr>
              <a:tr h="640080">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Field Transformer</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18 field tokens, 4 attention heads, 2 or 4 blocks</a:t>
                      </a:r>
                      <a:endParaRPr lang="en-SG" sz="1700"/>
                    </a:p>
                    <a:p>
                      <a:pPr algn="l">
                        <a:lnSpc>
                          <a:spcPct val="105000"/>
                        </a:lnSpc>
                        <a:spcAft>
                          <a:spcPts val="0"/>
                        </a:spcAft>
                        <a:buNone/>
                      </a:pPr>
                      <a:r>
                        <a:rPr lang="en-SG" sz="1700" b="0">
                          <a:solidFill>
                            <a:srgbClr val="000000"/>
                          </a:solidFill>
                          <a:latin typeface="Times New Roman"/>
                          <a:ea typeface="Times New Roman"/>
                          <a:cs typeface="Times New Roman"/>
                        </a:rPr>
                        <a:t>29,878–108,886 parameters</a:t>
                      </a:r>
                      <a:endParaRPr lang="en-SG" sz="1700"/>
                    </a:p>
                  </a:txBody>
                  <a:tcPr marL="91440" marR="91440" marT="45720" marB="45720" anchor="ctr">
                    <a:lnL w="0">
                      <a:noFill/>
                    </a:lnL>
                    <a:lnR w="0">
                      <a:noFill/>
                    </a:lnR>
                    <a:lnT w="0">
                      <a:noFill/>
                    </a:lnT>
                    <a:lnB w="6350">
                      <a:solidFill>
                        <a:srgbClr val="CCD5E0"/>
                      </a:solidFill>
                    </a:lnB>
                    <a:solidFill>
                      <a:srgbClr val="FFFFFF"/>
                    </a:solidFill>
                  </a:tcPr>
                </a:tc>
              </a:tr>
            </a:tbl>
          </a:graphicData>
        </a:graphic>
      </p:graphicFrame>
      <p:sp>
        <p:nvSpPr>
          <p:cNvPr id="102" name="Project content 102"/>
          <p:cNvSpPr txBox="1"/>
          <p:nvPr/>
        </p:nvSpPr>
        <p:spPr>
          <a:xfrm>
            <a:off x="594360" y="4553712"/>
            <a:ext cx="7406640" cy="320040"/>
          </a:xfrm>
          <a:prstGeom prst="rect">
            <a:avLst/>
          </a:prstGeom>
          <a:noFill/>
          <a:ln>
            <a:noFill/>
          </a:ln>
        </p:spPr>
        <p:txBody>
          <a:bodyPr wrap="square" lIns="0" rIns="0" tIns="0" bIns="0" anchor="t">
            <a:noAutofit/>
          </a:bodyPr>
          <a:lstStyle/>
          <a:p>
            <a:pPr algn="l">
              <a:lnSpc>
                <a:spcPct val="105000"/>
              </a:lnSpc>
              <a:spcAft>
                <a:spcPts val="0"/>
              </a:spcAft>
              <a:buNone/>
            </a:pPr>
            <a:r>
              <a:rPr lang="en-SG" sz="1650" b="1">
                <a:solidFill>
                  <a:srgbClr val="181C62"/>
                </a:solidFill>
                <a:latin typeface="Times New Roman"/>
                <a:ea typeface="Times New Roman"/>
                <a:cs typeface="Times New Roman"/>
              </a:rPr>
              <a:t>96 encoded inputs and 22 career outputs. Reference: Logistic Regression.</a:t>
            </a:r>
            <a:endParaRPr lang="en-SG" sz="1650"/>
          </a:p>
        </p:txBody>
      </p:sp>
    </p:spTree>
    <p:extLst>
      <p:ext uri="{BB962C8B-B14F-4D97-AF65-F5344CB8AC3E}">
        <p14:creationId xmlns:p14="http://schemas.microsoft.com/office/powerpoint/2010/main" val="3833664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2225D-6047-29AB-5998-6B86B367D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5A0BF-2B84-8CFF-CBB7-DC926978A978}"/>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03 AI Application </a:t>
            </a:r>
          </a:p>
        </p:txBody>
      </p:sp>
      <p:sp>
        <p:nvSpPr>
          <p:cNvPr id="6" name="Slide Number Placeholder 5">
            <a:extLst>
              <a:ext uri="{FF2B5EF4-FFF2-40B4-BE49-F238E27FC236}">
                <a16:creationId xmlns:a16="http://schemas.microsoft.com/office/drawing/2014/main" id="{253703FC-8D08-CDEA-0E7C-0EACE28E88D3}"/>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12</a:t>
            </a:fld>
            <a:endParaRPr lang="en-US" dirty="0"/>
          </a:p>
        </p:txBody>
      </p:sp>
      <p:cxnSp>
        <p:nvCxnSpPr>
          <p:cNvPr id="28" name="Straight Connector 27">
            <a:extLst>
              <a:ext uri="{FF2B5EF4-FFF2-40B4-BE49-F238E27FC236}">
                <a16:creationId xmlns:a16="http://schemas.microsoft.com/office/drawing/2014/main" id="{2FBBF38C-951A-E4B7-3783-A279E46BA5D5}"/>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C45697B2-C90F-9066-D1B7-989CF25D5FE3}"/>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66CB294B-3264-9096-334F-3EBDCB55E57E}"/>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E0E008A0-D52C-BF35-EF13-081021D2FB22}"/>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32039CD6-274D-8135-673B-26A04AE1C5F8}"/>
              </a:ext>
            </a:extLst>
          </p:cNvPr>
          <p:cNvSpPr txBox="1"/>
          <p:nvPr/>
        </p:nvSpPr>
        <p:spPr>
          <a:xfrm rot="5400000">
            <a:off x="8356032" y="1274739"/>
            <a:ext cx="94288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EF03D6BD-FC2C-1F2D-6716-8E111EE368E8}"/>
              </a:ext>
            </a:extLst>
          </p:cNvPr>
          <p:cNvSpPr txBox="1"/>
          <p:nvPr/>
        </p:nvSpPr>
        <p:spPr>
          <a:xfrm rot="5400000">
            <a:off x="8287102" y="2205227"/>
            <a:ext cx="1080745" cy="261610"/>
          </a:xfrm>
          <a:prstGeom prst="rect">
            <a:avLst/>
          </a:prstGeom>
          <a:noFill/>
        </p:spPr>
        <p:txBody>
          <a:bodyPr wrap="none" rtlCol="0">
            <a:spAutoFit/>
          </a:bodyPr>
          <a:lstStyle/>
          <a:p>
            <a:r>
              <a:rPr lang="en-SG" sz="1100" b="1" dirty="0">
                <a:solidFill>
                  <a:schemeClr val="bg1"/>
                </a:solidFill>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EA7159A7-2980-1C5C-A36C-46E66BC9E6DD}"/>
              </a:ext>
            </a:extLst>
          </p:cNvPr>
          <p:cNvSpPr txBox="1"/>
          <p:nvPr/>
        </p:nvSpPr>
        <p:spPr>
          <a:xfrm rot="5400000">
            <a:off x="8523546" y="2952171"/>
            <a:ext cx="607859"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58FB5C2C-5C22-A92B-F77B-1189F648E37D}"/>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0FBAA057-D595-210D-6A6A-87751E409B08}"/>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9948C935-4D1C-A1A4-C8BE-5AEC59739CD7}"/>
              </a:ext>
            </a:extLst>
          </p:cNvPr>
          <p:cNvSpPr txBox="1"/>
          <p:nvPr/>
        </p:nvSpPr>
        <p:spPr>
          <a:xfrm>
            <a:off x="870708" y="937730"/>
            <a:ext cx="6500000"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Training and validation</a:t>
            </a:r>
          </a:p>
        </p:txBody>
      </p:sp>
      <p:graphicFrame>
        <p:nvGraphicFramePr>
          <p:cNvPr id="101" name="Editable project table 101"/>
          <p:cNvGraphicFramePr/>
          <p:nvPr/>
        </p:nvGraphicFramePr>
        <p:xfrm>
          <a:off x="594360" y="1463040"/>
          <a:ext cx="7406640" cy="2926080"/>
        </p:xfrm>
        <a:graphic>
          <a:graphicData uri="http://schemas.openxmlformats.org/drawingml/2006/table">
            <a:tbl>
              <a:tblPr firstRow="1" bandRow="0"/>
              <a:tblGrid>
                <a:gridCol w="2148840"/>
                <a:gridCol w="5257800"/>
              </a:tblGrid>
              <a:tr h="365760">
                <a:tc>
                  <a:txBody>
                    <a:bodyPr wrap="square"/>
                    <a:lstStyle/>
                    <a:p>
                      <a:pPr algn="l">
                        <a:lnSpc>
                          <a:spcPct val="105000"/>
                        </a:lnSpc>
                        <a:spcAft>
                          <a:spcPts val="0"/>
                        </a:spcAft>
                        <a:buNone/>
                      </a:pPr>
                      <a:r>
                        <a:rPr lang="en-SG" sz="1700" b="1">
                          <a:solidFill>
                            <a:srgbClr val="FFFFFF"/>
                          </a:solidFill>
                          <a:latin typeface="Times New Roman"/>
                          <a:ea typeface="Times New Roman"/>
                          <a:cs typeface="Times New Roman"/>
                        </a:rPr>
                        <a:t>Search component</a:t>
                      </a:r>
                      <a:endParaRPr lang="en-SG" sz="1700"/>
                    </a:p>
                  </a:txBody>
                  <a:tcPr marL="91440" marR="91440" marT="45720" marB="45720" anchor="ctr">
                    <a:lnL w="0">
                      <a:noFill/>
                    </a:lnL>
                    <a:lnR w="0">
                      <a:noFill/>
                    </a:lnR>
                    <a:lnT w="0">
                      <a:noFill/>
                    </a:lnT>
                    <a:lnB w="6350">
                      <a:solidFill>
                        <a:srgbClr val="CCD5E0"/>
                      </a:solidFill>
                    </a:lnB>
                    <a:solidFill>
                      <a:srgbClr val="181C62"/>
                    </a:solidFill>
                  </a:tcPr>
                </a:tc>
                <a:tc>
                  <a:txBody>
                    <a:bodyPr wrap="square"/>
                    <a:lstStyle/>
                    <a:p>
                      <a:pPr algn="l">
                        <a:lnSpc>
                          <a:spcPct val="105000"/>
                        </a:lnSpc>
                        <a:spcAft>
                          <a:spcPts val="0"/>
                        </a:spcAft>
                        <a:buNone/>
                      </a:pPr>
                      <a:r>
                        <a:rPr lang="en-SG" sz="1700" b="1">
                          <a:solidFill>
                            <a:srgbClr val="FFFFFF"/>
                          </a:solidFill>
                          <a:latin typeface="Times New Roman"/>
                          <a:ea typeface="Times New Roman"/>
                          <a:cs typeface="Times New Roman"/>
                        </a:rPr>
                        <a:t>Settings</a:t>
                      </a:r>
                      <a:endParaRPr lang="en-SG" sz="1700"/>
                    </a:p>
                  </a:txBody>
                  <a:tcPr marL="91440" marR="91440" marT="45720" marB="45720" anchor="ctr">
                    <a:lnL w="0">
                      <a:noFill/>
                    </a:lnL>
                    <a:lnR w="0">
                      <a:noFill/>
                    </a:lnR>
                    <a:lnT w="0">
                      <a:noFill/>
                    </a:lnT>
                    <a:lnB w="6350">
                      <a:solidFill>
                        <a:srgbClr val="CCD5E0"/>
                      </a:solidFill>
                    </a:lnB>
                    <a:solidFill>
                      <a:srgbClr val="181C62"/>
                    </a:solidFill>
                  </a:tcPr>
                </a:tc>
              </a:tr>
              <a:tr h="640080">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Configurations</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18 configurations across 5 folds (90 trials)</a:t>
                      </a:r>
                      <a:endParaRPr lang="en-SG" sz="1700"/>
                    </a:p>
                    <a:p>
                      <a:pPr algn="l">
                        <a:lnSpc>
                          <a:spcPct val="105000"/>
                        </a:lnSpc>
                        <a:spcAft>
                          <a:spcPts val="0"/>
                        </a:spcAft>
                        <a:buNone/>
                      </a:pPr>
                      <a:r>
                        <a:rPr lang="en-SG" sz="1700" b="0">
                          <a:solidFill>
                            <a:srgbClr val="000000"/>
                          </a:solidFill>
                          <a:latin typeface="Times New Roman"/>
                          <a:ea typeface="Times New Roman"/>
                          <a:cs typeface="Times New Roman"/>
                        </a:rPr>
                        <a:t>AdamW optimiser, batches of 256 or 512</a:t>
                      </a:r>
                      <a:endParaRPr lang="en-SG" sz="1700"/>
                    </a:p>
                  </a:txBody>
                  <a:tcPr marL="91440" marR="91440" marT="45720" marB="45720" anchor="ctr">
                    <a:lnL w="0">
                      <a:noFill/>
                    </a:lnL>
                    <a:lnR w="0">
                      <a:noFill/>
                    </a:lnR>
                    <a:lnT w="0">
                      <a:noFill/>
                    </a:lnT>
                    <a:lnB w="6350">
                      <a:solidFill>
                        <a:srgbClr val="CCD5E0"/>
                      </a:solidFill>
                    </a:lnB>
                    <a:solidFill>
                      <a:srgbClr val="FFFFFF"/>
                    </a:solidFill>
                  </a:tcPr>
                </a:tc>
              </a:tr>
              <a:tr h="640080">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Learning rates</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0.0003, 0.001 and 0.003</a:t>
                      </a:r>
                      <a:endParaRPr lang="en-SG" sz="1700"/>
                    </a:p>
                    <a:p>
                      <a:pPr algn="l">
                        <a:lnSpc>
                          <a:spcPct val="105000"/>
                        </a:lnSpc>
                        <a:spcAft>
                          <a:spcPts val="0"/>
                        </a:spcAft>
                        <a:buNone/>
                      </a:pPr>
                      <a:r>
                        <a:rPr lang="en-SG" sz="1700" b="0">
                          <a:solidFill>
                            <a:srgbClr val="000000"/>
                          </a:solidFill>
                          <a:latin typeface="Times New Roman"/>
                          <a:ea typeface="Times New Roman"/>
                          <a:cs typeface="Times New Roman"/>
                        </a:rPr>
                        <a:t>Constant, plateau reduction or cosine decay</a:t>
                      </a:r>
                      <a:endParaRPr lang="en-SG" sz="1700"/>
                    </a:p>
                  </a:txBody>
                  <a:tcPr marL="91440" marR="91440" marT="45720" marB="45720" anchor="ctr">
                    <a:lnL w="0">
                      <a:noFill/>
                    </a:lnL>
                    <a:lnR w="0">
                      <a:noFill/>
                    </a:lnR>
                    <a:lnT w="0">
                      <a:noFill/>
                    </a:lnT>
                    <a:lnB w="6350">
                      <a:solidFill>
                        <a:srgbClr val="CCD5E0"/>
                      </a:solidFill>
                    </a:lnB>
                    <a:solidFill>
                      <a:srgbClr val="FFFFFF"/>
                    </a:solidFill>
                  </a:tcPr>
                </a:tc>
              </a:tr>
              <a:tr h="640080">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Regularisation</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Dropout 10–30%, weight decay 0.001–0.1</a:t>
                      </a:r>
                      <a:endParaRPr lang="en-SG" sz="1700"/>
                    </a:p>
                    <a:p>
                      <a:pPr algn="l">
                        <a:lnSpc>
                          <a:spcPct val="105000"/>
                        </a:lnSpc>
                        <a:spcAft>
                          <a:spcPts val="0"/>
                        </a:spcAft>
                        <a:buNone/>
                      </a:pPr>
                      <a:r>
                        <a:rPr lang="en-SG" sz="1700" b="0">
                          <a:solidFill>
                            <a:srgbClr val="000000"/>
                          </a:solidFill>
                          <a:latin typeface="Times New Roman"/>
                          <a:ea typeface="Times New Roman"/>
                          <a:cs typeface="Times New Roman"/>
                        </a:rPr>
                        <a:t>Binary or TF-IDF input encoding</a:t>
                      </a:r>
                      <a:endParaRPr lang="en-SG" sz="1700"/>
                    </a:p>
                  </a:txBody>
                  <a:tcPr marL="91440" marR="91440" marT="45720" marB="45720" anchor="ctr">
                    <a:lnL w="0">
                      <a:noFill/>
                    </a:lnL>
                    <a:lnR w="0">
                      <a:noFill/>
                    </a:lnR>
                    <a:lnT w="0">
                      <a:noFill/>
                    </a:lnT>
                    <a:lnB w="6350">
                      <a:solidFill>
                        <a:srgbClr val="CCD5E0"/>
                      </a:solidFill>
                    </a:lnB>
                    <a:solidFill>
                      <a:srgbClr val="FFFFFF"/>
                    </a:solidFill>
                  </a:tcPr>
                </a:tc>
              </a:tr>
              <a:tr h="640080">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Validation per fold</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9,600 training and 2,400 validation profiles</a:t>
                      </a:r>
                      <a:endParaRPr lang="en-SG" sz="1700"/>
                    </a:p>
                    <a:p>
                      <a:pPr algn="l">
                        <a:lnSpc>
                          <a:spcPct val="105000"/>
                        </a:lnSpc>
                        <a:spcAft>
                          <a:spcPts val="0"/>
                        </a:spcAft>
                        <a:buNone/>
                      </a:pPr>
                      <a:r>
                        <a:rPr lang="en-SG" sz="1700" b="0">
                          <a:solidFill>
                            <a:srgbClr val="000000"/>
                          </a:solidFill>
                          <a:latin typeface="Times New Roman"/>
                          <a:ea typeface="Times New Roman"/>
                          <a:cs typeface="Times New Roman"/>
                        </a:rPr>
                        <a:t>3,000 separate test profiles</a:t>
                      </a:r>
                      <a:endParaRPr lang="en-SG" sz="1700"/>
                    </a:p>
                  </a:txBody>
                  <a:tcPr marL="91440" marR="91440" marT="45720" marB="45720" anchor="ctr">
                    <a:lnL w="0">
                      <a:noFill/>
                    </a:lnL>
                    <a:lnR w="0">
                      <a:noFill/>
                    </a:lnR>
                    <a:lnT w="0">
                      <a:noFill/>
                    </a:lnT>
                    <a:lnB w="6350">
                      <a:solidFill>
                        <a:srgbClr val="CCD5E0"/>
                      </a:solidFill>
                    </a:lnB>
                    <a:solidFill>
                      <a:srgbClr val="FFFFFF"/>
                    </a:solidFill>
                  </a:tcPr>
                </a:tc>
              </a:tr>
            </a:tbl>
          </a:graphicData>
        </a:graphic>
      </p:graphicFrame>
      <p:sp>
        <p:nvSpPr>
          <p:cNvPr id="102" name="Project content 102"/>
          <p:cNvSpPr txBox="1"/>
          <p:nvPr/>
        </p:nvSpPr>
        <p:spPr>
          <a:xfrm>
            <a:off x="594360" y="4553712"/>
            <a:ext cx="7406640" cy="310896"/>
          </a:xfrm>
          <a:prstGeom prst="rect">
            <a:avLst/>
          </a:prstGeom>
          <a:noFill/>
          <a:ln>
            <a:noFill/>
          </a:ln>
        </p:spPr>
        <p:txBody>
          <a:bodyPr wrap="square" lIns="0" rIns="0" tIns="0" bIns="0" anchor="t">
            <a:noAutofit/>
          </a:bodyPr>
          <a:lstStyle/>
          <a:p>
            <a:pPr algn="l">
              <a:lnSpc>
                <a:spcPct val="105000"/>
              </a:lnSpc>
              <a:spcAft>
                <a:spcPts val="0"/>
              </a:spcAft>
              <a:buNone/>
            </a:pPr>
            <a:r>
              <a:rPr lang="en-SG" sz="1600" b="1">
                <a:solidFill>
                  <a:srgbClr val="181C62"/>
                </a:solidFill>
                <a:latin typeface="Times New Roman"/>
                <a:ea typeface="Times New Roman"/>
                <a:cs typeface="Times New Roman"/>
              </a:rPr>
              <a:t>Early stopping: patience 12, limit 60 epochs. Trials ran for 13–46 epochs.</a:t>
            </a:r>
            <a:endParaRPr lang="en-SG" sz="1600"/>
          </a:p>
        </p:txBody>
      </p:sp>
    </p:spTree>
    <p:extLst>
      <p:ext uri="{BB962C8B-B14F-4D97-AF65-F5344CB8AC3E}">
        <p14:creationId xmlns:p14="http://schemas.microsoft.com/office/powerpoint/2010/main" val="999709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34E28-7838-E2DA-F1DA-A3A64C743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5961F-5949-AE6D-5FA8-49FCAD8CCA84}"/>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04 Results </a:t>
            </a:r>
          </a:p>
        </p:txBody>
      </p:sp>
      <p:sp>
        <p:nvSpPr>
          <p:cNvPr id="6" name="Slide Number Placeholder 5">
            <a:extLst>
              <a:ext uri="{FF2B5EF4-FFF2-40B4-BE49-F238E27FC236}">
                <a16:creationId xmlns:a16="http://schemas.microsoft.com/office/drawing/2014/main" id="{3832C804-7856-BBFE-3EDE-9559B2FE2254}"/>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13</a:t>
            </a:fld>
            <a:endParaRPr lang="en-US" dirty="0"/>
          </a:p>
        </p:txBody>
      </p:sp>
      <p:cxnSp>
        <p:nvCxnSpPr>
          <p:cNvPr id="28" name="Straight Connector 27">
            <a:extLst>
              <a:ext uri="{FF2B5EF4-FFF2-40B4-BE49-F238E27FC236}">
                <a16:creationId xmlns:a16="http://schemas.microsoft.com/office/drawing/2014/main" id="{663C28E0-5B15-9EDD-EB0F-9C5F1403FECC}"/>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69F0D9CF-AF18-59F7-FD6B-080B63C42DCF}"/>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7A1FA3E3-D6D4-5D66-A02E-B14A629A1A36}"/>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6F69E0F-CC99-76BC-7F92-41BD68975DA2}"/>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BC821F48-F98D-CE27-00BF-D75F10D5A025}"/>
              </a:ext>
            </a:extLst>
          </p:cNvPr>
          <p:cNvSpPr txBox="1"/>
          <p:nvPr/>
        </p:nvSpPr>
        <p:spPr>
          <a:xfrm rot="5400000">
            <a:off x="8356032" y="1274739"/>
            <a:ext cx="94288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F4E576D5-95BA-9591-2884-D565C84E4742}"/>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881CC73C-7271-8629-219E-ABD5801EA961}"/>
              </a:ext>
            </a:extLst>
          </p:cNvPr>
          <p:cNvSpPr txBox="1"/>
          <p:nvPr/>
        </p:nvSpPr>
        <p:spPr>
          <a:xfrm rot="5400000">
            <a:off x="8496296" y="2944477"/>
            <a:ext cx="662361"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590DB634-6A9F-2495-CBFF-638DAC0C78D0}"/>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5AE4235B-3229-99C8-935D-5F52368E43FB}"/>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CD8D0D39-468E-6229-0CEA-F64D9391CEBD}"/>
              </a:ext>
            </a:extLst>
          </p:cNvPr>
          <p:cNvSpPr txBox="1"/>
          <p:nvPr/>
        </p:nvSpPr>
        <p:spPr>
          <a:xfrm>
            <a:off x="870708" y="937730"/>
            <a:ext cx="6500000"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Machine learning vs deep learning</a:t>
            </a:r>
          </a:p>
        </p:txBody>
      </p:sp>
      <p:sp>
        <p:nvSpPr>
          <p:cNvPr id="101" name="Project content 101"/>
          <p:cNvSpPr txBox="1"/>
          <p:nvPr/>
        </p:nvSpPr>
        <p:spPr>
          <a:xfrm>
            <a:off x="594360" y="1353312"/>
            <a:ext cx="7406640" cy="292608"/>
          </a:xfrm>
          <a:prstGeom prst="rect">
            <a:avLst/>
          </a:prstGeom>
          <a:noFill/>
          <a:ln>
            <a:noFill/>
          </a:ln>
        </p:spPr>
        <p:txBody>
          <a:bodyPr wrap="square" lIns="0" rIns="0" tIns="0" bIns="0" anchor="t">
            <a:noAutofit/>
          </a:bodyPr>
          <a:lstStyle/>
          <a:p>
            <a:pPr algn="l">
              <a:lnSpc>
                <a:spcPct val="105000"/>
              </a:lnSpc>
              <a:spcAft>
                <a:spcPts val="0"/>
              </a:spcAft>
              <a:buNone/>
            </a:pPr>
            <a:r>
              <a:rPr lang="en-SG" sz="1550" b="0">
                <a:solidFill>
                  <a:srgbClr val="444444"/>
                </a:solidFill>
                <a:latin typeface="Times New Roman"/>
                <a:ea typeface="Times New Roman"/>
                <a:cs typeface="Times New Roman"/>
              </a:rPr>
              <a:t>Five-fold means. Neural networks use tuning within each training fold.</a:t>
            </a:r>
            <a:endParaRPr lang="en-SG" sz="1550"/>
          </a:p>
        </p:txBody>
      </p:sp>
      <p:graphicFrame>
        <p:nvGraphicFramePr>
          <p:cNvPr id="102" name="Editable project table 102"/>
          <p:cNvGraphicFramePr/>
          <p:nvPr/>
        </p:nvGraphicFramePr>
        <p:xfrm>
          <a:off x="594360" y="1755648"/>
          <a:ext cx="7406640" cy="2414016"/>
        </p:xfrm>
        <a:graphic>
          <a:graphicData uri="http://schemas.openxmlformats.org/drawingml/2006/table">
            <a:tbl>
              <a:tblPr firstRow="1" bandRow="0"/>
              <a:tblGrid>
                <a:gridCol w="3108960"/>
                <a:gridCol w="1371600"/>
                <a:gridCol w="1463040"/>
                <a:gridCol w="1463040"/>
              </a:tblGrid>
              <a:tr h="402336">
                <a:tc>
                  <a:txBody>
                    <a:bodyPr wrap="square"/>
                    <a:lstStyle/>
                    <a:p>
                      <a:pPr algn="l">
                        <a:lnSpc>
                          <a:spcPct val="105000"/>
                        </a:lnSpc>
                        <a:spcAft>
                          <a:spcPts val="0"/>
                        </a:spcAft>
                        <a:buNone/>
                      </a:pPr>
                      <a:r>
                        <a:rPr lang="en-SG" sz="1700" b="1">
                          <a:solidFill>
                            <a:srgbClr val="FFFFFF"/>
                          </a:solidFill>
                          <a:latin typeface="Times New Roman"/>
                          <a:ea typeface="Times New Roman"/>
                          <a:cs typeface="Times New Roman"/>
                        </a:rPr>
                        <a:t>Model</a:t>
                      </a:r>
                      <a:endParaRPr lang="en-SG" sz="1700"/>
                    </a:p>
                  </a:txBody>
                  <a:tcPr marL="91440" marR="91440" marT="45720" marB="45720" anchor="ctr">
                    <a:lnL w="0">
                      <a:noFill/>
                    </a:lnL>
                    <a:lnR w="0">
                      <a:noFill/>
                    </a:lnR>
                    <a:lnT w="0">
                      <a:noFill/>
                    </a:lnT>
                    <a:lnB w="6350">
                      <a:solidFill>
                        <a:srgbClr val="CCD5E0"/>
                      </a:solidFill>
                    </a:lnB>
                    <a:solidFill>
                      <a:srgbClr val="181C62"/>
                    </a:solidFill>
                  </a:tcPr>
                </a:tc>
                <a:tc>
                  <a:txBody>
                    <a:bodyPr wrap="square"/>
                    <a:lstStyle/>
                    <a:p>
                      <a:pPr algn="ctr">
                        <a:lnSpc>
                          <a:spcPct val="105000"/>
                        </a:lnSpc>
                        <a:spcAft>
                          <a:spcPts val="0"/>
                        </a:spcAft>
                        <a:buNone/>
                      </a:pPr>
                      <a:r>
                        <a:rPr lang="en-SG" sz="1700" b="1">
                          <a:solidFill>
                            <a:srgbClr val="FFFFFF"/>
                          </a:solidFill>
                          <a:latin typeface="Times New Roman"/>
                          <a:ea typeface="Times New Roman"/>
                          <a:cs typeface="Times New Roman"/>
                        </a:rPr>
                        <a:t>Top-1</a:t>
                      </a:r>
                      <a:endParaRPr lang="en-SG" sz="1700"/>
                    </a:p>
                  </a:txBody>
                  <a:tcPr marL="91440" marR="91440" marT="45720" marB="45720" anchor="ctr">
                    <a:lnL w="0">
                      <a:noFill/>
                    </a:lnL>
                    <a:lnR w="0">
                      <a:noFill/>
                    </a:lnR>
                    <a:lnT w="0">
                      <a:noFill/>
                    </a:lnT>
                    <a:lnB w="6350">
                      <a:solidFill>
                        <a:srgbClr val="CCD5E0"/>
                      </a:solidFill>
                    </a:lnB>
                    <a:solidFill>
                      <a:srgbClr val="181C62"/>
                    </a:solidFill>
                  </a:tcPr>
                </a:tc>
                <a:tc>
                  <a:txBody>
                    <a:bodyPr wrap="square"/>
                    <a:lstStyle/>
                    <a:p>
                      <a:pPr algn="ctr">
                        <a:lnSpc>
                          <a:spcPct val="105000"/>
                        </a:lnSpc>
                        <a:spcAft>
                          <a:spcPts val="0"/>
                        </a:spcAft>
                        <a:buNone/>
                      </a:pPr>
                      <a:r>
                        <a:rPr lang="en-SG" sz="1700" b="1">
                          <a:solidFill>
                            <a:srgbClr val="FFFFFF"/>
                          </a:solidFill>
                          <a:latin typeface="Times New Roman"/>
                          <a:ea typeface="Times New Roman"/>
                          <a:cs typeface="Times New Roman"/>
                        </a:rPr>
                        <a:t>Macro-F1</a:t>
                      </a:r>
                      <a:endParaRPr lang="en-SG" sz="1700"/>
                    </a:p>
                  </a:txBody>
                  <a:tcPr marL="91440" marR="91440" marT="45720" marB="45720" anchor="ctr">
                    <a:lnL w="0">
                      <a:noFill/>
                    </a:lnL>
                    <a:lnR w="0">
                      <a:noFill/>
                    </a:lnR>
                    <a:lnT w="0">
                      <a:noFill/>
                    </a:lnT>
                    <a:lnB w="6350">
                      <a:solidFill>
                        <a:srgbClr val="CCD5E0"/>
                      </a:solidFill>
                    </a:lnB>
                    <a:solidFill>
                      <a:srgbClr val="181C62"/>
                    </a:solidFill>
                  </a:tcPr>
                </a:tc>
                <a:tc>
                  <a:txBody>
                    <a:bodyPr wrap="square"/>
                    <a:lstStyle/>
                    <a:p>
                      <a:pPr algn="ctr">
                        <a:lnSpc>
                          <a:spcPct val="105000"/>
                        </a:lnSpc>
                        <a:spcAft>
                          <a:spcPts val="0"/>
                        </a:spcAft>
                        <a:buNone/>
                      </a:pPr>
                      <a:r>
                        <a:rPr lang="en-SG" sz="1700" b="1">
                          <a:solidFill>
                            <a:srgbClr val="FFFFFF"/>
                          </a:solidFill>
                          <a:latin typeface="Times New Roman"/>
                          <a:ea typeface="Times New Roman"/>
                          <a:cs typeface="Times New Roman"/>
                        </a:rPr>
                        <a:t>Top-3</a:t>
                      </a:r>
                      <a:endParaRPr lang="en-SG" sz="1700"/>
                    </a:p>
                  </a:txBody>
                  <a:tcPr marL="91440" marR="91440" marT="45720" marB="45720" anchor="ctr">
                    <a:lnL w="0">
                      <a:noFill/>
                    </a:lnL>
                    <a:lnR w="0">
                      <a:noFill/>
                    </a:lnR>
                    <a:lnT w="0">
                      <a:noFill/>
                    </a:lnT>
                    <a:lnB w="6350">
                      <a:solidFill>
                        <a:srgbClr val="CCD5E0"/>
                      </a:solidFill>
                    </a:lnB>
                    <a:solidFill>
                      <a:srgbClr val="181C62"/>
                    </a:solidFill>
                  </a:tcPr>
                </a:tc>
              </a:tr>
              <a:tr h="402336">
                <a:tc>
                  <a:txBody>
                    <a:bodyPr wrap="square"/>
                    <a:lstStyle/>
                    <a:p>
                      <a:pPr algn="l">
                        <a:lnSpc>
                          <a:spcPct val="105000"/>
                        </a:lnSpc>
                        <a:spcAft>
                          <a:spcPts val="0"/>
                        </a:spcAft>
                        <a:buNone/>
                      </a:pPr>
                      <a:r>
                        <a:rPr lang="en-SG" sz="1700" b="1">
                          <a:solidFill>
                            <a:srgbClr val="000000"/>
                          </a:solidFill>
                          <a:latin typeface="Times New Roman"/>
                          <a:ea typeface="Times New Roman"/>
                          <a:cs typeface="Times New Roman"/>
                        </a:rPr>
                        <a:t>Logistic Regression</a:t>
                      </a:r>
                      <a:endParaRPr lang="en-SG" sz="1700"/>
                    </a:p>
                  </a:txBody>
                  <a:tcPr marL="91440" marR="91440" marT="45720" marB="45720" anchor="ctr">
                    <a:lnL w="0">
                      <a:noFill/>
                    </a:lnL>
                    <a:lnR w="0">
                      <a:noFill/>
                    </a:lnR>
                    <a:lnT w="0">
                      <a:noFill/>
                    </a:lnT>
                    <a:lnB w="6350">
                      <a:solidFill>
                        <a:srgbClr val="CCD5E0"/>
                      </a:solidFill>
                    </a:lnB>
                    <a:solidFill>
                      <a:srgbClr val="EEF3FA"/>
                    </a:solidFill>
                  </a:tcPr>
                </a:tc>
                <a:tc>
                  <a:txBody>
                    <a:bodyPr wrap="square"/>
                    <a:lstStyle/>
                    <a:p>
                      <a:pPr algn="ctr">
                        <a:lnSpc>
                          <a:spcPct val="105000"/>
                        </a:lnSpc>
                        <a:spcAft>
                          <a:spcPts val="0"/>
                        </a:spcAft>
                        <a:buNone/>
                      </a:pPr>
                      <a:r>
                        <a:rPr lang="en-SG" sz="1700" b="1">
                          <a:solidFill>
                            <a:srgbClr val="000000"/>
                          </a:solidFill>
                          <a:latin typeface="Times New Roman"/>
                          <a:ea typeface="Times New Roman"/>
                          <a:cs typeface="Times New Roman"/>
                        </a:rPr>
                        <a:t>32.82%</a:t>
                      </a:r>
                      <a:endParaRPr lang="en-SG" sz="1700"/>
                    </a:p>
                  </a:txBody>
                  <a:tcPr marL="91440" marR="91440" marT="45720" marB="45720" anchor="ctr">
                    <a:lnL w="0">
                      <a:noFill/>
                    </a:lnL>
                    <a:lnR w="0">
                      <a:noFill/>
                    </a:lnR>
                    <a:lnT w="0">
                      <a:noFill/>
                    </a:lnT>
                    <a:lnB w="6350">
                      <a:solidFill>
                        <a:srgbClr val="CCD5E0"/>
                      </a:solidFill>
                    </a:lnB>
                    <a:solidFill>
                      <a:srgbClr val="EEF3FA"/>
                    </a:solidFill>
                  </a:tcPr>
                </a:tc>
                <a:tc>
                  <a:txBody>
                    <a:bodyPr wrap="square"/>
                    <a:lstStyle/>
                    <a:p>
                      <a:pPr algn="ctr">
                        <a:lnSpc>
                          <a:spcPct val="105000"/>
                        </a:lnSpc>
                        <a:spcAft>
                          <a:spcPts val="0"/>
                        </a:spcAft>
                        <a:buNone/>
                      </a:pPr>
                      <a:r>
                        <a:rPr lang="en-SG" sz="1700" b="1">
                          <a:solidFill>
                            <a:srgbClr val="000000"/>
                          </a:solidFill>
                          <a:latin typeface="Times New Roman"/>
                          <a:ea typeface="Times New Roman"/>
                          <a:cs typeface="Times New Roman"/>
                        </a:rPr>
                        <a:t>0.3248</a:t>
                      </a:r>
                      <a:endParaRPr lang="en-SG" sz="1700"/>
                    </a:p>
                  </a:txBody>
                  <a:tcPr marL="91440" marR="91440" marT="45720" marB="45720" anchor="ctr">
                    <a:lnL w="0">
                      <a:noFill/>
                    </a:lnL>
                    <a:lnR w="0">
                      <a:noFill/>
                    </a:lnR>
                    <a:lnT w="0">
                      <a:noFill/>
                    </a:lnT>
                    <a:lnB w="6350">
                      <a:solidFill>
                        <a:srgbClr val="CCD5E0"/>
                      </a:solidFill>
                    </a:lnB>
                    <a:solidFill>
                      <a:srgbClr val="EEF3FA"/>
                    </a:solidFill>
                  </a:tcPr>
                </a:tc>
                <a:tc>
                  <a:txBody>
                    <a:bodyPr wrap="square"/>
                    <a:lstStyle/>
                    <a:p>
                      <a:pPr algn="ctr">
                        <a:lnSpc>
                          <a:spcPct val="105000"/>
                        </a:lnSpc>
                        <a:spcAft>
                          <a:spcPts val="0"/>
                        </a:spcAft>
                        <a:buNone/>
                      </a:pPr>
                      <a:r>
                        <a:rPr lang="en-SG" sz="1700" b="1">
                          <a:solidFill>
                            <a:srgbClr val="000000"/>
                          </a:solidFill>
                          <a:latin typeface="Times New Roman"/>
                          <a:ea typeface="Times New Roman"/>
                          <a:cs typeface="Times New Roman"/>
                        </a:rPr>
                        <a:t>96.49%</a:t>
                      </a:r>
                      <a:endParaRPr lang="en-SG" sz="1700"/>
                    </a:p>
                  </a:txBody>
                  <a:tcPr marL="91440" marR="91440" marT="45720" marB="45720" anchor="ctr">
                    <a:lnL w="0">
                      <a:noFill/>
                    </a:lnL>
                    <a:lnR w="0">
                      <a:noFill/>
                    </a:lnR>
                    <a:lnT w="0">
                      <a:noFill/>
                    </a:lnT>
                    <a:lnB w="6350">
                      <a:solidFill>
                        <a:srgbClr val="CCD5E0"/>
                      </a:solidFill>
                    </a:lnB>
                    <a:solidFill>
                      <a:srgbClr val="EEF3FA"/>
                    </a:solidFill>
                  </a:tcPr>
                </a:tc>
              </a:tr>
              <a:tr h="402336">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Random Forest</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32.49%</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0.3195</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96.34%</a:t>
                      </a:r>
                      <a:endParaRPr lang="en-SG" sz="1700"/>
                    </a:p>
                  </a:txBody>
                  <a:tcPr marL="91440" marR="91440" marT="45720" marB="45720" anchor="ctr">
                    <a:lnL w="0">
                      <a:noFill/>
                    </a:lnL>
                    <a:lnR w="0">
                      <a:noFill/>
                    </a:lnR>
                    <a:lnT w="0">
                      <a:noFill/>
                    </a:lnT>
                    <a:lnB w="6350">
                      <a:solidFill>
                        <a:srgbClr val="CCD5E0"/>
                      </a:solidFill>
                    </a:lnB>
                    <a:solidFill>
                      <a:srgbClr val="FFFFFF"/>
                    </a:solidFill>
                  </a:tcPr>
                </a:tc>
              </a:tr>
              <a:tr h="402336">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Extra Trees</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32.25%</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0.3173</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96.18%</a:t>
                      </a:r>
                      <a:endParaRPr lang="en-SG" sz="1700"/>
                    </a:p>
                  </a:txBody>
                  <a:tcPr marL="91440" marR="91440" marT="45720" marB="45720" anchor="ctr">
                    <a:lnL w="0">
                      <a:noFill/>
                    </a:lnL>
                    <a:lnR w="0">
                      <a:noFill/>
                    </a:lnR>
                    <a:lnT w="0">
                      <a:noFill/>
                    </a:lnT>
                    <a:lnB w="6350">
                      <a:solidFill>
                        <a:srgbClr val="CCD5E0"/>
                      </a:solidFill>
                    </a:lnB>
                    <a:solidFill>
                      <a:srgbClr val="FFFFFF"/>
                    </a:solidFill>
                  </a:tcPr>
                </a:tc>
              </a:tr>
              <a:tr h="402336">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Tuned deep MLP</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32.32%</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0.2439</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95.48%</a:t>
                      </a:r>
                      <a:endParaRPr lang="en-SG" sz="1700"/>
                    </a:p>
                  </a:txBody>
                  <a:tcPr marL="91440" marR="91440" marT="45720" marB="45720" anchor="ctr">
                    <a:lnL w="0">
                      <a:noFill/>
                    </a:lnL>
                    <a:lnR w="0">
                      <a:noFill/>
                    </a:lnR>
                    <a:lnT w="0">
                      <a:noFill/>
                    </a:lnT>
                    <a:lnB w="6350">
                      <a:solidFill>
                        <a:srgbClr val="CCD5E0"/>
                      </a:solidFill>
                    </a:lnB>
                    <a:solidFill>
                      <a:srgbClr val="FFFFFF"/>
                    </a:solidFill>
                  </a:tcPr>
                </a:tc>
              </a:tr>
              <a:tr h="402336">
                <a:tc>
                  <a:txBody>
                    <a:bodyPr wrap="square"/>
                    <a:lstStyle/>
                    <a:p>
                      <a:pPr algn="l">
                        <a:lnSpc>
                          <a:spcPct val="105000"/>
                        </a:lnSpc>
                        <a:spcAft>
                          <a:spcPts val="0"/>
                        </a:spcAft>
                        <a:buNone/>
                      </a:pPr>
                      <a:r>
                        <a:rPr lang="en-SG" sz="1700" b="0">
                          <a:solidFill>
                            <a:srgbClr val="000000"/>
                          </a:solidFill>
                          <a:latin typeface="Times New Roman"/>
                          <a:ea typeface="Times New Roman"/>
                          <a:cs typeface="Times New Roman"/>
                        </a:rPr>
                        <a:t>Tuned field Transformer</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32.23%</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0.2353</a:t>
                      </a:r>
                      <a:endParaRPr lang="en-SG" sz="1700"/>
                    </a:p>
                  </a:txBody>
                  <a:tcPr marL="91440" marR="91440" marT="45720" marB="45720" anchor="ctr">
                    <a:lnL w="0">
                      <a:noFill/>
                    </a:lnL>
                    <a:lnR w="0">
                      <a:noFill/>
                    </a:lnR>
                    <a:lnT w="0">
                      <a:noFill/>
                    </a:lnT>
                    <a:lnB w="6350">
                      <a:solidFill>
                        <a:srgbClr val="CCD5E0"/>
                      </a:solidFill>
                    </a:lnB>
                    <a:solidFill>
                      <a:srgbClr val="FFFFFF"/>
                    </a:solidFill>
                  </a:tcPr>
                </a:tc>
                <a:tc>
                  <a:txBody>
                    <a:bodyPr wrap="square"/>
                    <a:lstStyle/>
                    <a:p>
                      <a:pPr algn="ctr">
                        <a:lnSpc>
                          <a:spcPct val="105000"/>
                        </a:lnSpc>
                        <a:spcAft>
                          <a:spcPts val="0"/>
                        </a:spcAft>
                        <a:buNone/>
                      </a:pPr>
                      <a:r>
                        <a:rPr lang="en-SG" sz="1700" b="0">
                          <a:solidFill>
                            <a:srgbClr val="000000"/>
                          </a:solidFill>
                          <a:latin typeface="Times New Roman"/>
                          <a:ea typeface="Times New Roman"/>
                          <a:cs typeface="Times New Roman"/>
                        </a:rPr>
                        <a:t>96.47%</a:t>
                      </a:r>
                      <a:endParaRPr lang="en-SG" sz="1700"/>
                    </a:p>
                  </a:txBody>
                  <a:tcPr marL="91440" marR="91440" marT="45720" marB="45720" anchor="ctr">
                    <a:lnL w="0">
                      <a:noFill/>
                    </a:lnL>
                    <a:lnR w="0">
                      <a:noFill/>
                    </a:lnR>
                    <a:lnT w="0">
                      <a:noFill/>
                    </a:lnT>
                    <a:lnB w="6350">
                      <a:solidFill>
                        <a:srgbClr val="CCD5E0"/>
                      </a:solidFill>
                    </a:lnB>
                    <a:solidFill>
                      <a:srgbClr val="FFFFFF"/>
                    </a:solidFill>
                  </a:tcPr>
                </a:tc>
              </a:tr>
            </a:tbl>
          </a:graphicData>
        </a:graphic>
      </p:graphicFrame>
      <p:sp>
        <p:nvSpPr>
          <p:cNvPr id="103" name="Project content 103"/>
          <p:cNvSpPr txBox="1"/>
          <p:nvPr/>
        </p:nvSpPr>
        <p:spPr>
          <a:xfrm>
            <a:off x="594360" y="4297680"/>
            <a:ext cx="7406640" cy="292608"/>
          </a:xfrm>
          <a:prstGeom prst="rect">
            <a:avLst/>
          </a:prstGeom>
          <a:noFill/>
          <a:ln>
            <a:noFill/>
          </a:ln>
        </p:spPr>
        <p:txBody>
          <a:bodyPr wrap="square" lIns="0" rIns="0" tIns="0" bIns="0" anchor="t">
            <a:noAutofit/>
          </a:bodyPr>
          <a:lstStyle/>
          <a:p>
            <a:pPr algn="l">
              <a:lnSpc>
                <a:spcPct val="105000"/>
              </a:lnSpc>
              <a:spcAft>
                <a:spcPts val="0"/>
              </a:spcAft>
              <a:buNone/>
            </a:pPr>
            <a:r>
              <a:rPr lang="en-SG" sz="1600" b="0">
                <a:solidFill>
                  <a:srgbClr val="000000"/>
                </a:solidFill>
                <a:latin typeface="Times New Roman"/>
                <a:ea typeface="Times New Roman"/>
                <a:cs typeface="Times New Roman"/>
              </a:rPr>
              <a:t>Top-1: correct first choice. Top-3: correct label among three suggestions.</a:t>
            </a:r>
            <a:endParaRPr lang="en-SG" sz="1600"/>
          </a:p>
        </p:txBody>
      </p:sp>
      <p:sp>
        <p:nvSpPr>
          <p:cNvPr id="104" name="Project content 104"/>
          <p:cNvSpPr txBox="1"/>
          <p:nvPr/>
        </p:nvSpPr>
        <p:spPr>
          <a:xfrm>
            <a:off x="594360" y="4599432"/>
            <a:ext cx="7406640" cy="274320"/>
          </a:xfrm>
          <a:prstGeom prst="rect">
            <a:avLst/>
          </a:prstGeom>
          <a:noFill/>
          <a:ln>
            <a:noFill/>
          </a:ln>
        </p:spPr>
        <p:txBody>
          <a:bodyPr wrap="square" lIns="0" rIns="0" tIns="0" bIns="0" anchor="t">
            <a:noAutofit/>
          </a:bodyPr>
          <a:lstStyle/>
          <a:p>
            <a:pPr algn="l">
              <a:lnSpc>
                <a:spcPct val="105000"/>
              </a:lnSpc>
              <a:spcAft>
                <a:spcPts val="0"/>
              </a:spcAft>
              <a:buNone/>
            </a:pPr>
            <a:r>
              <a:rPr lang="en-SG" sz="1700" b="1">
                <a:solidFill>
                  <a:srgbClr val="181C62"/>
                </a:solidFill>
                <a:latin typeface="Times New Roman"/>
                <a:ea typeface="Times New Roman"/>
                <a:cs typeface="Times New Roman"/>
              </a:rPr>
              <a:t>Logistic Regression leads on Top-1 and macro-F1 in these tests.</a:t>
            </a:r>
            <a:endParaRPr lang="en-SG" sz="1700"/>
          </a:p>
        </p:txBody>
      </p:sp>
    </p:spTree>
    <p:extLst>
      <p:ext uri="{BB962C8B-B14F-4D97-AF65-F5344CB8AC3E}">
        <p14:creationId xmlns:p14="http://schemas.microsoft.com/office/powerpoint/2010/main" val="13432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682E0-3E72-0E25-09F1-7A9996DEF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4EB73-66DF-111F-3E09-71FE79F65808}"/>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04 Results </a:t>
            </a:r>
          </a:p>
        </p:txBody>
      </p:sp>
      <p:sp>
        <p:nvSpPr>
          <p:cNvPr id="6" name="Slide Number Placeholder 5">
            <a:extLst>
              <a:ext uri="{FF2B5EF4-FFF2-40B4-BE49-F238E27FC236}">
                <a16:creationId xmlns:a16="http://schemas.microsoft.com/office/drawing/2014/main" id="{8EECB2E3-F03C-2AB7-DAF9-D70B78504EAF}"/>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14</a:t>
            </a:fld>
            <a:endParaRPr lang="en-US" dirty="0"/>
          </a:p>
        </p:txBody>
      </p:sp>
      <p:cxnSp>
        <p:nvCxnSpPr>
          <p:cNvPr id="28" name="Straight Connector 27">
            <a:extLst>
              <a:ext uri="{FF2B5EF4-FFF2-40B4-BE49-F238E27FC236}">
                <a16:creationId xmlns:a16="http://schemas.microsoft.com/office/drawing/2014/main" id="{9F43E73B-610A-1460-3B87-94885F6226B4}"/>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07F9E4CB-9049-9725-7A30-3B84794AC47C}"/>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04D1A79B-5701-1FE1-BB6E-0A382A09EBB7}"/>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369A3EB5-D3C1-27B6-2DA3-4DA808FCD093}"/>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2DF09FFD-9288-6E04-51E1-9DC83DD00E9E}"/>
              </a:ext>
            </a:extLst>
          </p:cNvPr>
          <p:cNvSpPr txBox="1"/>
          <p:nvPr/>
        </p:nvSpPr>
        <p:spPr>
          <a:xfrm rot="5400000">
            <a:off x="8356032" y="1274739"/>
            <a:ext cx="94288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AABCADA6-189D-5699-7978-CAC03A738900}"/>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5F4766D7-8D2D-58A9-D63C-73247F883495}"/>
              </a:ext>
            </a:extLst>
          </p:cNvPr>
          <p:cNvSpPr txBox="1"/>
          <p:nvPr/>
        </p:nvSpPr>
        <p:spPr>
          <a:xfrm rot="5400000">
            <a:off x="8496296" y="2944477"/>
            <a:ext cx="662361"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A963A992-647C-53D4-C0DB-6005B33A7571}"/>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2AE85482-8131-ED08-9BF2-0BC055E68DDF}"/>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9D2ADD4C-0ACC-6A2F-C9F1-7DC9D24F4424}"/>
              </a:ext>
            </a:extLst>
          </p:cNvPr>
          <p:cNvSpPr txBox="1"/>
          <p:nvPr/>
        </p:nvSpPr>
        <p:spPr>
          <a:xfrm>
            <a:off x="870708" y="937730"/>
            <a:ext cx="6500000"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Why Top-1 and Top-3 differ</a:t>
            </a:r>
          </a:p>
        </p:txBody>
      </p:sp>
      <p:sp>
        <p:nvSpPr>
          <p:cNvPr id="101" name="Project content 101"/>
          <p:cNvSpPr txBox="1"/>
          <p:nvPr/>
        </p:nvSpPr>
        <p:spPr>
          <a:xfrm>
            <a:off x="594360" y="1508760"/>
            <a:ext cx="3749040" cy="365760"/>
          </a:xfrm>
          <a:prstGeom prst="rect">
            <a:avLst/>
          </a:prstGeom>
          <a:noFill/>
          <a:ln>
            <a:noFill/>
          </a:ln>
        </p:spPr>
        <p:txBody>
          <a:bodyPr wrap="square" lIns="0" tIns="0" rIns="0" bIns="0" anchor="t">
            <a:noAutofit/>
          </a:bodyPr>
          <a:lstStyle/>
          <a:p>
            <a:pPr algn="l">
              <a:lnSpc>
                <a:spcPct val="105000"/>
              </a:lnSpc>
              <a:spcAft>
                <a:spcPts val="0"/>
              </a:spcAft>
              <a:buNone/>
            </a:pPr>
            <a:r>
              <a:rPr lang="en-SG" sz="1900" b="1">
                <a:solidFill>
                  <a:srgbClr val="181C62"/>
                </a:solidFill>
                <a:latin typeface="Times New Roman"/>
                <a:ea typeface="Times New Roman"/>
                <a:cs typeface="Times New Roman"/>
              </a:rPr>
              <a:t>2,140 Data Science profiles</a:t>
            </a:r>
            <a:endParaRPr lang="en-SG" sz="1900"/>
          </a:p>
        </p:txBody>
      </p:sp>
      <p:graphicFrame>
        <p:nvGraphicFramePr>
          <p:cNvPr id="102" name="Editable project table 102"/>
          <p:cNvGraphicFramePr/>
          <p:nvPr/>
        </p:nvGraphicFramePr>
        <p:xfrm>
          <a:off x="594360" y="1965960"/>
          <a:ext cx="3886200" cy="1728216"/>
        </p:xfrm>
        <a:graphic>
          <a:graphicData uri="http://schemas.openxmlformats.org/drawingml/2006/table">
            <a:tbl>
              <a:tblPr firstRow="1"/>
              <a:tblGrid>
                <a:gridCol w="21031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411480">
                <a:tc>
                  <a:txBody>
                    <a:bodyPr/>
                    <a:lstStyle/>
                    <a:p>
                      <a:pPr algn="l">
                        <a:lnSpc>
                          <a:spcPct val="105000"/>
                        </a:lnSpc>
                        <a:spcAft>
                          <a:spcPts val="0"/>
                        </a:spcAft>
                        <a:buNone/>
                      </a:pPr>
                      <a:r>
                        <a:rPr lang="en-SG" sz="1650" b="1">
                          <a:solidFill>
                            <a:srgbClr val="FFFFFF"/>
                          </a:solidFill>
                          <a:latin typeface="Times New Roman"/>
                          <a:ea typeface="Times New Roman"/>
                          <a:cs typeface="Times New Roman"/>
                        </a:rPr>
                        <a:t>Career</a:t>
                      </a:r>
                      <a:endParaRPr lang="en-SG" sz="1650"/>
                    </a:p>
                  </a:txBody>
                  <a:tcPr anchor="ctr">
                    <a:lnL w="0">
                      <a:noFill/>
                    </a:lnL>
                    <a:lnR w="0">
                      <a:noFill/>
                    </a:lnR>
                    <a:lnT w="0">
                      <a:noFill/>
                    </a:lnT>
                    <a:lnB w="6350">
                      <a:solidFill>
                        <a:srgbClr val="CCD5E0"/>
                      </a:solidFill>
                    </a:lnB>
                    <a:solidFill>
                      <a:srgbClr val="181C62"/>
                    </a:solidFill>
                  </a:tcPr>
                </a:tc>
                <a:tc>
                  <a:txBody>
                    <a:bodyPr/>
                    <a:lstStyle/>
                    <a:p>
                      <a:pPr algn="ctr">
                        <a:lnSpc>
                          <a:spcPct val="105000"/>
                        </a:lnSpc>
                        <a:spcAft>
                          <a:spcPts val="0"/>
                        </a:spcAft>
                        <a:buNone/>
                      </a:pPr>
                      <a:r>
                        <a:rPr lang="en-SG" sz="1650" b="1">
                          <a:solidFill>
                            <a:srgbClr val="FFFFFF"/>
                          </a:solidFill>
                          <a:latin typeface="Times New Roman"/>
                          <a:ea typeface="Times New Roman"/>
                          <a:cs typeface="Times New Roman"/>
                        </a:rPr>
                        <a:t>Count</a:t>
                      </a:r>
                      <a:endParaRPr lang="en-SG" sz="1650"/>
                    </a:p>
                  </a:txBody>
                  <a:tcPr anchor="ctr">
                    <a:lnL w="0">
                      <a:noFill/>
                    </a:lnL>
                    <a:lnR w="0">
                      <a:noFill/>
                    </a:lnR>
                    <a:lnT w="0">
                      <a:noFill/>
                    </a:lnT>
                    <a:lnB w="6350">
                      <a:solidFill>
                        <a:srgbClr val="CCD5E0"/>
                      </a:solidFill>
                    </a:lnB>
                    <a:solidFill>
                      <a:srgbClr val="181C62"/>
                    </a:solidFill>
                  </a:tcPr>
                </a:tc>
                <a:tc>
                  <a:txBody>
                    <a:bodyPr/>
                    <a:lstStyle/>
                    <a:p>
                      <a:pPr algn="ctr">
                        <a:lnSpc>
                          <a:spcPct val="105000"/>
                        </a:lnSpc>
                        <a:spcAft>
                          <a:spcPts val="0"/>
                        </a:spcAft>
                        <a:buNone/>
                      </a:pPr>
                      <a:r>
                        <a:rPr lang="en-SG" sz="1650" b="1">
                          <a:solidFill>
                            <a:srgbClr val="FFFFFF"/>
                          </a:solidFill>
                          <a:latin typeface="Times New Roman"/>
                          <a:ea typeface="Times New Roman"/>
                          <a:cs typeface="Times New Roman"/>
                        </a:rPr>
                        <a:t>Share</a:t>
                      </a:r>
                      <a:endParaRPr lang="en-SG" sz="1650"/>
                    </a:p>
                  </a:txBody>
                  <a:tcPr anchor="ctr">
                    <a:lnL w="0">
                      <a:noFill/>
                    </a:lnL>
                    <a:lnR w="0">
                      <a:noFill/>
                    </a:lnR>
                    <a:lnT w="0">
                      <a:noFill/>
                    </a:lnT>
                    <a:lnB w="6350">
                      <a:solidFill>
                        <a:srgbClr val="CCD5E0"/>
                      </a:solidFill>
                    </a:lnB>
                    <a:solidFill>
                      <a:srgbClr val="181C62"/>
                    </a:solidFill>
                  </a:tcPr>
                </a:tc>
                <a:extLst>
                  <a:ext uri="{0D108BD9-81ED-4DB2-BD59-A6C34878D82A}">
                    <a16:rowId xmlns:a16="http://schemas.microsoft.com/office/drawing/2014/main" val="10000"/>
                  </a:ext>
                </a:extLst>
              </a:tr>
              <a:tr h="438912">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Data Analyst</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ctr">
                        <a:lnSpc>
                          <a:spcPct val="105000"/>
                        </a:lnSpc>
                        <a:spcAft>
                          <a:spcPts val="0"/>
                        </a:spcAft>
                        <a:buNone/>
                      </a:pPr>
                      <a:r>
                        <a:rPr lang="en-SG" sz="1650" b="0">
                          <a:solidFill>
                            <a:srgbClr val="000000"/>
                          </a:solidFill>
                          <a:latin typeface="Times New Roman"/>
                          <a:ea typeface="Times New Roman"/>
                          <a:cs typeface="Times New Roman"/>
                        </a:rPr>
                        <a:t>719</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ctr">
                        <a:lnSpc>
                          <a:spcPct val="105000"/>
                        </a:lnSpc>
                        <a:spcAft>
                          <a:spcPts val="0"/>
                        </a:spcAft>
                        <a:buNone/>
                      </a:pPr>
                      <a:r>
                        <a:rPr lang="en-SG" sz="1650" b="0">
                          <a:solidFill>
                            <a:srgbClr val="000000"/>
                          </a:solidFill>
                          <a:latin typeface="Times New Roman"/>
                          <a:ea typeface="Times New Roman"/>
                          <a:cs typeface="Times New Roman"/>
                        </a:rPr>
                        <a:t>33.6%</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extLst>
                  <a:ext uri="{0D108BD9-81ED-4DB2-BD59-A6C34878D82A}">
                    <a16:rowId xmlns:a16="http://schemas.microsoft.com/office/drawing/2014/main" val="10001"/>
                  </a:ext>
                </a:extLst>
              </a:tr>
              <a:tr h="438912">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Data Scientist</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ctr">
                        <a:lnSpc>
                          <a:spcPct val="105000"/>
                        </a:lnSpc>
                        <a:spcAft>
                          <a:spcPts val="0"/>
                        </a:spcAft>
                        <a:buNone/>
                      </a:pPr>
                      <a:r>
                        <a:rPr lang="en-SG" sz="1650" b="0">
                          <a:solidFill>
                            <a:srgbClr val="000000"/>
                          </a:solidFill>
                          <a:latin typeface="Times New Roman"/>
                          <a:ea typeface="Times New Roman"/>
                          <a:cs typeface="Times New Roman"/>
                        </a:rPr>
                        <a:t>716</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ctr">
                        <a:lnSpc>
                          <a:spcPct val="105000"/>
                        </a:lnSpc>
                        <a:spcAft>
                          <a:spcPts val="0"/>
                        </a:spcAft>
                        <a:buNone/>
                      </a:pPr>
                      <a:r>
                        <a:rPr lang="en-SG" sz="1650" b="0">
                          <a:solidFill>
                            <a:srgbClr val="000000"/>
                          </a:solidFill>
                          <a:latin typeface="Times New Roman"/>
                          <a:ea typeface="Times New Roman"/>
                          <a:cs typeface="Times New Roman"/>
                        </a:rPr>
                        <a:t>33.5%</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extLst>
                  <a:ext uri="{0D108BD9-81ED-4DB2-BD59-A6C34878D82A}">
                    <a16:rowId xmlns:a16="http://schemas.microsoft.com/office/drawing/2014/main" val="10002"/>
                  </a:ext>
                </a:extLst>
              </a:tr>
              <a:tr h="438912">
                <a:tc>
                  <a:txBody>
                    <a:bodyPr/>
                    <a:lstStyle/>
                    <a:p>
                      <a:pPr algn="l">
                        <a:lnSpc>
                          <a:spcPct val="105000"/>
                        </a:lnSpc>
                        <a:spcAft>
                          <a:spcPts val="0"/>
                        </a:spcAft>
                        <a:buNone/>
                      </a:pPr>
                      <a:r>
                        <a:rPr lang="en-SG" sz="1650" b="0">
                          <a:solidFill>
                            <a:srgbClr val="000000"/>
                          </a:solidFill>
                          <a:latin typeface="Times New Roman"/>
                          <a:ea typeface="Times New Roman"/>
                          <a:cs typeface="Times New Roman"/>
                        </a:rPr>
                        <a:t>Business Analyst</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ctr">
                        <a:lnSpc>
                          <a:spcPct val="105000"/>
                        </a:lnSpc>
                        <a:spcAft>
                          <a:spcPts val="0"/>
                        </a:spcAft>
                        <a:buNone/>
                      </a:pPr>
                      <a:r>
                        <a:rPr lang="en-SG" sz="1650" b="0">
                          <a:solidFill>
                            <a:srgbClr val="000000"/>
                          </a:solidFill>
                          <a:latin typeface="Times New Roman"/>
                          <a:ea typeface="Times New Roman"/>
                          <a:cs typeface="Times New Roman"/>
                        </a:rPr>
                        <a:t>705</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tc>
                  <a:txBody>
                    <a:bodyPr/>
                    <a:lstStyle/>
                    <a:p>
                      <a:pPr algn="ctr">
                        <a:lnSpc>
                          <a:spcPct val="105000"/>
                        </a:lnSpc>
                        <a:spcAft>
                          <a:spcPts val="0"/>
                        </a:spcAft>
                        <a:buNone/>
                      </a:pPr>
                      <a:r>
                        <a:rPr lang="en-SG" sz="1650" b="0">
                          <a:solidFill>
                            <a:srgbClr val="000000"/>
                          </a:solidFill>
                          <a:latin typeface="Times New Roman"/>
                          <a:ea typeface="Times New Roman"/>
                          <a:cs typeface="Times New Roman"/>
                        </a:rPr>
                        <a:t>32.9%</a:t>
                      </a:r>
                      <a:endParaRPr lang="en-SG" sz="1650"/>
                    </a:p>
                  </a:txBody>
                  <a:tcPr anchor="ctr">
                    <a:lnL w="0">
                      <a:noFill/>
                    </a:lnL>
                    <a:lnR w="0">
                      <a:noFill/>
                    </a:lnR>
                    <a:lnT w="6350" cap="flat" cmpd="sng" algn="ctr">
                      <a:solidFill>
                        <a:srgbClr val="CCD5E0"/>
                      </a:solidFill>
                      <a:prstDash val="solid"/>
                      <a:round/>
                      <a:headEnd type="none" w="med" len="med"/>
                      <a:tailEnd type="none" w="med" len="med"/>
                    </a:lnT>
                    <a:lnB w="6350">
                      <a:solidFill>
                        <a:srgbClr val="CCD5E0"/>
                      </a:solidFill>
                    </a:lnB>
                    <a:solidFill>
                      <a:srgbClr val="FFFFFF"/>
                    </a:solidFill>
                  </a:tcPr>
                </a:tc>
                <a:extLst>
                  <a:ext uri="{0D108BD9-81ED-4DB2-BD59-A6C34878D82A}">
                    <a16:rowId xmlns:a16="http://schemas.microsoft.com/office/drawing/2014/main" val="10003"/>
                  </a:ext>
                </a:extLst>
              </a:tr>
            </a:tbl>
          </a:graphicData>
        </a:graphic>
      </p:graphicFrame>
      <p:sp>
        <p:nvSpPr>
          <p:cNvPr id="103" name="Project content 103"/>
          <p:cNvSpPr txBox="1"/>
          <p:nvPr/>
        </p:nvSpPr>
        <p:spPr>
          <a:xfrm>
            <a:off x="4754880" y="1508760"/>
            <a:ext cx="3246120" cy="365760"/>
          </a:xfrm>
          <a:prstGeom prst="rect">
            <a:avLst/>
          </a:prstGeom>
          <a:noFill/>
          <a:ln>
            <a:noFill/>
          </a:ln>
        </p:spPr>
        <p:txBody>
          <a:bodyPr wrap="square" lIns="0" tIns="0" rIns="0" bIns="0" anchor="t">
            <a:noAutofit/>
          </a:bodyPr>
          <a:lstStyle/>
          <a:p>
            <a:pPr algn="l">
              <a:lnSpc>
                <a:spcPct val="105000"/>
              </a:lnSpc>
              <a:spcAft>
                <a:spcPts val="0"/>
              </a:spcAft>
              <a:buNone/>
            </a:pPr>
            <a:r>
              <a:rPr lang="en-SG" sz="2100" b="1">
                <a:solidFill>
                  <a:srgbClr val="181C62"/>
                </a:solidFill>
                <a:latin typeface="Times New Roman"/>
                <a:ea typeface="Times New Roman"/>
                <a:cs typeface="Times New Roman"/>
              </a:rPr>
              <a:t>Top-1 must pick one</a:t>
            </a:r>
            <a:endParaRPr lang="en-SG" sz="2100"/>
          </a:p>
        </p:txBody>
      </p:sp>
      <p:sp>
        <p:nvSpPr>
          <p:cNvPr id="104" name="Project content 104"/>
          <p:cNvSpPr txBox="1"/>
          <p:nvPr/>
        </p:nvSpPr>
        <p:spPr>
          <a:xfrm>
            <a:off x="4754880" y="1993392"/>
            <a:ext cx="3246120" cy="914400"/>
          </a:xfrm>
          <a:prstGeom prst="rect">
            <a:avLst/>
          </a:prstGeom>
          <a:noFill/>
          <a:ln>
            <a:noFill/>
          </a:ln>
        </p:spPr>
        <p:txBody>
          <a:bodyPr wrap="square" lIns="0" tIns="0" rIns="0" bIns="0" anchor="t">
            <a:noAutofit/>
          </a:bodyPr>
          <a:lstStyle/>
          <a:p>
            <a:pPr algn="l">
              <a:lnSpc>
                <a:spcPct val="105000"/>
              </a:lnSpc>
              <a:spcAft>
                <a:spcPts val="0"/>
              </a:spcAft>
              <a:buNone/>
            </a:pPr>
            <a:r>
              <a:rPr lang="en-SG" sz="1800" b="0">
                <a:solidFill>
                  <a:srgbClr val="000000"/>
                </a:solidFill>
                <a:latin typeface="Times New Roman"/>
                <a:ea typeface="Times New Roman"/>
                <a:cs typeface="Times New Roman"/>
              </a:rPr>
              <a:t>Labels split almost equally.</a:t>
            </a:r>
            <a:endParaRPr lang="en-SG" sz="1800"/>
          </a:p>
          <a:p>
            <a:pPr algn="l">
              <a:lnSpc>
                <a:spcPct val="105000"/>
              </a:lnSpc>
              <a:spcAft>
                <a:spcPts val="0"/>
              </a:spcAft>
              <a:buNone/>
            </a:pPr>
            <a:r>
              <a:rPr lang="en-SG" sz="1800" b="0">
                <a:solidFill>
                  <a:srgbClr val="000000"/>
                </a:solidFill>
                <a:latin typeface="Times New Roman"/>
                <a:ea typeface="Times New Roman"/>
                <a:cs typeface="Times New Roman"/>
              </a:rPr>
              <a:t>The tested models struggle to</a:t>
            </a:r>
            <a:endParaRPr lang="en-SG" sz="1800"/>
          </a:p>
          <a:p>
            <a:pPr algn="l">
              <a:lnSpc>
                <a:spcPct val="105000"/>
              </a:lnSpc>
              <a:spcAft>
                <a:spcPts val="0"/>
              </a:spcAft>
              <a:buNone/>
            </a:pPr>
            <a:r>
              <a:rPr lang="en-SG" sz="1800" b="0">
                <a:solidFill>
                  <a:srgbClr val="000000"/>
                </a:solidFill>
                <a:latin typeface="Times New Roman"/>
                <a:ea typeface="Times New Roman"/>
                <a:cs typeface="Times New Roman"/>
              </a:rPr>
              <a:t>separate careers within a group.</a:t>
            </a:r>
            <a:endParaRPr lang="en-SG" sz="1800"/>
          </a:p>
        </p:txBody>
      </p:sp>
      <p:sp>
        <p:nvSpPr>
          <p:cNvPr id="105" name="Project content 105"/>
          <p:cNvSpPr txBox="1"/>
          <p:nvPr/>
        </p:nvSpPr>
        <p:spPr>
          <a:xfrm>
            <a:off x="4754880" y="3081528"/>
            <a:ext cx="3246120" cy="365760"/>
          </a:xfrm>
          <a:prstGeom prst="rect">
            <a:avLst/>
          </a:prstGeom>
          <a:noFill/>
          <a:ln>
            <a:noFill/>
          </a:ln>
        </p:spPr>
        <p:txBody>
          <a:bodyPr wrap="square" lIns="0" tIns="0" rIns="0" bIns="0" anchor="t">
            <a:noAutofit/>
          </a:bodyPr>
          <a:lstStyle/>
          <a:p>
            <a:pPr algn="l">
              <a:lnSpc>
                <a:spcPct val="105000"/>
              </a:lnSpc>
              <a:spcAft>
                <a:spcPts val="0"/>
              </a:spcAft>
              <a:buNone/>
            </a:pPr>
            <a:r>
              <a:rPr lang="en-SG" sz="2100" b="1">
                <a:solidFill>
                  <a:srgbClr val="181C62"/>
                </a:solidFill>
                <a:latin typeface="Times New Roman"/>
                <a:ea typeface="Times New Roman"/>
                <a:cs typeface="Times New Roman"/>
              </a:rPr>
              <a:t>Top-3 can list the group</a:t>
            </a:r>
            <a:endParaRPr lang="en-SG" sz="2100"/>
          </a:p>
        </p:txBody>
      </p:sp>
      <p:sp>
        <p:nvSpPr>
          <p:cNvPr id="106" name="Project content 106"/>
          <p:cNvSpPr txBox="1"/>
          <p:nvPr/>
        </p:nvSpPr>
        <p:spPr>
          <a:xfrm>
            <a:off x="4754880" y="3584448"/>
            <a:ext cx="3246120" cy="457200"/>
          </a:xfrm>
          <a:prstGeom prst="rect">
            <a:avLst/>
          </a:prstGeom>
          <a:noFill/>
          <a:ln>
            <a:noFill/>
          </a:ln>
        </p:spPr>
        <p:txBody>
          <a:bodyPr wrap="square" lIns="0" tIns="0" rIns="0" bIns="0" anchor="t">
            <a:noAutofit/>
          </a:bodyPr>
          <a:lstStyle/>
          <a:p>
            <a:pPr algn="l">
              <a:lnSpc>
                <a:spcPct val="105000"/>
              </a:lnSpc>
              <a:spcAft>
                <a:spcPts val="0"/>
              </a:spcAft>
              <a:buNone/>
            </a:pPr>
            <a:r>
              <a:rPr lang="en-SG" sz="1800" b="0">
                <a:solidFill>
                  <a:srgbClr val="000000"/>
                </a:solidFill>
                <a:latin typeface="Times New Roman"/>
                <a:ea typeface="Times New Roman"/>
                <a:cs typeface="Times New Roman"/>
              </a:rPr>
              <a:t>All three labels fit in the shortlist.</a:t>
            </a:r>
            <a:endParaRPr lang="en-SG" sz="1800"/>
          </a:p>
        </p:txBody>
      </p:sp>
      <p:sp>
        <p:nvSpPr>
          <p:cNvPr id="107" name="Project content 107"/>
          <p:cNvSpPr txBox="1"/>
          <p:nvPr/>
        </p:nvSpPr>
        <p:spPr>
          <a:xfrm>
            <a:off x="594360" y="4133088"/>
            <a:ext cx="7406640" cy="347472"/>
          </a:xfrm>
          <a:prstGeom prst="rect">
            <a:avLst/>
          </a:prstGeom>
          <a:noFill/>
          <a:ln>
            <a:noFill/>
          </a:ln>
        </p:spPr>
        <p:txBody>
          <a:bodyPr wrap="square" lIns="0" tIns="0" rIns="0" bIns="0" anchor="t">
            <a:noAutofit/>
          </a:bodyPr>
          <a:lstStyle/>
          <a:p>
            <a:pPr algn="l">
              <a:lnSpc>
                <a:spcPct val="105000"/>
              </a:lnSpc>
              <a:spcAft>
                <a:spcPts val="0"/>
              </a:spcAft>
              <a:buNone/>
            </a:pPr>
            <a:r>
              <a:rPr lang="en-SG" sz="1700" b="0">
                <a:solidFill>
                  <a:srgbClr val="000000"/>
                </a:solidFill>
                <a:latin typeface="Times New Roman"/>
                <a:ea typeface="Times New Roman"/>
                <a:cs typeface="Times New Roman"/>
              </a:rPr>
              <a:t>Six of seven interests have 3 careers. Software Development has 4.</a:t>
            </a:r>
            <a:endParaRPr lang="en-SG" sz="1700"/>
          </a:p>
        </p:txBody>
      </p:sp>
      <p:sp>
        <p:nvSpPr>
          <p:cNvPr id="108" name="Project content 108"/>
          <p:cNvSpPr txBox="1"/>
          <p:nvPr/>
        </p:nvSpPr>
        <p:spPr>
          <a:xfrm>
            <a:off x="594360" y="4553712"/>
            <a:ext cx="7406640" cy="320040"/>
          </a:xfrm>
          <a:prstGeom prst="rect">
            <a:avLst/>
          </a:prstGeom>
          <a:noFill/>
          <a:ln>
            <a:noFill/>
          </a:ln>
        </p:spPr>
        <p:txBody>
          <a:bodyPr wrap="square" lIns="0" tIns="0" rIns="0" bIns="0" anchor="t">
            <a:noAutofit/>
          </a:bodyPr>
          <a:lstStyle/>
          <a:p>
            <a:pPr algn="l">
              <a:lnSpc>
                <a:spcPct val="105000"/>
              </a:lnSpc>
              <a:spcAft>
                <a:spcPts val="0"/>
              </a:spcAft>
              <a:buNone/>
            </a:pPr>
            <a:r>
              <a:rPr lang="en-SG" sz="1700" b="1">
                <a:solidFill>
                  <a:srgbClr val="181C62"/>
                </a:solidFill>
                <a:latin typeface="Times New Roman"/>
                <a:ea typeface="Times New Roman"/>
                <a:cs typeface="Times New Roman"/>
              </a:rPr>
              <a:t>High Top-3 measures shortlist coverage. First-choice ranking remains difficult.</a:t>
            </a:r>
            <a:endParaRPr lang="en-SG" sz="1700"/>
          </a:p>
        </p:txBody>
      </p:sp>
    </p:spTree>
    <p:extLst>
      <p:ext uri="{BB962C8B-B14F-4D97-AF65-F5344CB8AC3E}">
        <p14:creationId xmlns:p14="http://schemas.microsoft.com/office/powerpoint/2010/main" val="3635135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92A34-321B-4823-198C-E6BEFABE4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18BD9-2DD1-B671-AFF5-9BDD92FDB94B}"/>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05 Discussion </a:t>
            </a:r>
          </a:p>
        </p:txBody>
      </p:sp>
      <p:sp>
        <p:nvSpPr>
          <p:cNvPr id="6" name="Slide Number Placeholder 5">
            <a:extLst>
              <a:ext uri="{FF2B5EF4-FFF2-40B4-BE49-F238E27FC236}">
                <a16:creationId xmlns:a16="http://schemas.microsoft.com/office/drawing/2014/main" id="{2DDF7B9E-4C13-2068-8AB6-B8F8DD50C2D8}"/>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15</a:t>
            </a:fld>
            <a:endParaRPr lang="en-US" dirty="0"/>
          </a:p>
        </p:txBody>
      </p:sp>
      <p:cxnSp>
        <p:nvCxnSpPr>
          <p:cNvPr id="28" name="Straight Connector 27">
            <a:extLst>
              <a:ext uri="{FF2B5EF4-FFF2-40B4-BE49-F238E27FC236}">
                <a16:creationId xmlns:a16="http://schemas.microsoft.com/office/drawing/2014/main" id="{EE2C5F07-FC17-0829-8BB2-14D4FB87E07C}"/>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3AC1ECD4-B06D-1D9B-57A7-16BD0CD777D7}"/>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1FE0446E-93F9-C65A-69EB-A29DCDDA17C8}"/>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C8A0098-6258-BAB4-4089-3667A1849562}"/>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346846BB-CDB1-427E-EA84-BF74831021FD}"/>
              </a:ext>
            </a:extLst>
          </p:cNvPr>
          <p:cNvSpPr txBox="1"/>
          <p:nvPr/>
        </p:nvSpPr>
        <p:spPr>
          <a:xfrm rot="5400000">
            <a:off x="8356032" y="1274739"/>
            <a:ext cx="94288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A9D8413A-DBDD-6770-59CC-31A95049CD6F}"/>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BAE6C876-A75E-19EA-972E-5E7B4C79CA5A}"/>
              </a:ext>
            </a:extLst>
          </p:cNvPr>
          <p:cNvSpPr txBox="1"/>
          <p:nvPr/>
        </p:nvSpPr>
        <p:spPr>
          <a:xfrm rot="5400000">
            <a:off x="8528356" y="2952171"/>
            <a:ext cx="59824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75B6532F-BE12-5BFD-4AB3-0BD62B46D161}"/>
              </a:ext>
            </a:extLst>
          </p:cNvPr>
          <p:cNvSpPr txBox="1"/>
          <p:nvPr/>
        </p:nvSpPr>
        <p:spPr>
          <a:xfrm rot="5400000">
            <a:off x="8389695" y="3573600"/>
            <a:ext cx="875561"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61993968-4BAF-7601-9273-2FDE52FE35F9}"/>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883E5FA3-B52D-5C45-8962-EC8F84510092}"/>
              </a:ext>
            </a:extLst>
          </p:cNvPr>
          <p:cNvSpPr txBox="1"/>
          <p:nvPr/>
        </p:nvSpPr>
        <p:spPr>
          <a:xfrm>
            <a:off x="870708" y="937730"/>
            <a:ext cx="2961067"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Limitations and Challenges </a:t>
            </a:r>
          </a:p>
        </p:txBody>
      </p:sp>
    </p:spTree>
    <p:extLst>
      <p:ext uri="{BB962C8B-B14F-4D97-AF65-F5344CB8AC3E}">
        <p14:creationId xmlns:p14="http://schemas.microsoft.com/office/powerpoint/2010/main" val="2540188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0B3C0-F398-6ABD-409F-01DE5E487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E25D4-8F42-5AD3-3C61-38BF1C2E7635}"/>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05 Discussion </a:t>
            </a:r>
          </a:p>
        </p:txBody>
      </p:sp>
      <p:sp>
        <p:nvSpPr>
          <p:cNvPr id="6" name="Slide Number Placeholder 5">
            <a:extLst>
              <a:ext uri="{FF2B5EF4-FFF2-40B4-BE49-F238E27FC236}">
                <a16:creationId xmlns:a16="http://schemas.microsoft.com/office/drawing/2014/main" id="{4F8A4893-90F9-4550-A724-D19D6BC8AF86}"/>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16</a:t>
            </a:fld>
            <a:endParaRPr lang="en-US" dirty="0"/>
          </a:p>
        </p:txBody>
      </p:sp>
      <p:cxnSp>
        <p:nvCxnSpPr>
          <p:cNvPr id="28" name="Straight Connector 27">
            <a:extLst>
              <a:ext uri="{FF2B5EF4-FFF2-40B4-BE49-F238E27FC236}">
                <a16:creationId xmlns:a16="http://schemas.microsoft.com/office/drawing/2014/main" id="{ECE90057-5110-B1A4-3EAE-ABA66A26FDC5}"/>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FA9F88BE-6458-D94D-4DFA-F4D74AEE488F}"/>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2" name="Teardrop 17">
            <a:extLst>
              <a:ext uri="{FF2B5EF4-FFF2-40B4-BE49-F238E27FC236}">
                <a16:creationId xmlns:a16="http://schemas.microsoft.com/office/drawing/2014/main" id="{2BB54BB6-6885-62F0-5C30-85D3DB5E465C}"/>
              </a:ext>
            </a:extLst>
          </p:cNvPr>
          <p:cNvSpPr/>
          <p:nvPr/>
        </p:nvSpPr>
        <p:spPr>
          <a:xfrm>
            <a:off x="559485" y="995841"/>
            <a:ext cx="311223" cy="311222"/>
          </a:xfrm>
          <a:prstGeom prst="teardrop">
            <a:avLst/>
          </a:prstGeom>
          <a:solidFill>
            <a:srgbClr val="181C6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anchor="ctr">
            <a:normAutofit fontScale="55000" lnSpcReduction="20000"/>
            <a:scene3d>
              <a:camera prst="orthographicFront"/>
              <a:lightRig rig="threePt" dir="t"/>
            </a:scene3d>
            <a:sp3d contourW="12700"/>
          </a:bodyPr>
          <a:lstStyle/>
          <a:p>
            <a:pPr algn="ctr"/>
            <a:endParaRPr lang="en-US" b="1" spc="-1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D620807-7468-3810-5D36-1EDBDF1F039C}"/>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0731E80D-4830-C447-EE8C-BF0C717FD4C1}"/>
              </a:ext>
            </a:extLst>
          </p:cNvPr>
          <p:cNvSpPr txBox="1"/>
          <p:nvPr/>
        </p:nvSpPr>
        <p:spPr>
          <a:xfrm rot="5400000">
            <a:off x="8356032" y="1274739"/>
            <a:ext cx="94288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FC820707-F509-4B23-5FB6-77F7F2CEB762}"/>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38A324C9-8A6B-F51C-61EF-3A0D7CFCF4F9}"/>
              </a:ext>
            </a:extLst>
          </p:cNvPr>
          <p:cNvSpPr txBox="1"/>
          <p:nvPr/>
        </p:nvSpPr>
        <p:spPr>
          <a:xfrm rot="5400000">
            <a:off x="8528355" y="2952171"/>
            <a:ext cx="59824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6781C6BE-6DA7-6079-EDEF-C18DBC5BF161}"/>
              </a:ext>
            </a:extLst>
          </p:cNvPr>
          <p:cNvSpPr txBox="1"/>
          <p:nvPr/>
        </p:nvSpPr>
        <p:spPr>
          <a:xfrm rot="5400000">
            <a:off x="8389695" y="3573600"/>
            <a:ext cx="875561"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D946A901-6AF8-AD88-1878-75FCEDA27C80}"/>
              </a:ext>
            </a:extLst>
          </p:cNvPr>
          <p:cNvSpPr txBox="1"/>
          <p:nvPr/>
        </p:nvSpPr>
        <p:spPr>
          <a:xfrm rot="5400000">
            <a:off x="8416145" y="4317816"/>
            <a:ext cx="82266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Conclusion</a:t>
            </a:r>
          </a:p>
        </p:txBody>
      </p:sp>
      <p:sp>
        <p:nvSpPr>
          <p:cNvPr id="30" name="TextBox 29">
            <a:extLst>
              <a:ext uri="{FF2B5EF4-FFF2-40B4-BE49-F238E27FC236}">
                <a16:creationId xmlns:a16="http://schemas.microsoft.com/office/drawing/2014/main" id="{E49B61C5-CA1D-0B45-E2D6-E85EC1D15DE0}"/>
              </a:ext>
            </a:extLst>
          </p:cNvPr>
          <p:cNvSpPr txBox="1"/>
          <p:nvPr/>
        </p:nvSpPr>
        <p:spPr>
          <a:xfrm>
            <a:off x="870708" y="937730"/>
            <a:ext cx="2525050" cy="369332"/>
          </a:xfrm>
          <a:prstGeom prst="rect">
            <a:avLst/>
          </a:prstGeom>
          <a:noFill/>
        </p:spPr>
        <p:txBody>
          <a:bodyPr wrap="none" rtlCol="0">
            <a:spAutoFit/>
          </a:bodyPr>
          <a:lstStyle/>
          <a:p>
            <a:r>
              <a:rPr lang="en-SG" b="1" dirty="0">
                <a:latin typeface="Times New Roman" panose="02020603050405020304" pitchFamily="18" charset="0"/>
                <a:cs typeface="Times New Roman" panose="02020603050405020304" pitchFamily="18" charset="0"/>
              </a:rPr>
              <a:t>Ethics and</a:t>
            </a:r>
            <a:r>
              <a:rPr lang="ko-KR" altLang="en-US" b="1" dirty="0">
                <a:latin typeface="Times New Roman" panose="02020603050405020304" pitchFamily="18" charset="0"/>
                <a:cs typeface="Times New Roman" panose="02020603050405020304" pitchFamily="18" charset="0"/>
              </a:rPr>
              <a:t> </a:t>
            </a:r>
            <a:r>
              <a:rPr lang="en-SG" altLang="ko-KR" b="1" dirty="0">
                <a:latin typeface="Times New Roman" panose="02020603050405020304" pitchFamily="18" charset="0"/>
                <a:cs typeface="Times New Roman" panose="02020603050405020304" pitchFamily="18" charset="0"/>
              </a:rPr>
              <a:t>Responsible</a:t>
            </a:r>
            <a:endParaRPr lang="en-SG"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0612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59781-99AD-C097-0C58-A89BA4FD0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1FD99-653A-730F-3BAF-6B57E0FCCDF4}"/>
              </a:ext>
            </a:extLst>
          </p:cNvPr>
          <p:cNvSpPr>
            <a:spLocks noGrp="1"/>
          </p:cNvSpPr>
          <p:nvPr>
            <p:ph type="title"/>
          </p:nvPr>
        </p:nvSpPr>
        <p:spPr>
          <a:xfrm>
            <a:off x="64929" y="114298"/>
            <a:ext cx="3238648" cy="554419"/>
          </a:xfrm>
        </p:spPr>
        <p:txBody>
          <a:bodyPr>
            <a:no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06 Conclusion</a:t>
            </a:r>
          </a:p>
        </p:txBody>
      </p:sp>
      <p:sp>
        <p:nvSpPr>
          <p:cNvPr id="6" name="Slide Number Placeholder 5">
            <a:extLst>
              <a:ext uri="{FF2B5EF4-FFF2-40B4-BE49-F238E27FC236}">
                <a16:creationId xmlns:a16="http://schemas.microsoft.com/office/drawing/2014/main" id="{875F5CA1-2FF5-887C-0A3A-F7BD4A564F6C}"/>
              </a:ext>
            </a:extLst>
          </p:cNvPr>
          <p:cNvSpPr>
            <a:spLocks noGrp="1"/>
          </p:cNvSpPr>
          <p:nvPr>
            <p:ph type="sldNum" sz="quarter" idx="12"/>
          </p:nvPr>
        </p:nvSpPr>
        <p:spPr>
          <a:xfrm>
            <a:off x="6377354" y="4584679"/>
            <a:ext cx="2133600" cy="273844"/>
          </a:xfrm>
        </p:spPr>
        <p:txBody>
          <a:bodyPr/>
          <a:lstStyle/>
          <a:p>
            <a:fld id="{8E6562B1-0B0F-0246-9532-09536BC2AE59}" type="slidenum">
              <a:rPr lang="en-US" smtClean="0"/>
              <a:t>17</a:t>
            </a:fld>
            <a:endParaRPr lang="en-US" dirty="0"/>
          </a:p>
        </p:txBody>
      </p:sp>
      <p:cxnSp>
        <p:nvCxnSpPr>
          <p:cNvPr id="28" name="Straight Connector 27">
            <a:extLst>
              <a:ext uri="{FF2B5EF4-FFF2-40B4-BE49-F238E27FC236}">
                <a16:creationId xmlns:a16="http://schemas.microsoft.com/office/drawing/2014/main" id="{BD722415-9F63-3D1F-C171-150B01F24CF7}"/>
              </a:ext>
            </a:extLst>
          </p:cNvPr>
          <p:cNvCxnSpPr>
            <a:cxnSpLocks/>
          </p:cNvCxnSpPr>
          <p:nvPr/>
        </p:nvCxnSpPr>
        <p:spPr>
          <a:xfrm>
            <a:off x="0" y="712002"/>
            <a:ext cx="9144000" cy="0"/>
          </a:xfrm>
          <a:prstGeom prst="line">
            <a:avLst/>
          </a:prstGeom>
          <a:ln>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직사각형 2">
            <a:extLst>
              <a:ext uri="{FF2B5EF4-FFF2-40B4-BE49-F238E27FC236}">
                <a16:creationId xmlns:a16="http://schemas.microsoft.com/office/drawing/2014/main" id="{045CCDBF-D970-62CA-DB8C-655E4ACFBB9D}"/>
              </a:ext>
            </a:extLst>
          </p:cNvPr>
          <p:cNvSpPr/>
          <p:nvPr/>
        </p:nvSpPr>
        <p:spPr>
          <a:xfrm>
            <a:off x="8510954" y="0"/>
            <a:ext cx="633046" cy="4879340"/>
          </a:xfrm>
          <a:prstGeom prst="rect">
            <a:avLst/>
          </a:prstGeom>
          <a:solidFill>
            <a:srgbClr val="025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effectLst>
                <a:outerShdw blurRad="38100" dist="38100" dir="2700000" algn="tl">
                  <a:srgbClr val="000000">
                    <a:alpha val="43137"/>
                  </a:srgbClr>
                </a:outerShdw>
              </a:effectLst>
            </a:endParaRPr>
          </a:p>
        </p:txBody>
      </p:sp>
      <p:sp>
        <p:nvSpPr>
          <p:cNvPr id="15" name="TextBox 14">
            <a:extLst>
              <a:ext uri="{FF2B5EF4-FFF2-40B4-BE49-F238E27FC236}">
                <a16:creationId xmlns:a16="http://schemas.microsoft.com/office/drawing/2014/main" id="{636521A6-A53A-90D9-25BC-3AE4A81A94BE}"/>
              </a:ext>
            </a:extLst>
          </p:cNvPr>
          <p:cNvSpPr txBox="1"/>
          <p:nvPr/>
        </p:nvSpPr>
        <p:spPr>
          <a:xfrm rot="5400000">
            <a:off x="8388092" y="385128"/>
            <a:ext cx="87876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Introduction</a:t>
            </a:r>
          </a:p>
        </p:txBody>
      </p:sp>
      <p:sp>
        <p:nvSpPr>
          <p:cNvPr id="20" name="TextBox 19">
            <a:extLst>
              <a:ext uri="{FF2B5EF4-FFF2-40B4-BE49-F238E27FC236}">
                <a16:creationId xmlns:a16="http://schemas.microsoft.com/office/drawing/2014/main" id="{A3270186-C36A-3EB1-25B9-F91DA9F5FFF4}"/>
              </a:ext>
            </a:extLst>
          </p:cNvPr>
          <p:cNvSpPr txBox="1"/>
          <p:nvPr/>
        </p:nvSpPr>
        <p:spPr>
          <a:xfrm rot="5400000">
            <a:off x="8356032" y="1274739"/>
            <a:ext cx="942887"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Methodology</a:t>
            </a:r>
          </a:p>
        </p:txBody>
      </p:sp>
      <p:sp>
        <p:nvSpPr>
          <p:cNvPr id="22" name="TextBox 21">
            <a:extLst>
              <a:ext uri="{FF2B5EF4-FFF2-40B4-BE49-F238E27FC236}">
                <a16:creationId xmlns:a16="http://schemas.microsoft.com/office/drawing/2014/main" id="{AC91CB51-67F8-2495-2C26-A683B2C277FA}"/>
              </a:ext>
            </a:extLst>
          </p:cNvPr>
          <p:cNvSpPr txBox="1"/>
          <p:nvPr/>
        </p:nvSpPr>
        <p:spPr>
          <a:xfrm rot="5400000">
            <a:off x="8311147" y="2205227"/>
            <a:ext cx="1032655"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AI Application</a:t>
            </a:r>
          </a:p>
        </p:txBody>
      </p:sp>
      <p:sp>
        <p:nvSpPr>
          <p:cNvPr id="24" name="TextBox 23">
            <a:extLst>
              <a:ext uri="{FF2B5EF4-FFF2-40B4-BE49-F238E27FC236}">
                <a16:creationId xmlns:a16="http://schemas.microsoft.com/office/drawing/2014/main" id="{E8F9DA54-E959-3841-76F4-EBAA0618B4BB}"/>
              </a:ext>
            </a:extLst>
          </p:cNvPr>
          <p:cNvSpPr txBox="1"/>
          <p:nvPr/>
        </p:nvSpPr>
        <p:spPr>
          <a:xfrm rot="5400000">
            <a:off x="8528356" y="2952171"/>
            <a:ext cx="598241"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168EDFDB-89A7-5BD0-BD49-FA10F5B8CDE5}"/>
              </a:ext>
            </a:extLst>
          </p:cNvPr>
          <p:cNvSpPr txBox="1"/>
          <p:nvPr/>
        </p:nvSpPr>
        <p:spPr>
          <a:xfrm rot="5400000">
            <a:off x="8428969" y="3581294"/>
            <a:ext cx="797013" cy="261610"/>
          </a:xfrm>
          <a:prstGeom prst="rect">
            <a:avLst/>
          </a:prstGeom>
          <a:noFill/>
        </p:spPr>
        <p:txBody>
          <a:bodyPr wrap="none" rtlCol="0">
            <a:spAutoFit/>
          </a:bodyPr>
          <a:lstStyle/>
          <a:p>
            <a:r>
              <a:rPr lang="en-SG" sz="1100" dirty="0">
                <a:latin typeface="Times New Roman" panose="02020603050405020304" pitchFamily="18" charset="0"/>
                <a:cs typeface="Times New Roman" panose="02020603050405020304" pitchFamily="18" charset="0"/>
              </a:rPr>
              <a:t>Discussion</a:t>
            </a:r>
          </a:p>
        </p:txBody>
      </p:sp>
      <p:sp>
        <p:nvSpPr>
          <p:cNvPr id="29" name="TextBox 28">
            <a:extLst>
              <a:ext uri="{FF2B5EF4-FFF2-40B4-BE49-F238E27FC236}">
                <a16:creationId xmlns:a16="http://schemas.microsoft.com/office/drawing/2014/main" id="{45B3FF0E-DCAF-63A6-AB5C-E438FFC94C13}"/>
              </a:ext>
            </a:extLst>
          </p:cNvPr>
          <p:cNvSpPr txBox="1"/>
          <p:nvPr/>
        </p:nvSpPr>
        <p:spPr>
          <a:xfrm rot="5400000">
            <a:off x="8368055" y="4310122"/>
            <a:ext cx="918841" cy="276999"/>
          </a:xfrm>
          <a:prstGeom prst="rect">
            <a:avLst/>
          </a:prstGeom>
          <a:noFill/>
        </p:spPr>
        <p:txBody>
          <a:bodyPr wrap="none" rtlCol="0">
            <a:spAutoFit/>
          </a:bodyPr>
          <a:lstStyle/>
          <a:p>
            <a:r>
              <a:rPr lang="en-SG" sz="1200" b="1" dirty="0">
                <a:solidFill>
                  <a:schemeClr val="bg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533785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사각형: 잘린 대각선 방향 모서리 3">
            <a:extLst>
              <a:ext uri="{FF2B5EF4-FFF2-40B4-BE49-F238E27FC236}">
                <a16:creationId xmlns:a16="http://schemas.microsoft.com/office/drawing/2014/main" id="{8C73B8BC-6500-93D2-60C1-424375C4DA9F}"/>
              </a:ext>
            </a:extLst>
          </p:cNvPr>
          <p:cNvSpPr/>
          <p:nvPr/>
        </p:nvSpPr>
        <p:spPr>
          <a:xfrm>
            <a:off x="0" y="0"/>
            <a:ext cx="9144000" cy="4885818"/>
          </a:xfrm>
          <a:prstGeom prst="snip2DiagRect">
            <a:avLst>
              <a:gd name="adj1" fmla="val 0"/>
              <a:gd name="adj2" fmla="val 50000"/>
            </a:avLst>
          </a:prstGeom>
          <a:solidFill>
            <a:srgbClr val="181C62">
              <a:alpha val="9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dirty="0"/>
          </a:p>
        </p:txBody>
      </p:sp>
      <p:sp>
        <p:nvSpPr>
          <p:cNvPr id="2" name="Title 1">
            <a:extLst>
              <a:ext uri="{FF2B5EF4-FFF2-40B4-BE49-F238E27FC236}">
                <a16:creationId xmlns:a16="http://schemas.microsoft.com/office/drawing/2014/main" id="{A67233FC-B4D4-4804-AB98-60E21CC1B129}"/>
              </a:ext>
            </a:extLst>
          </p:cNvPr>
          <p:cNvSpPr>
            <a:spLocks noGrp="1"/>
          </p:cNvSpPr>
          <p:nvPr>
            <p:ph type="title"/>
          </p:nvPr>
        </p:nvSpPr>
        <p:spPr>
          <a:xfrm>
            <a:off x="280416" y="1780793"/>
            <a:ext cx="8229600" cy="857251"/>
          </a:xfrm>
        </p:spPr>
        <p:txBody>
          <a:bodyPr/>
          <a:lstStyle/>
          <a:p>
            <a:pPr algn="ctr"/>
            <a:r>
              <a:rPr lang="en-US" b="1" dirty="0">
                <a:solidFill>
                  <a:schemeClr val="bg1"/>
                </a:solidFill>
                <a:effectLst>
                  <a:outerShdw blurRad="38100" dist="38100" dir="2700000" algn="tl">
                    <a:srgbClr val="000000">
                      <a:alpha val="43137"/>
                    </a:srgbClr>
                  </a:outerShdw>
                </a:effectLst>
                <a:latin typeface="+mn-lt"/>
              </a:rPr>
              <a:t>Thank you</a:t>
            </a:r>
          </a:p>
        </p:txBody>
      </p:sp>
      <p:pic>
        <p:nvPicPr>
          <p:cNvPr id="6" name="그림 5" descr="Our History | NTU Singapore">
            <a:extLst>
              <a:ext uri="{FF2B5EF4-FFF2-40B4-BE49-F238E27FC236}">
                <a16:creationId xmlns:a16="http://schemas.microsoft.com/office/drawing/2014/main" id="{E9E0B88F-374B-7E80-DD94-EFB95D7A6B6D}"/>
              </a:ext>
            </a:extLst>
          </p:cNvPr>
          <p:cNvPicPr>
            <a:picLocks noChangeAspect="1"/>
          </p:cNvPicPr>
          <p:nvPr/>
        </p:nvPicPr>
        <p:blipFill>
          <a:blip r:embed="rId2"/>
          <a:srcRect l="11131" r="17029"/>
          <a:stretch>
            <a:fillRect/>
          </a:stretch>
        </p:blipFill>
        <p:spPr>
          <a:xfrm>
            <a:off x="6150864" y="0"/>
            <a:ext cx="3264185" cy="2724662"/>
          </a:xfrm>
          <a:prstGeom prst="rect">
            <a:avLst/>
          </a:prstGeom>
          <a:effectLst>
            <a:softEdge rad="635000"/>
          </a:effectLst>
        </p:spPr>
      </p:pic>
      <p:pic>
        <p:nvPicPr>
          <p:cNvPr id="7" name="그림 6" descr="Exploring Nanyang Technological University | IAMCR">
            <a:extLst>
              <a:ext uri="{FF2B5EF4-FFF2-40B4-BE49-F238E27FC236}">
                <a16:creationId xmlns:a16="http://schemas.microsoft.com/office/drawing/2014/main" id="{C30B85B9-B05A-0E2F-0B30-9F0585B50FE1}"/>
              </a:ext>
            </a:extLst>
          </p:cNvPr>
          <p:cNvPicPr>
            <a:picLocks noChangeAspect="1"/>
          </p:cNvPicPr>
          <p:nvPr/>
        </p:nvPicPr>
        <p:blipFill>
          <a:blip r:embed="rId3"/>
          <a:stretch>
            <a:fillRect/>
          </a:stretch>
        </p:blipFill>
        <p:spPr>
          <a:xfrm>
            <a:off x="-137160" y="2461386"/>
            <a:ext cx="3892296" cy="2594864"/>
          </a:xfrm>
          <a:prstGeom prst="rect">
            <a:avLst/>
          </a:prstGeom>
          <a:effectLst>
            <a:softEdge rad="635000"/>
          </a:effectLst>
        </p:spPr>
      </p:pic>
    </p:spTree>
    <p:extLst>
      <p:ext uri="{BB962C8B-B14F-4D97-AF65-F5344CB8AC3E}">
        <p14:creationId xmlns:p14="http://schemas.microsoft.com/office/powerpoint/2010/main" val="3435250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28E816AC679FF4C86C22834E825BD05" ma:contentTypeVersion="1" ma:contentTypeDescription="Create a new document." ma:contentTypeScope="" ma:versionID="066e42d507d75a122d0db91dd470f30a">
  <xsd:schema xmlns:xsd="http://www.w3.org/2001/XMLSchema" xmlns:xs="http://www.w3.org/2001/XMLSchema" xmlns:p="http://schemas.microsoft.com/office/2006/metadata/properties" xmlns:ns1="http://schemas.microsoft.com/sharepoint/v3" targetNamespace="http://schemas.microsoft.com/office/2006/metadata/properties" ma:root="true" ma:fieldsID="48c5b5cd9b8d25ff6dd15848836f4270"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4D3FE7-A0C8-4453-A806-BCAD6F53B901}">
  <ds:schemaRefs>
    <ds:schemaRef ds:uri="http://schemas.microsoft.com/office/infopath/2007/PartnerControls"/>
    <ds:schemaRef ds:uri="http://schemas.microsoft.com/office/2006/documentManagement/types"/>
    <ds:schemaRef ds:uri="http://purl.org/dc/dcmitype/"/>
    <ds:schemaRef ds:uri="http://purl.org/dc/terms/"/>
    <ds:schemaRef ds:uri="http://purl.org/dc/elements/1.1/"/>
    <ds:schemaRef ds:uri="http://schemas.openxmlformats.org/package/2006/metadata/core-properties"/>
    <ds:schemaRef ds:uri="http://schemas.microsoft.com/sharepoint/v3"/>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6CCB8030-6F99-446F-BD3B-E5E3F435F1FD}">
  <ds:schemaRefs>
    <ds:schemaRef ds:uri="http://schemas.microsoft.com/sharepoint/v3/contenttype/forms"/>
  </ds:schemaRefs>
</ds:datastoreItem>
</file>

<file path=customXml/itemProps3.xml><?xml version="1.0" encoding="utf-8"?>
<ds:datastoreItem xmlns:ds="http://schemas.openxmlformats.org/officeDocument/2006/customXml" ds:itemID="{AFA540F8-4ACB-4DC8-920F-A3CE5A42B9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20549</TotalTime>
  <Words>1350</Words>
  <Application>Microsoft Office PowerPoint</Application>
  <PresentationFormat>On-screen Show (16:9)</PresentationFormat>
  <Paragraphs>287</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From Education to Career:  AI-Based Career Recommendation System</vt:lpstr>
      <vt:lpstr>Table of contents</vt:lpstr>
      <vt:lpstr>01 Introduction</vt:lpstr>
      <vt:lpstr>01 Introduction</vt:lpstr>
      <vt:lpstr>01 Introduction</vt:lpstr>
      <vt:lpstr>02 Methodology</vt:lpstr>
      <vt:lpstr>02 Methodology</vt:lpstr>
      <vt:lpstr>02 Methodology</vt:lpstr>
      <vt:lpstr>03 AI Application </vt:lpstr>
      <vt:lpstr>03 AI Application </vt:lpstr>
      <vt:lpstr>03 AI Application </vt:lpstr>
      <vt:lpstr>03 AI Application </vt:lpstr>
      <vt:lpstr>04 Results </vt:lpstr>
      <vt:lpstr>04 Results </vt:lpstr>
      <vt:lpstr>05 Discussion </vt:lpstr>
      <vt:lpstr>05 Discussion </vt:lpstr>
      <vt:lpstr>06 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and Analysis of Metamaterial for Vibration Control</dc:title>
  <dc:creator>#ZHANG JIAZHEN#</dc:creator>
  <cp:lastModifiedBy>#NGUYEN THIEN AN#</cp:lastModifiedBy>
  <cp:revision>594</cp:revision>
  <cp:lastPrinted>2024-08-10T08:28:50Z</cp:lastPrinted>
  <dcterms:created xsi:type="dcterms:W3CDTF">2017-05-14T01:29:56Z</dcterms:created>
  <dcterms:modified xsi:type="dcterms:W3CDTF">2026-10-22T07:45:18Z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0x010100E28E816AC679FF4C86C22834E825BD05</vt:lpwstr>
  </property>
</Properties>
</file>