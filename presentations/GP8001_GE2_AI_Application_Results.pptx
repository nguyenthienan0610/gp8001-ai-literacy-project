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3"/>
  </p:notesMasterIdLst>
  <p:handoutMasterIdLst>
    <p:handoutMasterId r:id="rId24"/>
  </p:handoutMasterIdLst>
  <p:sldIdLst>
    <p:sldId id="259" r:id="rId5"/>
    <p:sldId id="459" r:id="rId6"/>
    <p:sldId id="487" r:id="rId7"/>
    <p:sldId id="488" r:id="rId8"/>
    <p:sldId id="489" r:id="rId9"/>
    <p:sldId id="490" r:id="rId10"/>
    <p:sldId id="491" r:id="rId11"/>
    <p:sldId id="492" r:id="rId12"/>
    <p:sldId id="493" r:id="rId13"/>
    <p:sldId id="495" r:id="rId14"/>
    <p:sldId id="494" r:id="rId15"/>
    <p:sldId id="501" r:id="rId16"/>
    <p:sldId id="496" r:id="rId17"/>
    <p:sldId id="497" r:id="rId18"/>
    <p:sldId id="498" r:id="rId19"/>
    <p:sldId id="499" r:id="rId20"/>
    <p:sldId id="500" r:id="rId21"/>
    <p:sldId id="351" r:id="rId22"/>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기본 구역" id="{162A7457-63A4-4FA5-A5FE-EF022AC61CB8}">
          <p14:sldIdLst>
            <p14:sldId id="259"/>
            <p14:sldId id="459"/>
          </p14:sldIdLst>
        </p14:section>
        <p14:section name="Introduction" id="{05B3D7C6-CCCF-434D-81C4-479EB2687557}">
          <p14:sldIdLst>
            <p14:sldId id="487"/>
            <p14:sldId id="488"/>
            <p14:sldId id="489"/>
          </p14:sldIdLst>
        </p14:section>
        <p14:section name="Methodology" id="{05A4AFF5-CF4A-4A51-A04D-068493478CD9}">
          <p14:sldIdLst>
            <p14:sldId id="490"/>
            <p14:sldId id="491"/>
            <p14:sldId id="492"/>
          </p14:sldIdLst>
        </p14:section>
        <p14:section name="AI Application" id="{E090A2F8-1D36-410E-B1A5-636875E1E38F}">
          <p14:sldIdLst>
            <p14:sldId id="493"/>
            <p14:sldId id="495"/>
            <p14:sldId id="494"/>
            <p14:sldId id="501"/>
          </p14:sldIdLst>
        </p14:section>
        <p14:section name="Result" id="{1CC235C1-FE21-4A97-81A0-E9B800C7C9A1}">
          <p14:sldIdLst>
            <p14:sldId id="496"/>
            <p14:sldId id="497"/>
          </p14:sldIdLst>
        </p14:section>
        <p14:section name="Discussion" id="{4E7B9B58-CB9D-4770-B5D7-61576BA6CC15}">
          <p14:sldIdLst>
            <p14:sldId id="498"/>
            <p14:sldId id="499"/>
          </p14:sldIdLst>
        </p14:section>
        <p14:section name="Conclusion" id="{C8830391-8B7E-4CBB-8CB5-5066C18F9A82}">
          <p14:sldIdLst>
            <p14:sldId id="500"/>
            <p14:sldId id="351"/>
          </p14:sldIdLst>
        </p14:section>
      </p14:sectionLst>
    </p:ex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81C62"/>
    <a:srgbClr val="D71440"/>
    <a:srgbClr val="C6C6C6"/>
    <a:srgbClr val="044B9B"/>
    <a:srgbClr val="0250A1"/>
    <a:srgbClr val="FFFFFF"/>
    <a:srgbClr val="F79646"/>
    <a:srgbClr val="0372C2"/>
    <a:srgbClr val="FFFF99"/>
    <a:srgbClr val="99FF66"/>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797" autoAdjust="0"/>
    <p:restoredTop sz="88060" autoAdjust="0"/>
  </p:normalViewPr>
  <p:slideViewPr>
    <p:cSldViewPr snapToGrid="0" snapToObjects="1">
      <p:cViewPr varScale="1">
        <p:scale>
          <a:sx n="195" d="100"/>
          <a:sy n="195" d="100"/>
        </p:scale>
        <p:origin x="728" y="112"/>
      </p:cViewPr>
      <p:guideLst>
        <p:guide orient="horz" pos="1620"/>
        <p:guide pos="2880"/>
      </p:guideLst>
    </p:cSldViewPr>
  </p:slideViewPr>
  <p:outlineViewPr>
    <p:cViewPr>
      <p:scale>
        <a:sx n="33" d="100"/>
        <a:sy n="33" d="100"/>
      </p:scale>
      <p:origin x="0" y="-1052"/>
    </p:cViewPr>
  </p:outlin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latin typeface="Arial"/>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1EFC5B3-379E-EF40-A0D2-38E640436CC2}" type="datetimeFigureOut">
              <a:rPr lang="en-US" smtClean="0">
                <a:latin typeface="Arial"/>
              </a:rPr>
              <a:t>10/22/2026</a:t>
            </a:fld>
            <a:endParaRPr lang="en-US" dirty="0">
              <a:latin typeface="Arial"/>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latin typeface="Arial"/>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A029101-7F9C-2D47-B95D-7561785BF174}" type="slidenum">
              <a:rPr lang="en-US" smtClean="0">
                <a:latin typeface="Arial"/>
              </a:rPr>
              <a:t>‹#›</a:t>
            </a:fld>
            <a:endParaRPr lang="en-US" dirty="0">
              <a:latin typeface="Arial"/>
            </a:endParaRPr>
          </a:p>
        </p:txBody>
      </p:sp>
    </p:spTree>
    <p:extLst>
      <p:ext uri="{BB962C8B-B14F-4D97-AF65-F5344CB8AC3E}">
        <p14:creationId xmlns:p14="http://schemas.microsoft.com/office/powerpoint/2010/main" val="39611757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C20F65-AD8A-450C-9CF3-746F4B0F2E7F}" type="datetimeFigureOut">
              <a:rPr lang="en-US" smtClean="0"/>
              <a:t>10/22/2026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AA2D71-53A4-4733-9771-F771EA6183E5}" type="slidenum">
              <a:rPr lang="en-US" smtClean="0"/>
              <a:t>‹#›</a:t>
            </a:fld>
            <a:endParaRPr lang="en-US"/>
          </a:p>
        </p:txBody>
      </p:sp>
    </p:spTree>
    <p:extLst>
      <p:ext uri="{BB962C8B-B14F-4D97-AF65-F5344CB8AC3E}">
        <p14:creationId xmlns:p14="http://schemas.microsoft.com/office/powerpoint/2010/main" val="1209847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BDAA2D71-53A4-4733-9771-F771EA6183E5}" type="slidenum">
              <a:rPr lang="en-US" smtClean="0"/>
              <a:t>1</a:t>
            </a:fld>
            <a:endParaRPr lang="en-US"/>
          </a:p>
        </p:txBody>
      </p:sp>
    </p:spTree>
    <p:extLst>
      <p:ext uri="{BB962C8B-B14F-4D97-AF65-F5344CB8AC3E}">
        <p14:creationId xmlns:p14="http://schemas.microsoft.com/office/powerpoint/2010/main" val="35518153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AA2D71-53A4-4733-9771-F771EA6183E5}" type="slidenum">
              <a:rPr lang="en-US" smtClean="0"/>
              <a:t>2</a:t>
            </a:fld>
            <a:endParaRPr lang="en-US"/>
          </a:p>
        </p:txBody>
      </p:sp>
    </p:spTree>
    <p:extLst>
      <p:ext uri="{BB962C8B-B14F-4D97-AF65-F5344CB8AC3E}">
        <p14:creationId xmlns:p14="http://schemas.microsoft.com/office/powerpoint/2010/main" val="4453170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FB043-03E1-A6AD-687B-023F15D487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A1C1FC-CAE3-0C56-6FE3-752665C53BFA}"/>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E1FA5769-757F-979B-8390-68089A6E584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8392C0E-CE5E-2D6C-1035-7B68DC8E99B7}"/>
              </a:ext>
            </a:extLst>
          </p:cNvPr>
          <p:cNvSpPr>
            <a:spLocks noGrp="1"/>
          </p:cNvSpPr>
          <p:nvPr>
            <p:ph type="sldNum" sz="quarter" idx="5"/>
          </p:nvPr>
        </p:nvSpPr>
        <p:spPr/>
        <p:txBody>
          <a:bodyPr/>
          <a:lstStyle/>
          <a:p>
            <a:fld id="{BDAA2D71-53A4-4733-9771-F771EA6183E5}" type="slidenum">
              <a:rPr lang="en-US" smtClean="0"/>
              <a:t>3</a:t>
            </a:fld>
            <a:endParaRPr lang="en-US"/>
          </a:p>
        </p:txBody>
      </p:sp>
    </p:spTree>
    <p:extLst>
      <p:ext uri="{BB962C8B-B14F-4D97-AF65-F5344CB8AC3E}">
        <p14:creationId xmlns:p14="http://schemas.microsoft.com/office/powerpoint/2010/main" val="2942745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EBE60-5BA2-DB2D-A78E-06DF14830B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07EDC-AB15-87C4-4EFC-AAE3D7135CF8}"/>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EA9D08D-789E-819A-311F-A4984F8313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E106D98-BA1B-7959-FE14-C1FB917A08AE}"/>
              </a:ext>
            </a:extLst>
          </p:cNvPr>
          <p:cNvSpPr>
            <a:spLocks noGrp="1"/>
          </p:cNvSpPr>
          <p:nvPr>
            <p:ph type="sldNum" sz="quarter" idx="5"/>
          </p:nvPr>
        </p:nvSpPr>
        <p:spPr/>
        <p:txBody>
          <a:bodyPr/>
          <a:lstStyle/>
          <a:p>
            <a:fld id="{BDAA2D71-53A4-4733-9771-F771EA6183E5}" type="slidenum">
              <a:rPr lang="en-US" smtClean="0"/>
              <a:t>4</a:t>
            </a:fld>
            <a:endParaRPr lang="en-US"/>
          </a:p>
        </p:txBody>
      </p:sp>
    </p:spTree>
    <p:extLst>
      <p:ext uri="{BB962C8B-B14F-4D97-AF65-F5344CB8AC3E}">
        <p14:creationId xmlns:p14="http://schemas.microsoft.com/office/powerpoint/2010/main" val="2013367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0F484-222D-B1CB-5415-74F6C34496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4DA595-D4B5-D574-1982-8949EA657DF2}"/>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8E339B4A-486B-6C37-1A97-A0490C2DFFF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0B28294-760B-36A7-BEF5-DA6734250CAF}"/>
              </a:ext>
            </a:extLst>
          </p:cNvPr>
          <p:cNvSpPr>
            <a:spLocks noGrp="1"/>
          </p:cNvSpPr>
          <p:nvPr>
            <p:ph type="sldNum" sz="quarter" idx="5"/>
          </p:nvPr>
        </p:nvSpPr>
        <p:spPr/>
        <p:txBody>
          <a:bodyPr/>
          <a:lstStyle/>
          <a:p>
            <a:fld id="{BDAA2D71-53A4-4733-9771-F771EA6183E5}" type="slidenum">
              <a:rPr lang="en-US" smtClean="0"/>
              <a:t>5</a:t>
            </a:fld>
            <a:endParaRPr lang="en-US"/>
          </a:p>
        </p:txBody>
      </p:sp>
    </p:spTree>
    <p:extLst>
      <p:ext uri="{BB962C8B-B14F-4D97-AF65-F5344CB8AC3E}">
        <p14:creationId xmlns:p14="http://schemas.microsoft.com/office/powerpoint/2010/main" val="11900709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9A59B-802A-0D51-E05F-9AD20DC24E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D63F3A-A8C0-B4DA-A3FF-1BCA518E8F0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E869FCE6-36A5-954D-08A8-AC9C8AD06F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87C5C8-34C8-D5CC-4C10-F63B89DCCED1}"/>
              </a:ext>
            </a:extLst>
          </p:cNvPr>
          <p:cNvSpPr>
            <a:spLocks noGrp="1"/>
          </p:cNvSpPr>
          <p:nvPr>
            <p:ph type="sldNum" sz="quarter" idx="5"/>
          </p:nvPr>
        </p:nvSpPr>
        <p:spPr/>
        <p:txBody>
          <a:bodyPr/>
          <a:lstStyle/>
          <a:p>
            <a:fld id="{BDAA2D71-53A4-4733-9771-F771EA6183E5}" type="slidenum">
              <a:rPr lang="en-US" smtClean="0"/>
              <a:t>6</a:t>
            </a:fld>
            <a:endParaRPr lang="en-US"/>
          </a:p>
        </p:txBody>
      </p:sp>
    </p:spTree>
    <p:extLst>
      <p:ext uri="{BB962C8B-B14F-4D97-AF65-F5344CB8AC3E}">
        <p14:creationId xmlns:p14="http://schemas.microsoft.com/office/powerpoint/2010/main" val="4289265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CC385-7101-C2F4-C5CB-493542E41C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4F0A9B-69F6-8D06-8C1F-8EF1BE03A5AC}"/>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C6A9BF2A-3DA6-551A-4F52-F6944956EF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84A4EA6-4C70-1E53-5222-265D816C6FC4}"/>
              </a:ext>
            </a:extLst>
          </p:cNvPr>
          <p:cNvSpPr>
            <a:spLocks noGrp="1"/>
          </p:cNvSpPr>
          <p:nvPr>
            <p:ph type="sldNum" sz="quarter" idx="5"/>
          </p:nvPr>
        </p:nvSpPr>
        <p:spPr/>
        <p:txBody>
          <a:bodyPr/>
          <a:lstStyle/>
          <a:p>
            <a:fld id="{BDAA2D71-53A4-4733-9771-F771EA6183E5}" type="slidenum">
              <a:rPr lang="en-US" smtClean="0"/>
              <a:t>7</a:t>
            </a:fld>
            <a:endParaRPr lang="en-US"/>
          </a:p>
        </p:txBody>
      </p:sp>
    </p:spTree>
    <p:extLst>
      <p:ext uri="{BB962C8B-B14F-4D97-AF65-F5344CB8AC3E}">
        <p14:creationId xmlns:p14="http://schemas.microsoft.com/office/powerpoint/2010/main" val="22251607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324626-12CE-49A6-7190-418DBAE33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B82C69-F9B8-F93E-AD5B-ADF872421909}"/>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015F11E-206B-436F-FC58-B4C6AABE57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999254A-A3AD-4DD1-D4A3-C017FDDDD35E}"/>
              </a:ext>
            </a:extLst>
          </p:cNvPr>
          <p:cNvSpPr>
            <a:spLocks noGrp="1"/>
          </p:cNvSpPr>
          <p:nvPr>
            <p:ph type="sldNum" sz="quarter" idx="5"/>
          </p:nvPr>
        </p:nvSpPr>
        <p:spPr/>
        <p:txBody>
          <a:bodyPr/>
          <a:lstStyle/>
          <a:p>
            <a:fld id="{BDAA2D71-53A4-4733-9771-F771EA6183E5}" type="slidenum">
              <a:rPr lang="en-US" smtClean="0"/>
              <a:t>8</a:t>
            </a:fld>
            <a:endParaRPr lang="en-US"/>
          </a:p>
        </p:txBody>
      </p:sp>
    </p:spTree>
    <p:extLst>
      <p:ext uri="{BB962C8B-B14F-4D97-AF65-F5344CB8AC3E}">
        <p14:creationId xmlns:p14="http://schemas.microsoft.com/office/powerpoint/2010/main" val="36548105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AFA717-25F9-F3AA-62A1-A34A92CFE6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F40520-0D0A-4C0A-710B-6C7125CA98FA}"/>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867AC8E9-6682-D3F6-D3C9-FB63808AB71E}"/>
              </a:ext>
            </a:extLst>
          </p:cNvPr>
          <p:cNvSpPr>
            <a:spLocks noGrp="1"/>
          </p:cNvSpPr>
          <p:nvPr>
            <p:ph type="body" idx="1"/>
          </p:nvPr>
        </p:nvSpPr>
        <p:spPr/>
        <p:txBody>
          <a:bodyPr/>
          <a:lstStyle/>
          <a:p>
            <a:pPr algn="l">
              <a:lnSpc>
                <a:spcPct val="105000"/>
              </a:lnSpc>
              <a:spcAft>
                <a:spcPts val="0"/>
              </a:spcAft>
              <a:buNone/>
            </a:pPr>
            <a:r>
              <a:rPr lang="en-SG" sz="1200" b="0">
                <a:solidFill>
                  <a:srgbClr val="000000"/>
                </a:solidFill>
                <a:latin typeface="Times New Roman"/>
                <a:ea typeface="Times New Roman"/>
                <a:cs typeface="Times New Roman"/>
              </a:rPr>
              <a:t>Our application takes a person's profile and returns three ranked careers to explore. The project contains 15,000 profiles, 18 inputs, and 22 career labels. We already have a working CSV prototype. We tested whether more complex models improve its recommendations. The main question is whether they can choose the right career first, rather than simply recover the right group of careers.</a:t>
            </a:r>
            <a:endParaRPr lang="en-SG" sz="1200"/>
          </a:p>
        </p:txBody>
      </p:sp>
      <p:sp>
        <p:nvSpPr>
          <p:cNvPr id="4" name="Slide Number Placeholder 3">
            <a:extLst>
              <a:ext uri="{FF2B5EF4-FFF2-40B4-BE49-F238E27FC236}">
                <a16:creationId xmlns:a16="http://schemas.microsoft.com/office/drawing/2014/main" id="{E282719D-9B94-76B4-A63E-C5CAA8AEF63D}"/>
              </a:ext>
            </a:extLst>
          </p:cNvPr>
          <p:cNvSpPr>
            <a:spLocks noGrp="1"/>
          </p:cNvSpPr>
          <p:nvPr>
            <p:ph type="sldNum" sz="quarter" idx="5"/>
          </p:nvPr>
        </p:nvSpPr>
        <p:spPr/>
        <p:txBody>
          <a:bodyPr/>
          <a:lstStyle/>
          <a:p>
            <a:fld id="{BDAA2D71-53A4-4733-9771-F771EA6183E5}" type="slidenum">
              <a:rPr lang="en-US" smtClean="0"/>
              <a:t>9</a:t>
            </a:fld>
            <a:endParaRPr lang="en-US"/>
          </a:p>
        </p:txBody>
      </p:sp>
    </p:spTree>
    <p:extLst>
      <p:ext uri="{BB962C8B-B14F-4D97-AF65-F5344CB8AC3E}">
        <p14:creationId xmlns:p14="http://schemas.microsoft.com/office/powerpoint/2010/main" val="29668579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C17C5-9AA5-9C45-D8AA-6EB171137A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252378-E8D3-C27B-3E1F-FBD5D10ABF39}"/>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EBF5A804-4FA8-0BB5-7FD5-F0CC30FA2A0F}"/>
              </a:ext>
            </a:extLst>
          </p:cNvPr>
          <p:cNvSpPr>
            <a:spLocks noGrp="1"/>
          </p:cNvSpPr>
          <p:nvPr>
            <p:ph type="body" idx="1"/>
          </p:nvPr>
        </p:nvSpPr>
        <p:spPr/>
        <p:txBody>
          <a:bodyPr/>
          <a:lstStyle/>
          <a:p>
            <a:pPr algn="l">
              <a:lnSpc>
                <a:spcPct val="105000"/>
              </a:lnSpc>
              <a:spcAft>
                <a:spcPts val="0"/>
              </a:spcAft>
              <a:buNone/>
            </a:pPr>
            <a:r>
              <a:rPr lang="en-SG" sz="1200" b="0">
                <a:solidFill>
                  <a:srgbClr val="000000"/>
                </a:solidFill>
                <a:latin typeface="Times New Roman"/>
                <a:ea typeface="Times New Roman"/>
                <a:cs typeface="Times New Roman"/>
              </a:rPr>
              <a:t>The inputs cover education, skills, experience, and work preferences. Age and grades are numerical. We fill missing numbers and scale them. For the other fields, we split lists such as technical skills into terms and retain each term's field name. Missing text gets its own marker. Each model uses an appropriate encoding of these same inputs. Career interest identifies a broad family effectively, while choosing a particular career remains difficult.</a:t>
            </a:r>
            <a:endParaRPr lang="en-SG" sz="1200"/>
          </a:p>
        </p:txBody>
      </p:sp>
      <p:sp>
        <p:nvSpPr>
          <p:cNvPr id="4" name="Slide Number Placeholder 3">
            <a:extLst>
              <a:ext uri="{FF2B5EF4-FFF2-40B4-BE49-F238E27FC236}">
                <a16:creationId xmlns:a16="http://schemas.microsoft.com/office/drawing/2014/main" id="{6125B17B-8FE9-216E-E7EA-252BFDCFDFD2}"/>
              </a:ext>
            </a:extLst>
          </p:cNvPr>
          <p:cNvSpPr>
            <a:spLocks noGrp="1"/>
          </p:cNvSpPr>
          <p:nvPr>
            <p:ph type="sldNum" sz="quarter" idx="5"/>
          </p:nvPr>
        </p:nvSpPr>
        <p:spPr/>
        <p:txBody>
          <a:bodyPr/>
          <a:lstStyle/>
          <a:p>
            <a:fld id="{BDAA2D71-53A4-4733-9771-F771EA6183E5}" type="slidenum">
              <a:rPr lang="en-US" smtClean="0"/>
              <a:t>10</a:t>
            </a:fld>
            <a:endParaRPr lang="en-US"/>
          </a:p>
        </p:txBody>
      </p:sp>
    </p:spTree>
    <p:extLst>
      <p:ext uri="{BB962C8B-B14F-4D97-AF65-F5344CB8AC3E}">
        <p14:creationId xmlns:p14="http://schemas.microsoft.com/office/powerpoint/2010/main" val="40357641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B8C17-E61E-5752-4978-F266BF9D4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7D2963-10D7-A991-EE88-07D32187001E}"/>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3CE572C8-BE61-388C-B50A-F741B643C0C0}"/>
              </a:ext>
            </a:extLst>
          </p:cNvPr>
          <p:cNvSpPr>
            <a:spLocks noGrp="1"/>
          </p:cNvSpPr>
          <p:nvPr>
            <p:ph type="body" idx="1"/>
          </p:nvPr>
        </p:nvSpPr>
        <p:spPr/>
        <p:txBody>
          <a:bodyPr/>
          <a:lstStyle/>
          <a:p>
            <a:pPr algn="l">
              <a:lnSpc>
                <a:spcPct val="105000"/>
              </a:lnSpc>
              <a:spcAft>
                <a:spcPts val="0"/>
              </a:spcAft>
              <a:buNone/>
            </a:pPr>
            <a:r>
              <a:rPr lang="en-SG" sz="1200" b="0">
                <a:solidFill>
                  <a:srgbClr val="000000"/>
                </a:solidFill>
                <a:latin typeface="Times New Roman"/>
                <a:ea typeface="Times New Roman"/>
                <a:cs typeface="Times New Roman"/>
              </a:rPr>
              <a:t>We compared three traditional machine learning models. Logistic regression learns a weight for each encoded feature and converts the resulting scores into probabilities for the 22 careers. We use TF-IDF features and regularisation C equal to 16. This is the model currently used by our CSV prototype.</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Random Forest averages predictions from 500 decision trees. Different trees use different training samples and feature choices, allowing the ensemble to capture nonlinear patterns. Extra Trees also uses 500 trees, with additional randomness in the split thresholds. Both tree models use binary feature presence and require at least two training profiles in each leaf.</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All models are evaluated using the same five stratified folds, with 12,000 training profiles and 3,000 test profiles per fold. Preprocessing is fitted on the training data for each fold.</a:t>
            </a:r>
            <a:endParaRPr lang="en-SG" sz="1200"/>
          </a:p>
        </p:txBody>
      </p:sp>
      <p:sp>
        <p:nvSpPr>
          <p:cNvPr id="4" name="Slide Number Placeholder 3">
            <a:extLst>
              <a:ext uri="{FF2B5EF4-FFF2-40B4-BE49-F238E27FC236}">
                <a16:creationId xmlns:a16="http://schemas.microsoft.com/office/drawing/2014/main" id="{AF6787EE-93F5-76F4-2E41-AA953044204E}"/>
              </a:ext>
            </a:extLst>
          </p:cNvPr>
          <p:cNvSpPr>
            <a:spLocks noGrp="1"/>
          </p:cNvSpPr>
          <p:nvPr>
            <p:ph type="sldNum" sz="quarter" idx="5"/>
          </p:nvPr>
        </p:nvSpPr>
        <p:spPr/>
        <p:txBody>
          <a:bodyPr/>
          <a:lstStyle/>
          <a:p>
            <a:fld id="{BDAA2D71-53A4-4733-9771-F771EA6183E5}" type="slidenum">
              <a:rPr lang="en-US" smtClean="0"/>
              <a:t>11</a:t>
            </a:fld>
            <a:endParaRPr lang="en-US"/>
          </a:p>
        </p:txBody>
      </p:sp>
    </p:spTree>
    <p:extLst>
      <p:ext uri="{BB962C8B-B14F-4D97-AF65-F5344CB8AC3E}">
        <p14:creationId xmlns:p14="http://schemas.microsoft.com/office/powerpoint/2010/main" val="1623252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A49C91-3D4F-0AD9-5722-8100F12FC5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9CB534-457A-B244-E781-4CECC132A10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1C727EED-3F79-9425-0CCE-488D4C0F88C6}"/>
              </a:ext>
            </a:extLst>
          </p:cNvPr>
          <p:cNvSpPr>
            <a:spLocks noGrp="1"/>
          </p:cNvSpPr>
          <p:nvPr>
            <p:ph type="body" idx="1"/>
          </p:nvPr>
        </p:nvSpPr>
        <p:spPr/>
        <p:txBody>
          <a:bodyPr/>
          <a:lstStyle/>
          <a:p>
            <a:pPr algn="l">
              <a:lnSpc>
                <a:spcPct val="105000"/>
              </a:lnSpc>
              <a:spcAft>
                <a:spcPts val="0"/>
              </a:spcAft>
              <a:buNone/>
            </a:pPr>
            <a:r>
              <a:rPr lang="en-SG" sz="1200" b="0">
                <a:solidFill>
                  <a:srgbClr val="000000"/>
                </a:solidFill>
                <a:latin typeface="Times New Roman"/>
                <a:ea typeface="Times New Roman"/>
                <a:cs typeface="Times New Roman"/>
              </a:rPr>
              <a:t>We also tested more complex deep learning approaches. The deep MLP passes encoded features through three or five hidden layers to learn nonlinear combinations. It uses GELU activations, LayerNorm and dropout, with about 68,000 to 227,000 trainable parameters across the tested settings.</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The field Transformer represents each of the 18 original fields as a token, adds a classification token, and uses attention to combine information across fields. It uses four attention heads and two or four blocks, with about 30,000 to 109,000 parameters. It is trained from scratch.</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The wider experiment tested 18 configurations across these two families and a residual network, giving 90 trials over five folds. AdamW learning rates were 0.0003, 0.001 and 0.003. We varied dropout, weight decay, batch size and learning-rate schedules. Early stopping used patience 12 and a maximum of 60 epochs. Within each training fold, 9,600 profiles trained candidates and 2,400 selected settings and stopping epochs. The selected network was then refitted on all 12,000 training profiles before evaluation on the separate 3,000 test profiles. The next slide compares the deep MLP and Transformer with our three traditional models.</a:t>
            </a:r>
            <a:endParaRPr lang="en-SG" sz="1200"/>
          </a:p>
        </p:txBody>
      </p:sp>
      <p:sp>
        <p:nvSpPr>
          <p:cNvPr id="4" name="Slide Number Placeholder 3">
            <a:extLst>
              <a:ext uri="{FF2B5EF4-FFF2-40B4-BE49-F238E27FC236}">
                <a16:creationId xmlns:a16="http://schemas.microsoft.com/office/drawing/2014/main" id="{0E672589-63A6-29BA-4F0E-3852FF587DF4}"/>
              </a:ext>
            </a:extLst>
          </p:cNvPr>
          <p:cNvSpPr>
            <a:spLocks noGrp="1"/>
          </p:cNvSpPr>
          <p:nvPr>
            <p:ph type="sldNum" sz="quarter" idx="5"/>
          </p:nvPr>
        </p:nvSpPr>
        <p:spPr/>
        <p:txBody>
          <a:bodyPr/>
          <a:lstStyle/>
          <a:p>
            <a:fld id="{BDAA2D71-53A4-4733-9771-F771EA6183E5}" type="slidenum">
              <a:rPr lang="en-US" smtClean="0"/>
              <a:t>12</a:t>
            </a:fld>
            <a:endParaRPr lang="en-US"/>
          </a:p>
        </p:txBody>
      </p:sp>
    </p:spTree>
    <p:extLst>
      <p:ext uri="{BB962C8B-B14F-4D97-AF65-F5344CB8AC3E}">
        <p14:creationId xmlns:p14="http://schemas.microsoft.com/office/powerpoint/2010/main" val="15585085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A04B0D-BFF3-59AB-678D-355308B5CB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B3D12E-1929-0663-3BB4-90400EC42C6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3D39AD8D-DDDF-474B-1D5B-761196D1A3F1}"/>
              </a:ext>
            </a:extLst>
          </p:cNvPr>
          <p:cNvSpPr>
            <a:spLocks noGrp="1"/>
          </p:cNvSpPr>
          <p:nvPr>
            <p:ph type="body" idx="1"/>
          </p:nvPr>
        </p:nvSpPr>
        <p:spPr/>
        <p:txBody>
          <a:bodyPr/>
          <a:lstStyle/>
          <a:p>
            <a:pPr algn="l">
              <a:lnSpc>
                <a:spcPct val="105000"/>
              </a:lnSpc>
              <a:spcAft>
                <a:spcPts val="0"/>
              </a:spcAft>
              <a:buNone/>
            </a:pPr>
            <a:r>
              <a:rPr lang="en-SG" sz="1200" b="0">
                <a:solidFill>
                  <a:srgbClr val="000000"/>
                </a:solidFill>
                <a:latin typeface="Times New Roman"/>
                <a:ea typeface="Times New Roman"/>
                <a:cs typeface="Times New Roman"/>
              </a:rPr>
              <a:t>This comparison includes three traditional machine learning models and two tuned deep learning models. Logistic regression reached 32.82 percent Top-1 accuracy, followed by Random Forest at 32.49 percent and Extra Trees at 32.25 percent. The tuned deep MLP reached 32.32 percent and the field Transformer reached 32.23 percent. These are the two new neural families with the highest average Top-1 scores. The small accuracy differences do not establish a statistically significant winner.</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Logistic regression also achieved the highest macro-F1, which gives every career equal weight. Top-1 checks the first suggestion, while Top-3 checks whether the recorded label appears anywhere in three suggestions. Top-3 stays high because the models identify career groups more reliably than individual careers.</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
            </a: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The neural networks select their settings within each training fold, so their configurations can differ between folds. These results do not show an advantage from added neural-network complexity. The CSV application continues to use its saved logistic regression model.</a:t>
            </a:r>
            <a:endParaRPr lang="en-SG" sz="1200"/>
          </a:p>
        </p:txBody>
      </p:sp>
      <p:sp>
        <p:nvSpPr>
          <p:cNvPr id="4" name="Slide Number Placeholder 3">
            <a:extLst>
              <a:ext uri="{FF2B5EF4-FFF2-40B4-BE49-F238E27FC236}">
                <a16:creationId xmlns:a16="http://schemas.microsoft.com/office/drawing/2014/main" id="{CDC33C9D-6283-4761-FB79-1D1F2BBB3B1E}"/>
              </a:ext>
            </a:extLst>
          </p:cNvPr>
          <p:cNvSpPr>
            <a:spLocks noGrp="1"/>
          </p:cNvSpPr>
          <p:nvPr>
            <p:ph type="sldNum" sz="quarter" idx="5"/>
          </p:nvPr>
        </p:nvSpPr>
        <p:spPr/>
        <p:txBody>
          <a:bodyPr/>
          <a:lstStyle/>
          <a:p>
            <a:fld id="{BDAA2D71-53A4-4733-9771-F771EA6183E5}" type="slidenum">
              <a:rPr lang="en-US" smtClean="0"/>
              <a:t>13</a:t>
            </a:fld>
            <a:endParaRPr lang="en-US"/>
          </a:p>
        </p:txBody>
      </p:sp>
    </p:spTree>
    <p:extLst>
      <p:ext uri="{BB962C8B-B14F-4D97-AF65-F5344CB8AC3E}">
        <p14:creationId xmlns:p14="http://schemas.microsoft.com/office/powerpoint/2010/main" val="1953925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5A1E-90E8-73C2-54F9-ADB8D65DD7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231418-90BE-9384-002F-11C0E42BF50B}"/>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D49E7F0-47FA-465F-F719-0354A2393C1F}"/>
              </a:ext>
            </a:extLst>
          </p:cNvPr>
          <p:cNvSpPr>
            <a:spLocks noGrp="1"/>
          </p:cNvSpPr>
          <p:nvPr>
            <p:ph type="body" idx="1"/>
          </p:nvPr>
        </p:nvSpPr>
        <p:spPr/>
        <p:txBody>
          <a:bodyPr/>
          <a:lstStyle/>
          <a:p>
            <a:pPr algn="l">
              <a:lnSpc>
                <a:spcPct val="105000"/>
              </a:lnSpc>
              <a:spcAft>
                <a:spcPts val="0"/>
              </a:spcAft>
              <a:buNone/>
            </a:pPr>
            <a:r>
              <a:rPr lang="en-SG" sz="1200" b="0">
                <a:solidFill>
                  <a:srgbClr val="000000"/>
                </a:solidFill>
                <a:latin typeface="Times New Roman"/>
                <a:ea typeface="Times New Roman"/>
                <a:cs typeface="Times New Roman"/>
              </a:rPr>
              <a:t>Here is why the gap is so large. Among 2,140 Data Science profiles, the recorded careers are Data Analyst 719 times, Data Scientist 716 times, and Business Analyst 705 times. That is almost a one-third split. Choosing one label requires useful information to distinguish those careers. The tested models have limited success at that. A shortlist of three can contain all three labels.</a:t>
            </a:r>
            <a:endParaRPr lang="en-SG" sz="1200"/>
          </a:p>
          <a:p>
            <a:pPr algn="l">
              <a:lnSpc>
                <a:spcPct val="105000"/>
              </a:lnSpc>
              <a:spcAft>
                <a:spcPts val="0"/>
              </a:spcAft>
              <a:buNone/>
            </a:pPr>
            <a:endParaRPr lang="en-SG" sz="1200"/>
          </a:p>
          <a:p>
            <a:pPr algn="l">
              <a:lnSpc>
                <a:spcPct val="105000"/>
              </a:lnSpc>
              <a:spcAft>
                <a:spcPts val="0"/>
              </a:spcAft>
              <a:buNone/>
            </a:pPr>
            <a:r>
              <a:rPr lang="en-SG" sz="1200" b="0">
                <a:solidFill>
                  <a:srgbClr val="000000"/>
                </a:solidFill>
                <a:latin typeface="Times New Roman"/>
                <a:ea typeface="Times New Roman"/>
                <a:cs typeface="Times New Roman"/>
              </a:rPr>
              <a:t>Six of the seven interest groups have exactly three careers. Software Development has four and represents about 14.7 percent of the data, so three suggestions can still miss a label there. If careers were equally likely within each group, this structure would produce roughly 96.3 percent Top-3 coverage. That is an illustration, not a proven accuracy ceiling. Our results measure agreement with dataset labels. More informative data is needed to improve first choice and assess real career suitability.</a:t>
            </a:r>
            <a:endParaRPr lang="en-SG" sz="1200"/>
          </a:p>
        </p:txBody>
      </p:sp>
      <p:sp>
        <p:nvSpPr>
          <p:cNvPr id="4" name="Slide Number Placeholder 3">
            <a:extLst>
              <a:ext uri="{FF2B5EF4-FFF2-40B4-BE49-F238E27FC236}">
                <a16:creationId xmlns:a16="http://schemas.microsoft.com/office/drawing/2014/main" id="{A9B06C26-506B-1569-D01B-A6949662CD1A}"/>
              </a:ext>
            </a:extLst>
          </p:cNvPr>
          <p:cNvSpPr>
            <a:spLocks noGrp="1"/>
          </p:cNvSpPr>
          <p:nvPr>
            <p:ph type="sldNum" sz="quarter" idx="5"/>
          </p:nvPr>
        </p:nvSpPr>
        <p:spPr/>
        <p:txBody>
          <a:bodyPr/>
          <a:lstStyle/>
          <a:p>
            <a:fld id="{BDAA2D71-53A4-4733-9771-F771EA6183E5}" type="slidenum">
              <a:rPr lang="en-US" smtClean="0"/>
              <a:t>14</a:t>
            </a:fld>
            <a:endParaRPr lang="en-US"/>
          </a:p>
        </p:txBody>
      </p:sp>
    </p:spTree>
    <p:extLst>
      <p:ext uri="{BB962C8B-B14F-4D97-AF65-F5344CB8AC3E}">
        <p14:creationId xmlns:p14="http://schemas.microsoft.com/office/powerpoint/2010/main" val="23104408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029DF-3D99-68D9-A28A-05264C6FE2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DB721-420E-DAD1-E889-F6F2A4C0BB4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D554784-19B1-DB6C-F85E-8374953FCB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7A9DC-DE21-0059-7A25-1C72013E557D}"/>
              </a:ext>
            </a:extLst>
          </p:cNvPr>
          <p:cNvSpPr>
            <a:spLocks noGrp="1"/>
          </p:cNvSpPr>
          <p:nvPr>
            <p:ph type="sldNum" sz="quarter" idx="5"/>
          </p:nvPr>
        </p:nvSpPr>
        <p:spPr/>
        <p:txBody>
          <a:bodyPr/>
          <a:lstStyle/>
          <a:p>
            <a:fld id="{BDAA2D71-53A4-4733-9771-F771EA6183E5}" type="slidenum">
              <a:rPr lang="en-US" smtClean="0"/>
              <a:t>15</a:t>
            </a:fld>
            <a:endParaRPr lang="en-US"/>
          </a:p>
        </p:txBody>
      </p:sp>
    </p:spTree>
    <p:extLst>
      <p:ext uri="{BB962C8B-B14F-4D97-AF65-F5344CB8AC3E}">
        <p14:creationId xmlns:p14="http://schemas.microsoft.com/office/powerpoint/2010/main" val="76000012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76ED8-B491-0DD9-2651-E4FFCC9B17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F3E338-C5A1-4F3A-B361-B639261EDC29}"/>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12FE68B9-C560-A637-248A-25047FF0B17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BE651A-A11D-6EBC-B322-8E2E44AE59D6}"/>
              </a:ext>
            </a:extLst>
          </p:cNvPr>
          <p:cNvSpPr>
            <a:spLocks noGrp="1"/>
          </p:cNvSpPr>
          <p:nvPr>
            <p:ph type="sldNum" sz="quarter" idx="5"/>
          </p:nvPr>
        </p:nvSpPr>
        <p:spPr/>
        <p:txBody>
          <a:bodyPr/>
          <a:lstStyle/>
          <a:p>
            <a:fld id="{BDAA2D71-53A4-4733-9771-F771EA6183E5}" type="slidenum">
              <a:rPr lang="en-US" smtClean="0"/>
              <a:t>16</a:t>
            </a:fld>
            <a:endParaRPr lang="en-US"/>
          </a:p>
        </p:txBody>
      </p:sp>
    </p:spTree>
    <p:extLst>
      <p:ext uri="{BB962C8B-B14F-4D97-AF65-F5344CB8AC3E}">
        <p14:creationId xmlns:p14="http://schemas.microsoft.com/office/powerpoint/2010/main" val="41909420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7620D-9065-54E6-75C8-DA894F95E2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01F7FE-1A57-F5A6-17D6-8D793F67B7E4}"/>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CD93CC16-82EC-88BD-2B9A-3B19FD30626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D3F8588-4A3F-A1C7-7687-EAA9EDBD23AD}"/>
              </a:ext>
            </a:extLst>
          </p:cNvPr>
          <p:cNvSpPr>
            <a:spLocks noGrp="1"/>
          </p:cNvSpPr>
          <p:nvPr>
            <p:ph type="sldNum" sz="quarter" idx="5"/>
          </p:nvPr>
        </p:nvSpPr>
        <p:spPr/>
        <p:txBody>
          <a:bodyPr/>
          <a:lstStyle/>
          <a:p>
            <a:fld id="{BDAA2D71-53A4-4733-9771-F771EA6183E5}" type="slidenum">
              <a:rPr lang="en-US" smtClean="0"/>
              <a:t>17</a:t>
            </a:fld>
            <a:endParaRPr lang="en-US"/>
          </a:p>
        </p:txBody>
      </p:sp>
    </p:spTree>
    <p:extLst>
      <p:ext uri="{BB962C8B-B14F-4D97-AF65-F5344CB8AC3E}">
        <p14:creationId xmlns:p14="http://schemas.microsoft.com/office/powerpoint/2010/main" val="23454319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5"/>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9717498-E1F9-47A6-9FC7-8EACBE2A28AB}" type="datetime1">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37924057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9278648-83C5-4BE3-AB82-23E6C3470EA7}" type="datetime1">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14929431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3305176"/>
            <a:ext cx="8229600" cy="1021556"/>
          </a:xfrm>
        </p:spPr>
        <p:txBody>
          <a:bodyPr anchor="t"/>
          <a:lstStyle>
            <a:lvl1pPr algn="l">
              <a:defRPr sz="4000" b="1" cap="all"/>
            </a:lvl1pPr>
          </a:lstStyle>
          <a:p>
            <a:r>
              <a:rPr lang="en-US" dirty="0"/>
              <a:t>Click to edit Master title style</a:t>
            </a:r>
          </a:p>
        </p:txBody>
      </p:sp>
      <p:sp>
        <p:nvSpPr>
          <p:cNvPr id="3" name="Text Placeholder 2"/>
          <p:cNvSpPr>
            <a:spLocks noGrp="1"/>
          </p:cNvSpPr>
          <p:nvPr>
            <p:ph type="body" idx="1"/>
          </p:nvPr>
        </p:nvSpPr>
        <p:spPr>
          <a:xfrm>
            <a:off x="457200" y="2180035"/>
            <a:ext cx="8229600" cy="1125140"/>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2F5C010D-BB69-4ADD-A4F5-80337570F282}" type="datetime1">
              <a:rPr lang="en-US" smtClean="0"/>
              <a:t>10/22/2026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24265841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A99F6B1-4003-489D-BF3A-14B43B6CD867}" type="datetime1">
              <a:rPr lang="en-US" smtClean="0"/>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1061538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3" y="1391245"/>
            <a:ext cx="4040188" cy="47982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3" y="1871068"/>
            <a:ext cx="4040188" cy="272130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391245"/>
            <a:ext cx="4041775" cy="47982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871068"/>
            <a:ext cx="4041775" cy="272130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CB891CE-006B-48C0-B06C-D88B720DEA36}" type="datetime1">
              <a:rPr lang="en-US" smtClean="0"/>
              <a:t>10/22/2026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29834906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60799ABC-DD35-4BBC-9211-DD482B225FAC}" type="datetime1">
              <a:rPr lang="en-US" smtClean="0"/>
              <a:t>10/22/2026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19118491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407A069-5617-42B1-A848-68D2010E9707}" type="datetime1">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30644856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591463"/>
            <a:ext cx="3008313" cy="871538"/>
          </a:xfr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3575053" y="591470"/>
            <a:ext cx="5111751" cy="4048651"/>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5" y="1593860"/>
            <a:ext cx="3008313" cy="3046254"/>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1EAEDE14-C48F-4C76-94BE-B57772DD43B3}" type="datetime1">
              <a:rPr lang="en-US" smtClean="0"/>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41577747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1792288" y="4025509"/>
            <a:ext cx="5486400" cy="603647"/>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79A9293-B664-4187-99BF-A13DD8B1329C}" type="datetime1">
              <a:rPr lang="en-US" smtClean="0"/>
              <a:t>10/22/2026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20728996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22724"/>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416896"/>
            <a:ext cx="8229600" cy="290709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361530"/>
            <a:ext cx="2133600" cy="273844"/>
          </a:xfrm>
          <a:prstGeom prst="rect">
            <a:avLst/>
          </a:prstGeom>
        </p:spPr>
        <p:txBody>
          <a:bodyPr vert="horz" lIns="91440" tIns="45720" rIns="91440" bIns="45720" rtlCol="0" anchor="ctr"/>
          <a:lstStyle>
            <a:lvl1pPr algn="l">
              <a:defRPr sz="1200">
                <a:solidFill>
                  <a:schemeClr val="tx1">
                    <a:tint val="75000"/>
                  </a:schemeClr>
                </a:solidFill>
                <a:latin typeface="Arial"/>
              </a:defRPr>
            </a:lvl1pPr>
          </a:lstStyle>
          <a:p>
            <a:fld id="{8EADEA99-96C7-4967-B57C-3592CE65418D}" type="datetime1">
              <a:rPr lang="en-US" smtClean="0"/>
              <a:t>10/22/2026</a:t>
            </a:fld>
            <a:endParaRPr lang="en-US" dirty="0"/>
          </a:p>
        </p:txBody>
      </p:sp>
      <p:sp>
        <p:nvSpPr>
          <p:cNvPr id="5" name="Footer Placeholder 4"/>
          <p:cNvSpPr>
            <a:spLocks noGrp="1"/>
          </p:cNvSpPr>
          <p:nvPr>
            <p:ph type="ftr" sz="quarter" idx="3"/>
          </p:nvPr>
        </p:nvSpPr>
        <p:spPr>
          <a:xfrm>
            <a:off x="3124200" y="4361530"/>
            <a:ext cx="2895600" cy="273844"/>
          </a:xfrm>
          <a:prstGeom prst="rect">
            <a:avLst/>
          </a:prstGeom>
        </p:spPr>
        <p:txBody>
          <a:bodyPr vert="horz" lIns="91440" tIns="45720" rIns="91440" bIns="45720" rtlCol="0" anchor="ctr"/>
          <a:lstStyle>
            <a:lvl1pPr algn="ctr">
              <a:defRPr sz="1200">
                <a:solidFill>
                  <a:schemeClr val="tx1">
                    <a:tint val="75000"/>
                  </a:schemeClr>
                </a:solidFill>
                <a:latin typeface="Arial"/>
              </a:defRPr>
            </a:lvl1pPr>
          </a:lstStyle>
          <a:p>
            <a:endParaRPr lang="en-US" dirty="0"/>
          </a:p>
        </p:txBody>
      </p:sp>
      <p:sp>
        <p:nvSpPr>
          <p:cNvPr id="6" name="Slide Number Placeholder 5"/>
          <p:cNvSpPr>
            <a:spLocks noGrp="1"/>
          </p:cNvSpPr>
          <p:nvPr>
            <p:ph type="sldNum" sz="quarter" idx="4"/>
          </p:nvPr>
        </p:nvSpPr>
        <p:spPr>
          <a:xfrm>
            <a:off x="6553200" y="4361530"/>
            <a:ext cx="2133600" cy="273844"/>
          </a:xfrm>
          <a:prstGeom prst="rect">
            <a:avLst/>
          </a:prstGeom>
        </p:spPr>
        <p:txBody>
          <a:bodyPr vert="horz" lIns="91440" tIns="45720" rIns="91440" bIns="45720" rtlCol="0" anchor="ctr"/>
          <a:lstStyle>
            <a:lvl1pPr algn="r">
              <a:defRPr sz="1200" baseline="0">
                <a:solidFill>
                  <a:schemeClr val="tx1">
                    <a:tint val="75000"/>
                  </a:schemeClr>
                </a:solidFill>
                <a:latin typeface="Arial"/>
              </a:defRPr>
            </a:lvl1pPr>
          </a:lstStyle>
          <a:p>
            <a:fld id="{8E6562B1-0B0F-0246-9532-09536BC2AE59}" type="slidenum">
              <a:rPr lang="en-US" smtClean="0"/>
              <a:pPr/>
              <a:t>‹#›</a:t>
            </a:fld>
            <a:endParaRPr lang="en-US" dirty="0"/>
          </a:p>
        </p:txBody>
      </p:sp>
      <p:pic>
        <p:nvPicPr>
          <p:cNvPr id="7" name="Picture 6"/>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0" y="4872197"/>
            <a:ext cx="9144000" cy="286893"/>
          </a:xfrm>
          <a:prstGeom prst="rect">
            <a:avLst/>
          </a:prstGeom>
        </p:spPr>
      </p:pic>
    </p:spTree>
    <p:extLst>
      <p:ext uri="{BB962C8B-B14F-4D97-AF65-F5344CB8AC3E}">
        <p14:creationId xmlns:p14="http://schemas.microsoft.com/office/powerpoint/2010/main" val="6719309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hdr="0" ftr="0" dt="0"/>
  <p:txStyles>
    <p:titleStyle>
      <a:lvl1pPr algn="l" defTabSz="457189" rtl="0" eaLnBrk="1" latinLnBrk="0" hangingPunct="1">
        <a:spcBef>
          <a:spcPct val="0"/>
        </a:spcBef>
        <a:buNone/>
        <a:defRPr sz="4400" kern="1200">
          <a:solidFill>
            <a:schemeClr val="tx1"/>
          </a:solidFill>
          <a:latin typeface="Arial"/>
          <a:ea typeface="+mj-ea"/>
          <a:cs typeface="+mj-cs"/>
        </a:defRPr>
      </a:lvl1pPr>
    </p:titleStyle>
    <p:bodyStyle>
      <a:lvl1pPr marL="342891" indent="-342891" algn="l" defTabSz="457189" rtl="0" eaLnBrk="1" latinLnBrk="0" hangingPunct="1">
        <a:spcBef>
          <a:spcPct val="20000"/>
        </a:spcBef>
        <a:buFont typeface="Arial"/>
        <a:buChar char="•"/>
        <a:defRPr sz="3200" kern="1200">
          <a:solidFill>
            <a:schemeClr val="tx1"/>
          </a:solidFill>
          <a:latin typeface="Arial"/>
          <a:ea typeface="+mn-ea"/>
          <a:cs typeface="+mn-cs"/>
        </a:defRPr>
      </a:lvl1pPr>
      <a:lvl2pPr marL="742932" indent="-285744" algn="l" defTabSz="457189" rtl="0" eaLnBrk="1" latinLnBrk="0" hangingPunct="1">
        <a:spcBef>
          <a:spcPct val="20000"/>
        </a:spcBef>
        <a:buFont typeface="Arial"/>
        <a:buChar char="–"/>
        <a:defRPr sz="2800" kern="1200">
          <a:solidFill>
            <a:schemeClr val="tx1"/>
          </a:solidFill>
          <a:latin typeface="Arial"/>
          <a:ea typeface="+mn-ea"/>
          <a:cs typeface="+mn-cs"/>
        </a:defRPr>
      </a:lvl2pPr>
      <a:lvl3pPr marL="1142971" indent="-228594" algn="l" defTabSz="457189" rtl="0" eaLnBrk="1" latinLnBrk="0" hangingPunct="1">
        <a:spcBef>
          <a:spcPct val="20000"/>
        </a:spcBef>
        <a:buFont typeface="Arial"/>
        <a:buChar char="•"/>
        <a:defRPr sz="2400" kern="1200">
          <a:solidFill>
            <a:schemeClr val="tx1"/>
          </a:solidFill>
          <a:latin typeface="Arial"/>
          <a:ea typeface="+mn-ea"/>
          <a:cs typeface="+mn-cs"/>
        </a:defRPr>
      </a:lvl3pPr>
      <a:lvl4pPr marL="1600160" indent="-228594" algn="l" defTabSz="457189" rtl="0" eaLnBrk="1" latinLnBrk="0" hangingPunct="1">
        <a:spcBef>
          <a:spcPct val="20000"/>
        </a:spcBef>
        <a:buFont typeface="Arial"/>
        <a:buChar char="–"/>
        <a:defRPr sz="2000" kern="1200">
          <a:solidFill>
            <a:schemeClr val="tx1"/>
          </a:solidFill>
          <a:latin typeface="Arial"/>
          <a:ea typeface="+mn-ea"/>
          <a:cs typeface="+mn-cs"/>
        </a:defRPr>
      </a:lvl4pPr>
      <a:lvl5pPr marL="2057349" indent="-228594" algn="l" defTabSz="457189" rtl="0" eaLnBrk="1" latinLnBrk="0" hangingPunct="1">
        <a:spcBef>
          <a:spcPct val="20000"/>
        </a:spcBef>
        <a:buFont typeface="Arial"/>
        <a:buChar char="»"/>
        <a:defRPr sz="2000" kern="1200">
          <a:solidFill>
            <a:schemeClr val="tx1"/>
          </a:solidFill>
          <a:latin typeface="Arial"/>
          <a:ea typeface="+mn-ea"/>
          <a:cs typeface="+mn-cs"/>
        </a:defRPr>
      </a:lvl5pPr>
      <a:lvl6pPr marL="2514537" indent="-228594" algn="l" defTabSz="457189" rtl="0" eaLnBrk="1" latinLnBrk="0" hangingPunct="1">
        <a:spcBef>
          <a:spcPct val="20000"/>
        </a:spcBef>
        <a:buFont typeface="Arial"/>
        <a:buChar char="•"/>
        <a:defRPr sz="2000" kern="1200">
          <a:solidFill>
            <a:schemeClr val="tx1"/>
          </a:solidFill>
          <a:latin typeface="+mn-lt"/>
          <a:ea typeface="+mn-ea"/>
          <a:cs typeface="+mn-cs"/>
        </a:defRPr>
      </a:lvl6pPr>
      <a:lvl7pPr marL="2971726" indent="-228594" algn="l" defTabSz="457189" rtl="0" eaLnBrk="1" latinLnBrk="0" hangingPunct="1">
        <a:spcBef>
          <a:spcPct val="20000"/>
        </a:spcBef>
        <a:buFont typeface="Arial"/>
        <a:buChar char="•"/>
        <a:defRPr sz="2000" kern="1200">
          <a:solidFill>
            <a:schemeClr val="tx1"/>
          </a:solidFill>
          <a:latin typeface="+mn-lt"/>
          <a:ea typeface="+mn-ea"/>
          <a:cs typeface="+mn-cs"/>
        </a:defRPr>
      </a:lvl7pPr>
      <a:lvl8pPr marL="3428914" indent="-228594" algn="l" defTabSz="457189" rtl="0" eaLnBrk="1" latinLnBrk="0" hangingPunct="1">
        <a:spcBef>
          <a:spcPct val="20000"/>
        </a:spcBef>
        <a:buFont typeface="Arial"/>
        <a:buChar char="•"/>
        <a:defRPr sz="2000" kern="1200">
          <a:solidFill>
            <a:schemeClr val="tx1"/>
          </a:solidFill>
          <a:latin typeface="+mn-lt"/>
          <a:ea typeface="+mn-ea"/>
          <a:cs typeface="+mn-cs"/>
        </a:defRPr>
      </a:lvl8pPr>
      <a:lvl9pPr marL="3886103" indent="-228594" algn="l" defTabSz="457189"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3"/>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68306" y="1244381"/>
            <a:ext cx="4111713" cy="1243716"/>
          </a:xfrm>
        </p:spPr>
        <p:txBody>
          <a:bodyPr>
            <a:noAutofit/>
          </a:bodyPr>
          <a:lstStyle/>
          <a:p>
            <a:pPr algn="l"/>
            <a:r>
              <a:rPr lang="en-SG" sz="1600" b="1" dirty="0">
                <a:solidFill>
                  <a:schemeClr val="bg1"/>
                </a:solidFill>
                <a:cs typeface="Arial"/>
              </a:rPr>
              <a:t>From Education to Career: </a:t>
            </a:r>
            <a:br>
              <a:rPr lang="en-SG" sz="2400" b="1" dirty="0">
                <a:solidFill>
                  <a:schemeClr val="bg1"/>
                </a:solidFill>
                <a:cs typeface="Arial"/>
              </a:rPr>
            </a:br>
            <a:r>
              <a:rPr lang="en-SG" sz="2400" b="1" dirty="0">
                <a:solidFill>
                  <a:schemeClr val="bg1"/>
                </a:solidFill>
                <a:cs typeface="Arial"/>
              </a:rPr>
              <a:t>AI-Based Career Recommendation System</a:t>
            </a:r>
            <a:endParaRPr lang="en-US" sz="2400" b="1" dirty="0">
              <a:solidFill>
                <a:schemeClr val="bg1"/>
              </a:solidFill>
              <a:cs typeface="Arial"/>
            </a:endParaRPr>
          </a:p>
        </p:txBody>
      </p:sp>
      <p:sp>
        <p:nvSpPr>
          <p:cNvPr id="3" name="Subtitle 2"/>
          <p:cNvSpPr>
            <a:spLocks noGrp="1"/>
          </p:cNvSpPr>
          <p:nvPr>
            <p:ph type="subTitle" idx="1"/>
          </p:nvPr>
        </p:nvSpPr>
        <p:spPr>
          <a:xfrm>
            <a:off x="376093" y="3391849"/>
            <a:ext cx="5008720" cy="1575129"/>
          </a:xfrm>
        </p:spPr>
        <p:txBody>
          <a:bodyPr>
            <a:normAutofit/>
          </a:bodyPr>
          <a:lstStyle/>
          <a:p>
            <a:pPr algn="l"/>
            <a:r>
              <a:rPr lang="en-US" sz="1400" b="1" dirty="0">
                <a:solidFill>
                  <a:schemeClr val="bg1"/>
                </a:solidFill>
                <a:latin typeface="Arial" panose="020B0604020202020204" pitchFamily="34" charset="0"/>
                <a:cs typeface="Arial" panose="020B0604020202020204" pitchFamily="34" charset="0"/>
              </a:rPr>
              <a:t>GP8001, Group E-2</a:t>
            </a:r>
          </a:p>
          <a:p>
            <a:pPr algn="l"/>
            <a:r>
              <a:rPr lang="en-US" sz="1100" dirty="0">
                <a:solidFill>
                  <a:srgbClr val="FFFFFF"/>
                </a:solidFill>
                <a:cs typeface="Arial"/>
              </a:rPr>
              <a:t>HAN ZILIN</a:t>
            </a:r>
          </a:p>
          <a:p>
            <a:pPr algn="l"/>
            <a:r>
              <a:rPr lang="en-US" sz="1100" dirty="0">
                <a:solidFill>
                  <a:srgbClr val="FFFFFF"/>
                </a:solidFill>
                <a:cs typeface="Arial"/>
              </a:rPr>
              <a:t>HE YANGFAN</a:t>
            </a:r>
          </a:p>
          <a:p>
            <a:pPr algn="l"/>
            <a:r>
              <a:rPr lang="en-US" sz="1100" dirty="0">
                <a:solidFill>
                  <a:srgbClr val="FFFFFF"/>
                </a:solidFill>
                <a:cs typeface="Arial"/>
              </a:rPr>
              <a:t>NGUYEN THIEN AN</a:t>
            </a:r>
          </a:p>
          <a:p>
            <a:pPr algn="l"/>
            <a:r>
              <a:rPr lang="en-US" sz="1100" dirty="0">
                <a:solidFill>
                  <a:srgbClr val="FFFFFF"/>
                </a:solidFill>
                <a:cs typeface="Arial"/>
              </a:rPr>
              <a:t>PARK SEUNGWOO (G2609551C)</a:t>
            </a:r>
          </a:p>
          <a:p>
            <a:pPr algn="l"/>
            <a:r>
              <a:rPr lang="en-US" sz="1100" dirty="0">
                <a:solidFill>
                  <a:srgbClr val="FFFFFF"/>
                </a:solidFill>
                <a:cs typeface="Arial"/>
              </a:rPr>
              <a:t>LIM CHUAN ZHONG</a:t>
            </a:r>
          </a:p>
          <a:p>
            <a:pPr algn="l"/>
            <a:r>
              <a:rPr lang="en-US" sz="1100" dirty="0">
                <a:solidFill>
                  <a:srgbClr val="FFFFFF"/>
                </a:solidFill>
                <a:cs typeface="Arial"/>
              </a:rPr>
              <a:t>LI ZHENYING</a:t>
            </a:r>
          </a:p>
        </p:txBody>
      </p:sp>
      <p:sp>
        <p:nvSpPr>
          <p:cNvPr id="4" name="TextBox 3">
            <a:extLst>
              <a:ext uri="{FF2B5EF4-FFF2-40B4-BE49-F238E27FC236}">
                <a16:creationId xmlns:a16="http://schemas.microsoft.com/office/drawing/2014/main" id="{1D621AC5-9368-B527-EB48-C345FA66813F}"/>
              </a:ext>
            </a:extLst>
          </p:cNvPr>
          <p:cNvSpPr txBox="1"/>
          <p:nvPr/>
        </p:nvSpPr>
        <p:spPr>
          <a:xfrm>
            <a:off x="376093" y="2417861"/>
            <a:ext cx="4572000" cy="307777"/>
          </a:xfrm>
          <a:prstGeom prst="rect">
            <a:avLst/>
          </a:prstGeom>
          <a:noFill/>
        </p:spPr>
        <p:txBody>
          <a:bodyPr wrap="square">
            <a:spAutoFit/>
          </a:bodyPr>
          <a:lstStyle/>
          <a:p>
            <a:r>
              <a:rPr lang="en-US" sz="1400" i="1" dirty="0">
                <a:solidFill>
                  <a:srgbClr val="FFFFFF"/>
                </a:solidFill>
                <a:cs typeface="Arial"/>
              </a:rPr>
              <a:t>26</a:t>
            </a:r>
            <a:r>
              <a:rPr lang="en-US" sz="1400" i="1" baseline="30000" dirty="0">
                <a:solidFill>
                  <a:srgbClr val="FFFFFF"/>
                </a:solidFill>
                <a:cs typeface="Arial"/>
              </a:rPr>
              <a:t>th</a:t>
            </a:r>
            <a:r>
              <a:rPr lang="en-US" sz="1400" i="1" dirty="0">
                <a:solidFill>
                  <a:srgbClr val="FFFFFF"/>
                </a:solidFill>
                <a:cs typeface="Arial"/>
              </a:rPr>
              <a:t> Oct 2026</a:t>
            </a:r>
            <a:r>
              <a:rPr lang="en-US" sz="1400" b="1" dirty="0">
                <a:solidFill>
                  <a:schemeClr val="bg1"/>
                </a:solidFill>
                <a:latin typeface="Arial" panose="020B0604020202020204" pitchFamily="34" charset="0"/>
                <a:cs typeface="Arial" panose="020B0604020202020204" pitchFamily="34" charset="0"/>
              </a:rPr>
              <a:t> </a:t>
            </a:r>
            <a:endParaRPr lang="en-US" sz="14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979861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3EC55-45EF-4C8F-830D-1EE8176B3F0E}"/>
              </a:ext>
            </a:extLst>
          </p:cNvPr>
          <p:cNvSpPr>
            <a:spLocks noGrp="1"/>
          </p:cNvSpPr>
          <p:nvPr>
            <p:ph type="title"/>
          </p:nvPr>
        </p:nvSpPr>
        <p:spPr>
          <a:xfrm>
            <a:off x="5291615"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Table of contents</a:t>
            </a:r>
          </a:p>
        </p:txBody>
      </p:sp>
      <p:cxnSp>
        <p:nvCxnSpPr>
          <p:cNvPr id="28" name="Straight Connector 27">
            <a:extLst>
              <a:ext uri="{FF2B5EF4-FFF2-40B4-BE49-F238E27FC236}">
                <a16:creationId xmlns:a16="http://schemas.microsoft.com/office/drawing/2014/main" id="{6D6BEE81-929A-67B1-5347-B6A51FA2767E}"/>
              </a:ext>
            </a:extLst>
          </p:cNvPr>
          <p:cNvCxnSpPr>
            <a:cxnSpLocks/>
          </p:cNvCxnSpPr>
          <p:nvPr/>
        </p:nvCxnSpPr>
        <p:spPr>
          <a:xfrm>
            <a:off x="5291616" y="712002"/>
            <a:ext cx="3238647"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2" name="직사각형 31">
            <a:extLst>
              <a:ext uri="{FF2B5EF4-FFF2-40B4-BE49-F238E27FC236}">
                <a16:creationId xmlns:a16="http://schemas.microsoft.com/office/drawing/2014/main" id="{360AEF17-5E8B-1AA6-9906-B32E1D06A233}"/>
              </a:ext>
            </a:extLst>
          </p:cNvPr>
          <p:cNvSpPr/>
          <p:nvPr/>
        </p:nvSpPr>
        <p:spPr>
          <a:xfrm>
            <a:off x="8075771" y="-1"/>
            <a:ext cx="633046" cy="1060467"/>
          </a:xfrm>
          <a:prstGeom prst="rect">
            <a:avLst/>
          </a:prstGeom>
          <a:solidFill>
            <a:srgbClr val="181C6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solidFill>
                <a:srgbClr val="181C62"/>
              </a:solidFill>
              <a:effectLst>
                <a:outerShdw blurRad="38100" dist="38100" dir="2700000" algn="tl">
                  <a:srgbClr val="000000">
                    <a:alpha val="43137"/>
                  </a:srgbClr>
                </a:outerShdw>
              </a:effectLst>
            </a:endParaRPr>
          </a:p>
        </p:txBody>
      </p:sp>
      <p:grpSp>
        <p:nvGrpSpPr>
          <p:cNvPr id="35" name="그룹 34">
            <a:extLst>
              <a:ext uri="{FF2B5EF4-FFF2-40B4-BE49-F238E27FC236}">
                <a16:creationId xmlns:a16="http://schemas.microsoft.com/office/drawing/2014/main" id="{82D00DEC-9FD5-C8B6-4EA3-60B16F64AD69}"/>
              </a:ext>
            </a:extLst>
          </p:cNvPr>
          <p:cNvGrpSpPr/>
          <p:nvPr/>
        </p:nvGrpSpPr>
        <p:grpSpPr>
          <a:xfrm>
            <a:off x="0" y="702707"/>
            <a:ext cx="7770627" cy="4160740"/>
            <a:chOff x="0" y="756815"/>
            <a:chExt cx="7770627" cy="4160740"/>
          </a:xfrm>
        </p:grpSpPr>
        <p:grpSp>
          <p:nvGrpSpPr>
            <p:cNvPr id="19" name="그룹 18">
              <a:extLst>
                <a:ext uri="{FF2B5EF4-FFF2-40B4-BE49-F238E27FC236}">
                  <a16:creationId xmlns:a16="http://schemas.microsoft.com/office/drawing/2014/main" id="{7F7868B0-07BB-B788-1DE9-EF2F539A0A66}"/>
                </a:ext>
              </a:extLst>
            </p:cNvPr>
            <p:cNvGrpSpPr/>
            <p:nvPr/>
          </p:nvGrpSpPr>
          <p:grpSpPr>
            <a:xfrm>
              <a:off x="4577409" y="1192471"/>
              <a:ext cx="3193218" cy="3725084"/>
              <a:chOff x="4867784" y="1166679"/>
              <a:chExt cx="3193218" cy="3725084"/>
            </a:xfrm>
          </p:grpSpPr>
          <p:sp>
            <p:nvSpPr>
              <p:cNvPr id="5" name="文本框 30">
                <a:extLst>
                  <a:ext uri="{FF2B5EF4-FFF2-40B4-BE49-F238E27FC236}">
                    <a16:creationId xmlns:a16="http://schemas.microsoft.com/office/drawing/2014/main" id="{743059EF-5B4B-1336-554E-1032ABE81CEB}"/>
                  </a:ext>
                </a:extLst>
              </p:cNvPr>
              <p:cNvSpPr txBox="1"/>
              <p:nvPr/>
            </p:nvSpPr>
            <p:spPr>
              <a:xfrm>
                <a:off x="5664017" y="1166679"/>
                <a:ext cx="2396985" cy="3691844"/>
              </a:xfrm>
              <a:prstGeom prst="rect">
                <a:avLst/>
              </a:prstGeom>
              <a:noFill/>
            </p:spPr>
            <p:txBody>
              <a:bodyPr wrap="square">
                <a:spAutoFit/>
              </a:bodyPr>
              <a:lstStyle/>
              <a:p>
                <a:pPr algn="just">
                  <a:lnSpc>
                    <a:spcPct val="200000"/>
                  </a:lnSpc>
                </a:pPr>
                <a:r>
                  <a:rPr lang="en-US" altLang="zh-CN" sz="2000" b="1" dirty="0">
                    <a:latin typeface="Times New Roman" panose="02020603050405020304" pitchFamily="18" charset="0"/>
                    <a:cs typeface="Times New Roman" panose="02020603050405020304" pitchFamily="18" charset="0"/>
                  </a:rPr>
                  <a:t>Introduction</a:t>
                </a:r>
              </a:p>
              <a:p>
                <a:pPr algn="just">
                  <a:lnSpc>
                    <a:spcPct val="200000"/>
                  </a:lnSpc>
                </a:pPr>
                <a:r>
                  <a:rPr lang="en-US" altLang="zh-CN" sz="2000" b="1" dirty="0">
                    <a:latin typeface="Times New Roman" panose="02020603050405020304" pitchFamily="18" charset="0"/>
                    <a:cs typeface="Times New Roman" panose="02020603050405020304" pitchFamily="18" charset="0"/>
                  </a:rPr>
                  <a:t>Methodology</a:t>
                </a:r>
              </a:p>
              <a:p>
                <a:pPr algn="just">
                  <a:lnSpc>
                    <a:spcPct val="200000"/>
                  </a:lnSpc>
                </a:pPr>
                <a:r>
                  <a:rPr lang="en-US" altLang="zh-CN" sz="2000" b="1" dirty="0">
                    <a:latin typeface="Times New Roman" panose="02020603050405020304" pitchFamily="18" charset="0"/>
                    <a:cs typeface="Times New Roman" panose="02020603050405020304" pitchFamily="18" charset="0"/>
                  </a:rPr>
                  <a:t>AI Application</a:t>
                </a:r>
              </a:p>
              <a:p>
                <a:pPr algn="just">
                  <a:lnSpc>
                    <a:spcPct val="200000"/>
                  </a:lnSpc>
                </a:pPr>
                <a:r>
                  <a:rPr lang="en-US" altLang="zh-CN" sz="2000" b="1" dirty="0">
                    <a:latin typeface="Times New Roman" panose="02020603050405020304" pitchFamily="18" charset="0"/>
                    <a:cs typeface="Times New Roman" panose="02020603050405020304" pitchFamily="18" charset="0"/>
                  </a:rPr>
                  <a:t>Results</a:t>
                </a:r>
              </a:p>
              <a:p>
                <a:pPr algn="just">
                  <a:lnSpc>
                    <a:spcPct val="200000"/>
                  </a:lnSpc>
                </a:pPr>
                <a:r>
                  <a:rPr lang="en-US" altLang="zh-CN" sz="2000" b="1" dirty="0">
                    <a:latin typeface="Times New Roman" panose="02020603050405020304" pitchFamily="18" charset="0"/>
                    <a:cs typeface="Times New Roman" panose="02020603050405020304" pitchFamily="18" charset="0"/>
                  </a:rPr>
                  <a:t>Discussion</a:t>
                </a:r>
              </a:p>
              <a:p>
                <a:pPr algn="just">
                  <a:lnSpc>
                    <a:spcPct val="200000"/>
                  </a:lnSpc>
                </a:pPr>
                <a:r>
                  <a:rPr lang="en-US" altLang="zh-CN" sz="2000" b="1" dirty="0">
                    <a:latin typeface="Times New Roman" panose="02020603050405020304" pitchFamily="18" charset="0"/>
                    <a:cs typeface="Times New Roman" panose="02020603050405020304" pitchFamily="18" charset="0"/>
                  </a:rPr>
                  <a:t>Conclusion</a:t>
                </a:r>
              </a:p>
            </p:txBody>
          </p:sp>
          <p:sp>
            <p:nvSpPr>
              <p:cNvPr id="7" name="직사각형 6">
                <a:extLst>
                  <a:ext uri="{FF2B5EF4-FFF2-40B4-BE49-F238E27FC236}">
                    <a16:creationId xmlns:a16="http://schemas.microsoft.com/office/drawing/2014/main" id="{E7109691-EC76-34BA-376E-A820647DD83D}"/>
                  </a:ext>
                </a:extLst>
              </p:cNvPr>
              <p:cNvSpPr/>
              <p:nvPr/>
            </p:nvSpPr>
            <p:spPr>
              <a:xfrm>
                <a:off x="4867784" y="1331020"/>
                <a:ext cx="714206" cy="3560743"/>
              </a:xfrm>
              <a:prstGeom prst="rect">
                <a:avLst/>
              </a:prstGeom>
              <a:solidFill>
                <a:srgbClr val="181C62"/>
              </a:solidFill>
              <a:ln>
                <a:solidFill>
                  <a:srgbClr val="181C6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C9771C9B-6999-393D-1C63-9D390BEE5164}"/>
                  </a:ext>
                </a:extLst>
              </p:cNvPr>
              <p:cNvSpPr txBox="1"/>
              <p:nvPr/>
            </p:nvSpPr>
            <p:spPr>
              <a:xfrm>
                <a:off x="4949811" y="1369043"/>
                <a:ext cx="550151" cy="523220"/>
              </a:xfrm>
              <a:prstGeom prst="rect">
                <a:avLst/>
              </a:prstGeom>
              <a:noFill/>
            </p:spPr>
            <p:txBody>
              <a:bodyPr wrap="none" rtlCol="0">
                <a:spAutoFit/>
              </a:bodyPr>
              <a:lstStyle/>
              <a:p>
                <a:r>
                  <a:rPr lang="en-SG" sz="2800" b="1" dirty="0">
                    <a:solidFill>
                      <a:schemeClr val="bg1"/>
                    </a:solidFill>
                  </a:rPr>
                  <a:t>01</a:t>
                </a:r>
              </a:p>
            </p:txBody>
          </p:sp>
          <p:sp>
            <p:nvSpPr>
              <p:cNvPr id="9" name="TextBox 8">
                <a:extLst>
                  <a:ext uri="{FF2B5EF4-FFF2-40B4-BE49-F238E27FC236}">
                    <a16:creationId xmlns:a16="http://schemas.microsoft.com/office/drawing/2014/main" id="{8342BF5B-2F67-F65E-E4F8-D52762336C18}"/>
                  </a:ext>
                </a:extLst>
              </p:cNvPr>
              <p:cNvSpPr txBox="1"/>
              <p:nvPr/>
            </p:nvSpPr>
            <p:spPr>
              <a:xfrm>
                <a:off x="4949811" y="1967038"/>
                <a:ext cx="550151" cy="523220"/>
              </a:xfrm>
              <a:prstGeom prst="rect">
                <a:avLst/>
              </a:prstGeom>
              <a:noFill/>
            </p:spPr>
            <p:txBody>
              <a:bodyPr wrap="none" rtlCol="0">
                <a:spAutoFit/>
              </a:bodyPr>
              <a:lstStyle/>
              <a:p>
                <a:r>
                  <a:rPr lang="en-SG" sz="2800" b="1" dirty="0">
                    <a:solidFill>
                      <a:schemeClr val="bg1"/>
                    </a:solidFill>
                  </a:rPr>
                  <a:t>02</a:t>
                </a:r>
              </a:p>
            </p:txBody>
          </p:sp>
          <p:sp>
            <p:nvSpPr>
              <p:cNvPr id="13" name="TextBox 12">
                <a:extLst>
                  <a:ext uri="{FF2B5EF4-FFF2-40B4-BE49-F238E27FC236}">
                    <a16:creationId xmlns:a16="http://schemas.microsoft.com/office/drawing/2014/main" id="{2573E18F-FE04-AA6C-7778-20E0C028FAD9}"/>
                  </a:ext>
                </a:extLst>
              </p:cNvPr>
              <p:cNvSpPr txBox="1"/>
              <p:nvPr/>
            </p:nvSpPr>
            <p:spPr>
              <a:xfrm>
                <a:off x="4949811" y="2565033"/>
                <a:ext cx="550151" cy="523220"/>
              </a:xfrm>
              <a:prstGeom prst="rect">
                <a:avLst/>
              </a:prstGeom>
              <a:noFill/>
            </p:spPr>
            <p:txBody>
              <a:bodyPr wrap="none" rtlCol="0">
                <a:spAutoFit/>
              </a:bodyPr>
              <a:lstStyle/>
              <a:p>
                <a:r>
                  <a:rPr lang="en-SG" sz="2800" b="1" dirty="0">
                    <a:solidFill>
                      <a:schemeClr val="bg1"/>
                    </a:solidFill>
                  </a:rPr>
                  <a:t>03</a:t>
                </a:r>
              </a:p>
            </p:txBody>
          </p:sp>
          <p:sp>
            <p:nvSpPr>
              <p:cNvPr id="14" name="TextBox 13">
                <a:extLst>
                  <a:ext uri="{FF2B5EF4-FFF2-40B4-BE49-F238E27FC236}">
                    <a16:creationId xmlns:a16="http://schemas.microsoft.com/office/drawing/2014/main" id="{B156F11F-D3D3-C93A-C47A-FA1AD07AF9DA}"/>
                  </a:ext>
                </a:extLst>
              </p:cNvPr>
              <p:cNvSpPr txBox="1"/>
              <p:nvPr/>
            </p:nvSpPr>
            <p:spPr>
              <a:xfrm>
                <a:off x="4949811" y="3163028"/>
                <a:ext cx="550151" cy="523220"/>
              </a:xfrm>
              <a:prstGeom prst="rect">
                <a:avLst/>
              </a:prstGeom>
              <a:noFill/>
            </p:spPr>
            <p:txBody>
              <a:bodyPr wrap="none" rtlCol="0">
                <a:spAutoFit/>
              </a:bodyPr>
              <a:lstStyle/>
              <a:p>
                <a:r>
                  <a:rPr lang="en-SG" sz="2800" b="1" dirty="0">
                    <a:solidFill>
                      <a:schemeClr val="bg1"/>
                    </a:solidFill>
                  </a:rPr>
                  <a:t>04</a:t>
                </a:r>
              </a:p>
            </p:txBody>
          </p:sp>
          <p:sp>
            <p:nvSpPr>
              <p:cNvPr id="17" name="TextBox 16">
                <a:extLst>
                  <a:ext uri="{FF2B5EF4-FFF2-40B4-BE49-F238E27FC236}">
                    <a16:creationId xmlns:a16="http://schemas.microsoft.com/office/drawing/2014/main" id="{B36E9624-F965-F9FE-CE14-5FFCD0BF9BE0}"/>
                  </a:ext>
                </a:extLst>
              </p:cNvPr>
              <p:cNvSpPr txBox="1"/>
              <p:nvPr/>
            </p:nvSpPr>
            <p:spPr>
              <a:xfrm>
                <a:off x="4949811" y="3761023"/>
                <a:ext cx="550151" cy="523220"/>
              </a:xfrm>
              <a:prstGeom prst="rect">
                <a:avLst/>
              </a:prstGeom>
              <a:noFill/>
            </p:spPr>
            <p:txBody>
              <a:bodyPr wrap="none" rtlCol="0">
                <a:spAutoFit/>
              </a:bodyPr>
              <a:lstStyle/>
              <a:p>
                <a:r>
                  <a:rPr lang="en-SG" sz="2800" b="1" dirty="0">
                    <a:solidFill>
                      <a:schemeClr val="bg1"/>
                    </a:solidFill>
                  </a:rPr>
                  <a:t>05</a:t>
                </a:r>
              </a:p>
            </p:txBody>
          </p:sp>
          <p:sp>
            <p:nvSpPr>
              <p:cNvPr id="18" name="TextBox 17">
                <a:extLst>
                  <a:ext uri="{FF2B5EF4-FFF2-40B4-BE49-F238E27FC236}">
                    <a16:creationId xmlns:a16="http://schemas.microsoft.com/office/drawing/2014/main" id="{BB7C7E28-11CC-3D94-EDFB-4BB173D3E7FA}"/>
                  </a:ext>
                </a:extLst>
              </p:cNvPr>
              <p:cNvSpPr txBox="1"/>
              <p:nvPr/>
            </p:nvSpPr>
            <p:spPr>
              <a:xfrm>
                <a:off x="4949811" y="4359019"/>
                <a:ext cx="550151" cy="523220"/>
              </a:xfrm>
              <a:prstGeom prst="rect">
                <a:avLst/>
              </a:prstGeom>
              <a:noFill/>
            </p:spPr>
            <p:txBody>
              <a:bodyPr wrap="none" rtlCol="0">
                <a:spAutoFit/>
              </a:bodyPr>
              <a:lstStyle/>
              <a:p>
                <a:r>
                  <a:rPr lang="en-SG" sz="2800" b="1" dirty="0">
                    <a:solidFill>
                      <a:schemeClr val="bg1"/>
                    </a:solidFill>
                  </a:rPr>
                  <a:t>06</a:t>
                </a:r>
              </a:p>
            </p:txBody>
          </p:sp>
        </p:grpSp>
        <p:pic>
          <p:nvPicPr>
            <p:cNvPr id="34" name="그림 33">
              <a:extLst>
                <a:ext uri="{FF2B5EF4-FFF2-40B4-BE49-F238E27FC236}">
                  <a16:creationId xmlns:a16="http://schemas.microsoft.com/office/drawing/2014/main" id="{25253D2E-929B-3DBF-3496-FB196AFD16E3}"/>
                </a:ext>
              </a:extLst>
            </p:cNvPr>
            <p:cNvPicPr>
              <a:picLocks noChangeAspect="1"/>
            </p:cNvPicPr>
            <p:nvPr/>
          </p:nvPicPr>
          <p:blipFill>
            <a:blip r:embed="rId3"/>
            <a:srcRect r="16923"/>
            <a:stretch>
              <a:fillRect/>
            </a:stretch>
          </p:blipFill>
          <p:spPr>
            <a:xfrm>
              <a:off x="0" y="756815"/>
              <a:ext cx="4571999" cy="4127500"/>
            </a:xfrm>
            <a:prstGeom prst="rect">
              <a:avLst/>
            </a:prstGeom>
          </p:spPr>
        </p:pic>
      </p:grpSp>
    </p:spTree>
    <p:extLst>
      <p:ext uri="{BB962C8B-B14F-4D97-AF65-F5344CB8AC3E}">
        <p14:creationId xmlns:p14="http://schemas.microsoft.com/office/powerpoint/2010/main" val="30593838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EAC6D-AE0C-74AE-CB3A-C7C43EEDCB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41DB5D-4204-B8EC-30EA-0D269D9BD359}"/>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01 Introduction</a:t>
            </a:r>
          </a:p>
        </p:txBody>
      </p:sp>
      <p:sp>
        <p:nvSpPr>
          <p:cNvPr id="6" name="Slide Number Placeholder 5">
            <a:extLst>
              <a:ext uri="{FF2B5EF4-FFF2-40B4-BE49-F238E27FC236}">
                <a16:creationId xmlns:a16="http://schemas.microsoft.com/office/drawing/2014/main" id="{4C315797-54C5-AB2F-55BF-5C2535D7E29F}"/>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3</a:t>
            </a:fld>
            <a:endParaRPr lang="en-US" dirty="0"/>
          </a:p>
        </p:txBody>
      </p:sp>
      <p:cxnSp>
        <p:nvCxnSpPr>
          <p:cNvPr id="28" name="Straight Connector 27">
            <a:extLst>
              <a:ext uri="{FF2B5EF4-FFF2-40B4-BE49-F238E27FC236}">
                <a16:creationId xmlns:a16="http://schemas.microsoft.com/office/drawing/2014/main" id="{C6B992D8-345B-6227-97DB-FED5E842BAEE}"/>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1BB1612E-7826-2819-BB86-872505E4365D}"/>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CA428FD4-82DE-9360-D0E5-69375EA1E1C3}"/>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AF32A701-50F4-002D-B66C-6CA0227A36BE}"/>
              </a:ext>
            </a:extLst>
          </p:cNvPr>
          <p:cNvSpPr txBox="1"/>
          <p:nvPr/>
        </p:nvSpPr>
        <p:spPr>
          <a:xfrm rot="5400000">
            <a:off x="8318137" y="377434"/>
            <a:ext cx="1018677" cy="276999"/>
          </a:xfrm>
          <a:prstGeom prst="rect">
            <a:avLst/>
          </a:prstGeom>
          <a:noFill/>
        </p:spPr>
        <p:txBody>
          <a:bodyPr wrap="none" rtlCol="0">
            <a:spAutoFit/>
          </a:bodyPr>
          <a:lstStyle/>
          <a:p>
            <a:r>
              <a:rPr lang="en-SG" sz="1200" b="1" dirty="0">
                <a:solidFill>
                  <a:schemeClr val="bg1"/>
                </a:solidFill>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CE9CEBEA-3340-257F-B04A-5624FA5D4C7D}"/>
              </a:ext>
            </a:extLst>
          </p:cNvPr>
          <p:cNvSpPr txBox="1"/>
          <p:nvPr/>
        </p:nvSpPr>
        <p:spPr>
          <a:xfrm rot="5400000">
            <a:off x="8340002" y="1274739"/>
            <a:ext cx="97494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1BE5A7F4-B1D7-D74A-4215-E0B71D84F83E}"/>
              </a:ext>
            </a:extLst>
          </p:cNvPr>
          <p:cNvSpPr txBox="1"/>
          <p:nvPr/>
        </p:nvSpPr>
        <p:spPr>
          <a:xfrm rot="5400000">
            <a:off x="8311147" y="2205227"/>
            <a:ext cx="1032655"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CA36401C-B0FA-65D4-0535-7D41969DBAFF}"/>
              </a:ext>
            </a:extLst>
          </p:cNvPr>
          <p:cNvSpPr txBox="1"/>
          <p:nvPr/>
        </p:nvSpPr>
        <p:spPr>
          <a:xfrm rot="5400000">
            <a:off x="8523546" y="2952171"/>
            <a:ext cx="607859"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F99524D5-7427-1B61-962C-B77FE07348B5}"/>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CB1E16C3-340A-DB88-979C-A199265EB5E7}"/>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51292909-EE5B-B269-F3F9-BF8B262325CF}"/>
              </a:ext>
            </a:extLst>
          </p:cNvPr>
          <p:cNvSpPr txBox="1"/>
          <p:nvPr/>
        </p:nvSpPr>
        <p:spPr>
          <a:xfrm>
            <a:off x="870708" y="937730"/>
            <a:ext cx="1398781"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Background</a:t>
            </a:r>
          </a:p>
        </p:txBody>
      </p:sp>
      <p:pic>
        <p:nvPicPr>
          <p:cNvPr id="32" name="그림 31" descr="구직자 ">
            <a:extLst>
              <a:ext uri="{FF2B5EF4-FFF2-40B4-BE49-F238E27FC236}">
                <a16:creationId xmlns:a16="http://schemas.microsoft.com/office/drawing/2014/main" id="{DBF60E27-9DD8-2538-4D67-5F7C6D743724}"/>
              </a:ext>
            </a:extLst>
          </p:cNvPr>
          <p:cNvPicPr>
            <a:picLocks noChangeAspect="1"/>
          </p:cNvPicPr>
          <p:nvPr/>
        </p:nvPicPr>
        <p:blipFill>
          <a:blip r:embed="rId3"/>
          <a:stretch>
            <a:fillRect/>
          </a:stretch>
        </p:blipFill>
        <p:spPr>
          <a:xfrm>
            <a:off x="405088" y="2391582"/>
            <a:ext cx="2330019" cy="2330019"/>
          </a:xfrm>
          <a:prstGeom prst="rect">
            <a:avLst/>
          </a:prstGeom>
        </p:spPr>
      </p:pic>
      <p:pic>
        <p:nvPicPr>
          <p:cNvPr id="35" name="그림 34">
            <a:extLst>
              <a:ext uri="{FF2B5EF4-FFF2-40B4-BE49-F238E27FC236}">
                <a16:creationId xmlns:a16="http://schemas.microsoft.com/office/drawing/2014/main" id="{7B4EAFBF-031E-06B0-C681-A0C4713C45CF}"/>
              </a:ext>
            </a:extLst>
          </p:cNvPr>
          <p:cNvPicPr>
            <a:picLocks noChangeAspect="1"/>
          </p:cNvPicPr>
          <p:nvPr/>
        </p:nvPicPr>
        <p:blipFill>
          <a:blip r:embed="rId4"/>
          <a:stretch>
            <a:fillRect/>
          </a:stretch>
        </p:blipFill>
        <p:spPr>
          <a:xfrm>
            <a:off x="3050101" y="1396612"/>
            <a:ext cx="929158" cy="929158"/>
          </a:xfrm>
          <a:prstGeom prst="rect">
            <a:avLst/>
          </a:prstGeom>
        </p:spPr>
      </p:pic>
      <p:pic>
        <p:nvPicPr>
          <p:cNvPr id="36" name="그림 35" descr="과학 기술 ">
            <a:extLst>
              <a:ext uri="{FF2B5EF4-FFF2-40B4-BE49-F238E27FC236}">
                <a16:creationId xmlns:a16="http://schemas.microsoft.com/office/drawing/2014/main" id="{0D02DBAE-C760-5F36-4500-4C07EA44E6E9}"/>
              </a:ext>
            </a:extLst>
          </p:cNvPr>
          <p:cNvPicPr>
            <a:picLocks noChangeAspect="1"/>
          </p:cNvPicPr>
          <p:nvPr/>
        </p:nvPicPr>
        <p:blipFill>
          <a:blip r:embed="rId5"/>
          <a:stretch>
            <a:fillRect/>
          </a:stretch>
        </p:blipFill>
        <p:spPr>
          <a:xfrm>
            <a:off x="4372359" y="1396610"/>
            <a:ext cx="929159" cy="929159"/>
          </a:xfrm>
          <a:prstGeom prst="rect">
            <a:avLst/>
          </a:prstGeom>
        </p:spPr>
      </p:pic>
      <p:pic>
        <p:nvPicPr>
          <p:cNvPr id="37" name="그림 36" descr="어린이들 ">
            <a:extLst>
              <a:ext uri="{FF2B5EF4-FFF2-40B4-BE49-F238E27FC236}">
                <a16:creationId xmlns:a16="http://schemas.microsoft.com/office/drawing/2014/main" id="{5B839FDA-9304-67DB-91C5-E1DAC9D4F831}"/>
              </a:ext>
            </a:extLst>
          </p:cNvPr>
          <p:cNvPicPr>
            <a:picLocks noChangeAspect="1"/>
          </p:cNvPicPr>
          <p:nvPr/>
        </p:nvPicPr>
        <p:blipFill>
          <a:blip r:embed="rId6"/>
          <a:stretch>
            <a:fillRect/>
          </a:stretch>
        </p:blipFill>
        <p:spPr>
          <a:xfrm>
            <a:off x="3072015" y="2602315"/>
            <a:ext cx="929160" cy="929160"/>
          </a:xfrm>
          <a:prstGeom prst="rect">
            <a:avLst/>
          </a:prstGeom>
        </p:spPr>
      </p:pic>
      <p:pic>
        <p:nvPicPr>
          <p:cNvPr id="38" name="그림 37" descr="젠더 유체 ">
            <a:extLst>
              <a:ext uri="{FF2B5EF4-FFF2-40B4-BE49-F238E27FC236}">
                <a16:creationId xmlns:a16="http://schemas.microsoft.com/office/drawing/2014/main" id="{0ADCDC22-B61D-09F8-63D4-51B55F601ADA}"/>
              </a:ext>
            </a:extLst>
          </p:cNvPr>
          <p:cNvPicPr>
            <a:picLocks noChangeAspect="1"/>
          </p:cNvPicPr>
          <p:nvPr/>
        </p:nvPicPr>
        <p:blipFill>
          <a:blip r:embed="rId7"/>
          <a:stretch>
            <a:fillRect/>
          </a:stretch>
        </p:blipFill>
        <p:spPr>
          <a:xfrm>
            <a:off x="4318777" y="2602315"/>
            <a:ext cx="929160" cy="929160"/>
          </a:xfrm>
          <a:prstGeom prst="rect">
            <a:avLst/>
          </a:prstGeom>
        </p:spPr>
      </p:pic>
      <p:pic>
        <p:nvPicPr>
          <p:cNvPr id="39" name="그림 38" descr="취업률 ">
            <a:extLst>
              <a:ext uri="{FF2B5EF4-FFF2-40B4-BE49-F238E27FC236}">
                <a16:creationId xmlns:a16="http://schemas.microsoft.com/office/drawing/2014/main" id="{49DCAC28-0D04-64B4-0C15-76F79719C98F}"/>
              </a:ext>
            </a:extLst>
          </p:cNvPr>
          <p:cNvPicPr>
            <a:picLocks noChangeAspect="1"/>
          </p:cNvPicPr>
          <p:nvPr/>
        </p:nvPicPr>
        <p:blipFill>
          <a:blip r:embed="rId8"/>
          <a:stretch>
            <a:fillRect/>
          </a:stretch>
        </p:blipFill>
        <p:spPr>
          <a:xfrm>
            <a:off x="3764326" y="3712099"/>
            <a:ext cx="929160" cy="929160"/>
          </a:xfrm>
          <a:prstGeom prst="rect">
            <a:avLst/>
          </a:prstGeom>
        </p:spPr>
      </p:pic>
    </p:spTree>
    <p:extLst>
      <p:ext uri="{BB962C8B-B14F-4D97-AF65-F5344CB8AC3E}">
        <p14:creationId xmlns:p14="http://schemas.microsoft.com/office/powerpoint/2010/main" val="9932235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67BFB-33FE-3709-D211-EB2FFB8001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67D926-2BAE-F7D6-D748-5DEBA91B6348}"/>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01 Introduction</a:t>
            </a:r>
          </a:p>
        </p:txBody>
      </p:sp>
      <p:sp>
        <p:nvSpPr>
          <p:cNvPr id="6" name="Slide Number Placeholder 5">
            <a:extLst>
              <a:ext uri="{FF2B5EF4-FFF2-40B4-BE49-F238E27FC236}">
                <a16:creationId xmlns:a16="http://schemas.microsoft.com/office/drawing/2014/main" id="{AA50BABA-52E4-553F-E374-03060F6ACA79}"/>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4</a:t>
            </a:fld>
            <a:endParaRPr lang="en-US" dirty="0"/>
          </a:p>
        </p:txBody>
      </p:sp>
      <p:cxnSp>
        <p:nvCxnSpPr>
          <p:cNvPr id="28" name="Straight Connector 27">
            <a:extLst>
              <a:ext uri="{FF2B5EF4-FFF2-40B4-BE49-F238E27FC236}">
                <a16:creationId xmlns:a16="http://schemas.microsoft.com/office/drawing/2014/main" id="{90AAB933-B420-1FA1-7176-72654AF38CA7}"/>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4D7BCC7D-FE6B-DDE9-4C9C-ABEC1F970C3B}"/>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964DB769-78CD-8C30-3A0F-03934C143E64}"/>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CB426580-2A69-1EB5-4C30-031644001501}"/>
              </a:ext>
            </a:extLst>
          </p:cNvPr>
          <p:cNvSpPr txBox="1"/>
          <p:nvPr/>
        </p:nvSpPr>
        <p:spPr>
          <a:xfrm rot="5400000">
            <a:off x="8318137" y="377434"/>
            <a:ext cx="1018677" cy="276999"/>
          </a:xfrm>
          <a:prstGeom prst="rect">
            <a:avLst/>
          </a:prstGeom>
          <a:noFill/>
        </p:spPr>
        <p:txBody>
          <a:bodyPr wrap="none" rtlCol="0">
            <a:spAutoFit/>
          </a:bodyPr>
          <a:lstStyle/>
          <a:p>
            <a:r>
              <a:rPr lang="en-SG" sz="1200" b="1" dirty="0">
                <a:solidFill>
                  <a:schemeClr val="bg1"/>
                </a:solidFill>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91458FB5-163A-8A54-C095-AABD80F6F6DB}"/>
              </a:ext>
            </a:extLst>
          </p:cNvPr>
          <p:cNvSpPr txBox="1"/>
          <p:nvPr/>
        </p:nvSpPr>
        <p:spPr>
          <a:xfrm rot="5400000">
            <a:off x="8340002" y="1274739"/>
            <a:ext cx="97494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AC839E4E-583B-ABAD-EAC4-2DBF9C5628CC}"/>
              </a:ext>
            </a:extLst>
          </p:cNvPr>
          <p:cNvSpPr txBox="1"/>
          <p:nvPr/>
        </p:nvSpPr>
        <p:spPr>
          <a:xfrm rot="5400000">
            <a:off x="8311147" y="2205227"/>
            <a:ext cx="1032655"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5C9EAFDA-F12F-0405-C0BD-D31BB0289276}"/>
              </a:ext>
            </a:extLst>
          </p:cNvPr>
          <p:cNvSpPr txBox="1"/>
          <p:nvPr/>
        </p:nvSpPr>
        <p:spPr>
          <a:xfrm rot="5400000">
            <a:off x="8523546" y="2952171"/>
            <a:ext cx="607859"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9F16425E-DC5B-F21A-F1E5-8F5D0A079019}"/>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AA5B4AAF-007C-29AD-4DD7-A2A095EAB39B}"/>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CCFE02D9-8819-C807-4BA7-18C8CD58E492}"/>
              </a:ext>
            </a:extLst>
          </p:cNvPr>
          <p:cNvSpPr txBox="1"/>
          <p:nvPr/>
        </p:nvSpPr>
        <p:spPr>
          <a:xfrm>
            <a:off x="870708" y="937730"/>
            <a:ext cx="1982274"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Literature Review</a:t>
            </a:r>
          </a:p>
        </p:txBody>
      </p:sp>
    </p:spTree>
    <p:extLst>
      <p:ext uri="{BB962C8B-B14F-4D97-AF65-F5344CB8AC3E}">
        <p14:creationId xmlns:p14="http://schemas.microsoft.com/office/powerpoint/2010/main" val="37506031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E438E4-4E82-3360-8FCE-F10E9CA169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57E2BF-DCB5-C439-AF8B-D309DDAA94D6}"/>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01 Introduction</a:t>
            </a:r>
          </a:p>
        </p:txBody>
      </p:sp>
      <p:sp>
        <p:nvSpPr>
          <p:cNvPr id="6" name="Slide Number Placeholder 5">
            <a:extLst>
              <a:ext uri="{FF2B5EF4-FFF2-40B4-BE49-F238E27FC236}">
                <a16:creationId xmlns:a16="http://schemas.microsoft.com/office/drawing/2014/main" id="{302305E8-F470-C06E-14F1-53FA236CE5FE}"/>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5</a:t>
            </a:fld>
            <a:endParaRPr lang="en-US" dirty="0"/>
          </a:p>
        </p:txBody>
      </p:sp>
      <p:cxnSp>
        <p:nvCxnSpPr>
          <p:cNvPr id="28" name="Straight Connector 27">
            <a:extLst>
              <a:ext uri="{FF2B5EF4-FFF2-40B4-BE49-F238E27FC236}">
                <a16:creationId xmlns:a16="http://schemas.microsoft.com/office/drawing/2014/main" id="{BBCF5332-4B5C-48D0-07B9-84270C49F2B8}"/>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C1F140C3-4574-AE0B-9CE9-DD9D0A752014}"/>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3650BE3A-CEAB-4233-2742-E0487EB5A7B9}"/>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53F83B61-58F7-A244-E8A8-7BDB9E1C0454}"/>
              </a:ext>
            </a:extLst>
          </p:cNvPr>
          <p:cNvSpPr txBox="1"/>
          <p:nvPr/>
        </p:nvSpPr>
        <p:spPr>
          <a:xfrm rot="5400000">
            <a:off x="8318137" y="377434"/>
            <a:ext cx="1018677" cy="276999"/>
          </a:xfrm>
          <a:prstGeom prst="rect">
            <a:avLst/>
          </a:prstGeom>
          <a:noFill/>
        </p:spPr>
        <p:txBody>
          <a:bodyPr wrap="none" rtlCol="0">
            <a:spAutoFit/>
          </a:bodyPr>
          <a:lstStyle/>
          <a:p>
            <a:r>
              <a:rPr lang="en-SG" sz="1200" b="1" dirty="0">
                <a:solidFill>
                  <a:schemeClr val="bg1"/>
                </a:solidFill>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B0C6203C-A638-B2C0-95C5-26A12D68A570}"/>
              </a:ext>
            </a:extLst>
          </p:cNvPr>
          <p:cNvSpPr txBox="1"/>
          <p:nvPr/>
        </p:nvSpPr>
        <p:spPr>
          <a:xfrm rot="5400000">
            <a:off x="8340002" y="1274739"/>
            <a:ext cx="97494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C57886C2-CBEA-0A3F-556E-C1BC16B81984}"/>
              </a:ext>
            </a:extLst>
          </p:cNvPr>
          <p:cNvSpPr txBox="1"/>
          <p:nvPr/>
        </p:nvSpPr>
        <p:spPr>
          <a:xfrm rot="5400000">
            <a:off x="8311147" y="2205227"/>
            <a:ext cx="1032655"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9FA59C4C-CDCC-0E40-1E75-13D28D0CDD12}"/>
              </a:ext>
            </a:extLst>
          </p:cNvPr>
          <p:cNvSpPr txBox="1"/>
          <p:nvPr/>
        </p:nvSpPr>
        <p:spPr>
          <a:xfrm rot="5400000">
            <a:off x="8523546" y="2952171"/>
            <a:ext cx="607859"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19F128CA-180D-0B5C-FA06-574A8534718D}"/>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2573ED51-5C19-125E-F9F8-DA1E6B5080BD}"/>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FB416FCF-B67C-7BAA-C8F5-42C7FDB8B767}"/>
              </a:ext>
            </a:extLst>
          </p:cNvPr>
          <p:cNvSpPr txBox="1"/>
          <p:nvPr/>
        </p:nvSpPr>
        <p:spPr>
          <a:xfrm>
            <a:off x="870708" y="937730"/>
            <a:ext cx="2101857"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Aim and Objective</a:t>
            </a:r>
          </a:p>
        </p:txBody>
      </p:sp>
    </p:spTree>
    <p:extLst>
      <p:ext uri="{BB962C8B-B14F-4D97-AF65-F5344CB8AC3E}">
        <p14:creationId xmlns:p14="http://schemas.microsoft.com/office/powerpoint/2010/main" val="15753384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3E308-8DD4-6873-4F8D-BC285F9929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7D7056-C773-D008-265A-D38988F1C795}"/>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02 Methodology</a:t>
            </a:r>
          </a:p>
        </p:txBody>
      </p:sp>
      <p:sp>
        <p:nvSpPr>
          <p:cNvPr id="6" name="Slide Number Placeholder 5">
            <a:extLst>
              <a:ext uri="{FF2B5EF4-FFF2-40B4-BE49-F238E27FC236}">
                <a16:creationId xmlns:a16="http://schemas.microsoft.com/office/drawing/2014/main" id="{DF4477F9-7792-27D3-5397-04B90FB92394}"/>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6</a:t>
            </a:fld>
            <a:endParaRPr lang="en-US" dirty="0"/>
          </a:p>
        </p:txBody>
      </p:sp>
      <p:cxnSp>
        <p:nvCxnSpPr>
          <p:cNvPr id="28" name="Straight Connector 27">
            <a:extLst>
              <a:ext uri="{FF2B5EF4-FFF2-40B4-BE49-F238E27FC236}">
                <a16:creationId xmlns:a16="http://schemas.microsoft.com/office/drawing/2014/main" id="{700A4E64-669A-B37D-8D8B-54BE8D5DB695}"/>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DB367105-6426-E472-C749-051B77706352}"/>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DE3F86AF-D941-50FB-1D5B-B9FC31E3EB9B}"/>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F161F1E9-943D-8F0C-6892-A64019D335F6}"/>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987A736C-E4EB-08B9-428A-7584DEF6D9A0}"/>
              </a:ext>
            </a:extLst>
          </p:cNvPr>
          <p:cNvSpPr txBox="1"/>
          <p:nvPr/>
        </p:nvSpPr>
        <p:spPr>
          <a:xfrm rot="5400000">
            <a:off x="8303133" y="1267045"/>
            <a:ext cx="1048685" cy="276999"/>
          </a:xfrm>
          <a:prstGeom prst="rect">
            <a:avLst/>
          </a:prstGeom>
          <a:noFill/>
        </p:spPr>
        <p:txBody>
          <a:bodyPr wrap="none" rtlCol="0">
            <a:spAutoFit/>
          </a:bodyPr>
          <a:lstStyle/>
          <a:p>
            <a:r>
              <a:rPr lang="en-SG" sz="1200" b="1" dirty="0">
                <a:solidFill>
                  <a:schemeClr val="bg1"/>
                </a:solidFill>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855B059D-0809-0044-D35B-CA7BCE5274FC}"/>
              </a:ext>
            </a:extLst>
          </p:cNvPr>
          <p:cNvSpPr txBox="1"/>
          <p:nvPr/>
        </p:nvSpPr>
        <p:spPr>
          <a:xfrm rot="5400000">
            <a:off x="8311147" y="2205227"/>
            <a:ext cx="1032655"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73B6EF2A-CE9F-8504-D835-1FCB5C439664}"/>
              </a:ext>
            </a:extLst>
          </p:cNvPr>
          <p:cNvSpPr txBox="1"/>
          <p:nvPr/>
        </p:nvSpPr>
        <p:spPr>
          <a:xfrm rot="5400000">
            <a:off x="8523546" y="2952171"/>
            <a:ext cx="607859"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4309C02F-31F7-52E8-AABE-7E60D66E71B7}"/>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7428485B-A5D4-40CC-41B1-1C115EA86C2A}"/>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B0870F18-F947-60D6-232D-85E6F2D5B87F}"/>
              </a:ext>
            </a:extLst>
          </p:cNvPr>
          <p:cNvSpPr txBox="1"/>
          <p:nvPr/>
        </p:nvSpPr>
        <p:spPr>
          <a:xfrm>
            <a:off x="870708" y="937730"/>
            <a:ext cx="1905330"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Project</a:t>
            </a:r>
            <a:r>
              <a:rPr lang="ko-KR" altLang="en-US" b="1" dirty="0">
                <a:latin typeface="Times New Roman" panose="02020603050405020304" pitchFamily="18" charset="0"/>
                <a:cs typeface="Times New Roman" panose="02020603050405020304" pitchFamily="18" charset="0"/>
              </a:rPr>
              <a:t> </a:t>
            </a:r>
            <a:r>
              <a:rPr lang="en-SG" altLang="ko-KR" b="1" dirty="0">
                <a:latin typeface="Times New Roman" panose="02020603050405020304" pitchFamily="18" charset="0"/>
                <a:cs typeface="Times New Roman" panose="02020603050405020304" pitchFamily="18" charset="0"/>
              </a:rPr>
              <a:t>Overview</a:t>
            </a:r>
            <a:endParaRPr lang="en-SG"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2915666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8E17F-9E75-0E67-B32D-FE90242C86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4C56CA-AE66-960F-2F95-1BAC58EA4B84}"/>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02 Methodology</a:t>
            </a:r>
          </a:p>
        </p:txBody>
      </p:sp>
      <p:sp>
        <p:nvSpPr>
          <p:cNvPr id="6" name="Slide Number Placeholder 5">
            <a:extLst>
              <a:ext uri="{FF2B5EF4-FFF2-40B4-BE49-F238E27FC236}">
                <a16:creationId xmlns:a16="http://schemas.microsoft.com/office/drawing/2014/main" id="{4E3BC94D-B44C-8749-C85A-4037A10DC2F2}"/>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7</a:t>
            </a:fld>
            <a:endParaRPr lang="en-US" dirty="0"/>
          </a:p>
        </p:txBody>
      </p:sp>
      <p:cxnSp>
        <p:nvCxnSpPr>
          <p:cNvPr id="28" name="Straight Connector 27">
            <a:extLst>
              <a:ext uri="{FF2B5EF4-FFF2-40B4-BE49-F238E27FC236}">
                <a16:creationId xmlns:a16="http://schemas.microsoft.com/office/drawing/2014/main" id="{77B51C8C-1AEA-903F-A64D-EBAA6341DB51}"/>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5A5CBDF4-8F83-E80C-7E7B-1AC14D69A5D4}"/>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107A2674-41A8-7604-D21B-D06404946A29}"/>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21F8613F-2AF2-C1CE-E54E-2CA806A8FC92}"/>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B412DF58-3A81-3D07-278F-E1B672818048}"/>
              </a:ext>
            </a:extLst>
          </p:cNvPr>
          <p:cNvSpPr txBox="1"/>
          <p:nvPr/>
        </p:nvSpPr>
        <p:spPr>
          <a:xfrm rot="5400000">
            <a:off x="8303133" y="1267045"/>
            <a:ext cx="1048685" cy="276999"/>
          </a:xfrm>
          <a:prstGeom prst="rect">
            <a:avLst/>
          </a:prstGeom>
          <a:noFill/>
        </p:spPr>
        <p:txBody>
          <a:bodyPr wrap="none" rtlCol="0">
            <a:spAutoFit/>
          </a:bodyPr>
          <a:lstStyle/>
          <a:p>
            <a:r>
              <a:rPr lang="en-SG" sz="1200" b="1" dirty="0">
                <a:solidFill>
                  <a:schemeClr val="bg1"/>
                </a:solidFill>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C5F766F6-9039-2961-FFF5-FD49E4B4B443}"/>
              </a:ext>
            </a:extLst>
          </p:cNvPr>
          <p:cNvSpPr txBox="1"/>
          <p:nvPr/>
        </p:nvSpPr>
        <p:spPr>
          <a:xfrm rot="5400000">
            <a:off x="8311147" y="2205227"/>
            <a:ext cx="1032655"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9D9912E9-E47E-57B6-DB46-50C8E77AE65A}"/>
              </a:ext>
            </a:extLst>
          </p:cNvPr>
          <p:cNvSpPr txBox="1"/>
          <p:nvPr/>
        </p:nvSpPr>
        <p:spPr>
          <a:xfrm rot="5400000">
            <a:off x="8523546" y="2952171"/>
            <a:ext cx="607859"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4D87B242-190F-6329-5DC5-081223C1D3BC}"/>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F09E86A7-1A86-C687-F360-394B45B5C369}"/>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DE4EFBBB-0233-A763-FBED-106093134ED8}"/>
              </a:ext>
            </a:extLst>
          </p:cNvPr>
          <p:cNvSpPr txBox="1"/>
          <p:nvPr/>
        </p:nvSpPr>
        <p:spPr>
          <a:xfrm>
            <a:off x="870708" y="937730"/>
            <a:ext cx="1877437"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Build the Dataset</a:t>
            </a:r>
          </a:p>
        </p:txBody>
      </p:sp>
    </p:spTree>
    <p:extLst>
      <p:ext uri="{BB962C8B-B14F-4D97-AF65-F5344CB8AC3E}">
        <p14:creationId xmlns:p14="http://schemas.microsoft.com/office/powerpoint/2010/main" val="21253984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F4F81-ED7D-2257-4DEF-EA480272C5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293180-7D43-9B5A-2B37-16436EAE7705}"/>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02 Methodology</a:t>
            </a:r>
          </a:p>
        </p:txBody>
      </p:sp>
      <p:sp>
        <p:nvSpPr>
          <p:cNvPr id="6" name="Slide Number Placeholder 5">
            <a:extLst>
              <a:ext uri="{FF2B5EF4-FFF2-40B4-BE49-F238E27FC236}">
                <a16:creationId xmlns:a16="http://schemas.microsoft.com/office/drawing/2014/main" id="{74ED8718-2CB1-1376-110E-1F0B88FC1F32}"/>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8</a:t>
            </a:fld>
            <a:endParaRPr lang="en-US" dirty="0"/>
          </a:p>
        </p:txBody>
      </p:sp>
      <p:cxnSp>
        <p:nvCxnSpPr>
          <p:cNvPr id="28" name="Straight Connector 27">
            <a:extLst>
              <a:ext uri="{FF2B5EF4-FFF2-40B4-BE49-F238E27FC236}">
                <a16:creationId xmlns:a16="http://schemas.microsoft.com/office/drawing/2014/main" id="{AFBC5C14-97E4-6575-58CB-EAC9B6EFC84F}"/>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516A49C2-4993-81CB-5975-1D5D2AB2240B}"/>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0328C977-F5EF-C33D-0002-0189B2FE8F95}"/>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39A858D7-6A2C-7D51-166B-0E7F23286A62}"/>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B1FEA8F2-0833-8334-299F-672ED59A2FA7}"/>
              </a:ext>
            </a:extLst>
          </p:cNvPr>
          <p:cNvSpPr txBox="1"/>
          <p:nvPr/>
        </p:nvSpPr>
        <p:spPr>
          <a:xfrm rot="5400000">
            <a:off x="8303133" y="1267045"/>
            <a:ext cx="1048685" cy="276999"/>
          </a:xfrm>
          <a:prstGeom prst="rect">
            <a:avLst/>
          </a:prstGeom>
          <a:noFill/>
        </p:spPr>
        <p:txBody>
          <a:bodyPr wrap="none" rtlCol="0">
            <a:spAutoFit/>
          </a:bodyPr>
          <a:lstStyle/>
          <a:p>
            <a:r>
              <a:rPr lang="en-SG" sz="1200" b="1" dirty="0">
                <a:solidFill>
                  <a:schemeClr val="bg1"/>
                </a:solidFill>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34DEB367-29B1-2841-C832-D63E4501D65F}"/>
              </a:ext>
            </a:extLst>
          </p:cNvPr>
          <p:cNvSpPr txBox="1"/>
          <p:nvPr/>
        </p:nvSpPr>
        <p:spPr>
          <a:xfrm rot="5400000">
            <a:off x="8311147" y="2205227"/>
            <a:ext cx="1032655"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0BDDCD4C-D4B9-8A32-14A5-C5304A765D05}"/>
              </a:ext>
            </a:extLst>
          </p:cNvPr>
          <p:cNvSpPr txBox="1"/>
          <p:nvPr/>
        </p:nvSpPr>
        <p:spPr>
          <a:xfrm rot="5400000">
            <a:off x="8523546" y="2952171"/>
            <a:ext cx="607859"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713D933F-7C5D-C273-86E0-1C1AFFECC723}"/>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020557DF-FE6A-4263-B6DA-E3B54799D0E8}"/>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16C1B431-F759-50A5-2F19-D3E81933A3A7}"/>
              </a:ext>
            </a:extLst>
          </p:cNvPr>
          <p:cNvSpPr txBox="1"/>
          <p:nvPr/>
        </p:nvSpPr>
        <p:spPr>
          <a:xfrm>
            <a:off x="870708" y="937730"/>
            <a:ext cx="1155124"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Prototype</a:t>
            </a:r>
          </a:p>
        </p:txBody>
      </p:sp>
    </p:spTree>
    <p:extLst>
      <p:ext uri="{BB962C8B-B14F-4D97-AF65-F5344CB8AC3E}">
        <p14:creationId xmlns:p14="http://schemas.microsoft.com/office/powerpoint/2010/main" val="2208363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47EFA-8B24-0F79-E674-F573845ACA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942F6A-FE37-8811-4581-9A071FA4F1F6}"/>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03 AI Application </a:t>
            </a:r>
          </a:p>
        </p:txBody>
      </p:sp>
      <p:sp>
        <p:nvSpPr>
          <p:cNvPr id="6" name="Slide Number Placeholder 5">
            <a:extLst>
              <a:ext uri="{FF2B5EF4-FFF2-40B4-BE49-F238E27FC236}">
                <a16:creationId xmlns:a16="http://schemas.microsoft.com/office/drawing/2014/main" id="{A18D9647-3B4F-9B7A-7692-8728F2C9AC71}"/>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9</a:t>
            </a:fld>
            <a:endParaRPr lang="en-US" dirty="0"/>
          </a:p>
        </p:txBody>
      </p:sp>
      <p:cxnSp>
        <p:nvCxnSpPr>
          <p:cNvPr id="28" name="Straight Connector 27">
            <a:extLst>
              <a:ext uri="{FF2B5EF4-FFF2-40B4-BE49-F238E27FC236}">
                <a16:creationId xmlns:a16="http://schemas.microsoft.com/office/drawing/2014/main" id="{173CFC4D-2056-805E-9AAF-7EDB5B7BD407}"/>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C22CEC2F-47CF-51BD-8112-147E34A7DC32}"/>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CA23A1C2-EBC2-CAD2-8E99-BB10F4B4BF2C}"/>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BD64AF20-A885-1C9A-FE81-80305FFD3CDD}"/>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96A7A3D1-BCC3-4F10-7F12-FA61C026AC3D}"/>
              </a:ext>
            </a:extLst>
          </p:cNvPr>
          <p:cNvSpPr txBox="1"/>
          <p:nvPr/>
        </p:nvSpPr>
        <p:spPr>
          <a:xfrm rot="5400000">
            <a:off x="8356032" y="1274739"/>
            <a:ext cx="94288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DEFD161F-49C3-9AB6-BAF5-C2EA9B6A6DE9}"/>
              </a:ext>
            </a:extLst>
          </p:cNvPr>
          <p:cNvSpPr txBox="1"/>
          <p:nvPr/>
        </p:nvSpPr>
        <p:spPr>
          <a:xfrm rot="5400000">
            <a:off x="8287102" y="2205227"/>
            <a:ext cx="1080745" cy="261610"/>
          </a:xfrm>
          <a:prstGeom prst="rect">
            <a:avLst/>
          </a:prstGeom>
          <a:noFill/>
        </p:spPr>
        <p:txBody>
          <a:bodyPr wrap="none" rtlCol="0">
            <a:spAutoFit/>
          </a:bodyPr>
          <a:lstStyle/>
          <a:p>
            <a:r>
              <a:rPr lang="en-SG" sz="1100" b="1" dirty="0">
                <a:solidFill>
                  <a:schemeClr val="bg1"/>
                </a:solidFill>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3F3AE515-849F-1628-9D9D-14E528CD4C64}"/>
              </a:ext>
            </a:extLst>
          </p:cNvPr>
          <p:cNvSpPr txBox="1"/>
          <p:nvPr/>
        </p:nvSpPr>
        <p:spPr>
          <a:xfrm rot="5400000">
            <a:off x="8523546" y="2952171"/>
            <a:ext cx="607859"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1C05498C-07E0-DCE9-E315-9A095F9C1EDF}"/>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81844BF3-BC82-4D32-A123-BE7F74A6FE0B}"/>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961E9B38-76F3-DE66-7C09-C105381F00E2}"/>
              </a:ext>
            </a:extLst>
          </p:cNvPr>
          <p:cNvSpPr txBox="1"/>
          <p:nvPr/>
        </p:nvSpPr>
        <p:spPr>
          <a:xfrm>
            <a:off x="870708" y="937730"/>
            <a:ext cx="6500000" cy="369332"/>
          </a:xfrm>
          <a:prstGeom prst="rect">
            <a:avLst/>
          </a:prstGeom>
          <a:noFill/>
        </p:spPr>
        <p:txBody>
          <a:bodyPr wrap="none" rtlCol="0">
            <a:spAutoFit/>
          </a:bodyPr>
          <a:lstStyle/>
          <a:p>
            <a:r>
              <a:rPr lang="en-SG" altLang="ko-KR" b="1" dirty="0">
                <a:latin typeface="Times New Roman" panose="02020603050405020304" pitchFamily="18" charset="0"/>
                <a:cs typeface="Times New Roman" panose="02020603050405020304" pitchFamily="18" charset="0"/>
              </a:rPr>
              <a:t>Career recommendation prototype</a:t>
            </a:r>
            <a:endParaRPr lang="en-SG" b="1" dirty="0">
              <a:latin typeface="Times New Roman" panose="02020603050405020304" pitchFamily="18" charset="0"/>
              <a:cs typeface="Times New Roman" panose="02020603050405020304" pitchFamily="18" charset="0"/>
            </a:endParaRPr>
          </a:p>
        </p:txBody>
      </p:sp>
      <p:sp>
        <p:nvSpPr>
          <p:cNvPr id="101" name="Project content 101"/>
          <p:cNvSpPr txBox="1"/>
          <p:nvPr/>
        </p:nvSpPr>
        <p:spPr>
          <a:xfrm>
            <a:off x="594360" y="1508760"/>
            <a:ext cx="7315200" cy="457200"/>
          </a:xfrm>
          <a:prstGeom prst="rect">
            <a:avLst/>
          </a:prstGeom>
          <a:noFill/>
          <a:ln>
            <a:noFill/>
          </a:ln>
        </p:spPr>
        <p:txBody>
          <a:bodyPr wrap="square" lIns="0" tIns="0" rIns="0" bIns="0" anchor="t">
            <a:noAutofit/>
          </a:bodyPr>
          <a:lstStyle/>
          <a:p>
            <a:pPr algn="l">
              <a:lnSpc>
                <a:spcPct val="105000"/>
              </a:lnSpc>
              <a:spcAft>
                <a:spcPts val="0"/>
              </a:spcAft>
              <a:buNone/>
            </a:pPr>
            <a:r>
              <a:rPr lang="en-SG" sz="2400" b="1">
                <a:solidFill>
                  <a:srgbClr val="181C62"/>
                </a:solidFill>
                <a:latin typeface="Times New Roman"/>
                <a:ea typeface="Times New Roman"/>
                <a:cs typeface="Times New Roman"/>
              </a:rPr>
              <a:t>Three ranked careers for a person to explore</a:t>
            </a:r>
            <a:endParaRPr lang="en-SG" sz="2400"/>
          </a:p>
        </p:txBody>
      </p:sp>
      <p:sp>
        <p:nvSpPr>
          <p:cNvPr id="102" name="Project content 102"/>
          <p:cNvSpPr txBox="1"/>
          <p:nvPr/>
        </p:nvSpPr>
        <p:spPr>
          <a:xfrm>
            <a:off x="594360" y="2267712"/>
            <a:ext cx="2377440" cy="548640"/>
          </a:xfrm>
          <a:prstGeom prst="rect">
            <a:avLst/>
          </a:prstGeom>
          <a:noFill/>
          <a:ln>
            <a:noFill/>
          </a:ln>
        </p:spPr>
        <p:txBody>
          <a:bodyPr wrap="square" lIns="0" tIns="0" rIns="0" bIns="0" anchor="t">
            <a:noAutofit/>
          </a:bodyPr>
          <a:lstStyle/>
          <a:p>
            <a:pPr algn="l">
              <a:lnSpc>
                <a:spcPct val="105000"/>
              </a:lnSpc>
              <a:spcAft>
                <a:spcPts val="0"/>
              </a:spcAft>
              <a:buNone/>
            </a:pPr>
            <a:r>
              <a:rPr lang="en-SG" sz="3600" b="1">
                <a:solidFill>
                  <a:srgbClr val="181C62"/>
                </a:solidFill>
                <a:latin typeface="Times New Roman"/>
                <a:ea typeface="Times New Roman"/>
                <a:cs typeface="Times New Roman"/>
              </a:rPr>
              <a:t>15,000</a:t>
            </a:r>
            <a:endParaRPr lang="en-SG" sz="3600"/>
          </a:p>
        </p:txBody>
      </p:sp>
      <p:sp>
        <p:nvSpPr>
          <p:cNvPr id="103" name="Project content 103"/>
          <p:cNvSpPr txBox="1"/>
          <p:nvPr/>
        </p:nvSpPr>
        <p:spPr>
          <a:xfrm>
            <a:off x="594360" y="2816352"/>
            <a:ext cx="2377440" cy="365760"/>
          </a:xfrm>
          <a:prstGeom prst="rect">
            <a:avLst/>
          </a:prstGeom>
          <a:noFill/>
          <a:ln>
            <a:noFill/>
          </a:ln>
        </p:spPr>
        <p:txBody>
          <a:bodyPr wrap="square" lIns="0" tIns="0" rIns="0" bIns="0" anchor="t">
            <a:noAutofit/>
          </a:bodyPr>
          <a:lstStyle/>
          <a:p>
            <a:pPr algn="l">
              <a:lnSpc>
                <a:spcPct val="105000"/>
              </a:lnSpc>
              <a:spcAft>
                <a:spcPts val="0"/>
              </a:spcAft>
              <a:buNone/>
            </a:pPr>
            <a:r>
              <a:rPr lang="en-SG" sz="1800" b="0">
                <a:solidFill>
                  <a:srgbClr val="000000"/>
                </a:solidFill>
                <a:latin typeface="Times New Roman"/>
                <a:ea typeface="Times New Roman"/>
                <a:cs typeface="Times New Roman"/>
              </a:rPr>
              <a:t>profiles in the dataset</a:t>
            </a:r>
            <a:endParaRPr lang="en-SG" sz="1800"/>
          </a:p>
        </p:txBody>
      </p:sp>
      <p:sp>
        <p:nvSpPr>
          <p:cNvPr id="104" name="Project content 104"/>
          <p:cNvSpPr txBox="1"/>
          <p:nvPr/>
        </p:nvSpPr>
        <p:spPr>
          <a:xfrm>
            <a:off x="3200400" y="2267712"/>
            <a:ext cx="1965960" cy="548640"/>
          </a:xfrm>
          <a:prstGeom prst="rect">
            <a:avLst/>
          </a:prstGeom>
          <a:noFill/>
          <a:ln>
            <a:noFill/>
          </a:ln>
        </p:spPr>
        <p:txBody>
          <a:bodyPr wrap="square" lIns="0" tIns="0" rIns="0" bIns="0" anchor="t">
            <a:noAutofit/>
          </a:bodyPr>
          <a:lstStyle/>
          <a:p>
            <a:pPr algn="l">
              <a:lnSpc>
                <a:spcPct val="105000"/>
              </a:lnSpc>
              <a:spcAft>
                <a:spcPts val="0"/>
              </a:spcAft>
              <a:buNone/>
            </a:pPr>
            <a:r>
              <a:rPr lang="en-SG" sz="3600" b="1">
                <a:solidFill>
                  <a:srgbClr val="181C62"/>
                </a:solidFill>
                <a:latin typeface="Times New Roman"/>
                <a:ea typeface="Times New Roman"/>
                <a:cs typeface="Times New Roman"/>
              </a:rPr>
              <a:t>18</a:t>
            </a:r>
            <a:endParaRPr lang="en-SG" sz="3600"/>
          </a:p>
        </p:txBody>
      </p:sp>
      <p:sp>
        <p:nvSpPr>
          <p:cNvPr id="105" name="Project content 105"/>
          <p:cNvSpPr txBox="1"/>
          <p:nvPr/>
        </p:nvSpPr>
        <p:spPr>
          <a:xfrm>
            <a:off x="3200400" y="2816352"/>
            <a:ext cx="1965960" cy="365760"/>
          </a:xfrm>
          <a:prstGeom prst="rect">
            <a:avLst/>
          </a:prstGeom>
          <a:noFill/>
          <a:ln>
            <a:noFill/>
          </a:ln>
        </p:spPr>
        <p:txBody>
          <a:bodyPr wrap="square" lIns="0" tIns="0" rIns="0" bIns="0" anchor="t">
            <a:noAutofit/>
          </a:bodyPr>
          <a:lstStyle/>
          <a:p>
            <a:pPr algn="l">
              <a:lnSpc>
                <a:spcPct val="105000"/>
              </a:lnSpc>
              <a:spcAft>
                <a:spcPts val="0"/>
              </a:spcAft>
              <a:buNone/>
            </a:pPr>
            <a:r>
              <a:rPr lang="en-SG" sz="1800" b="0">
                <a:solidFill>
                  <a:srgbClr val="000000"/>
                </a:solidFill>
                <a:latin typeface="Times New Roman"/>
                <a:ea typeface="Times New Roman"/>
                <a:cs typeface="Times New Roman"/>
              </a:rPr>
              <a:t>input fields</a:t>
            </a:r>
            <a:endParaRPr lang="en-SG" sz="1800"/>
          </a:p>
        </p:txBody>
      </p:sp>
      <p:sp>
        <p:nvSpPr>
          <p:cNvPr id="106" name="Project content 106"/>
          <p:cNvSpPr txBox="1"/>
          <p:nvPr/>
        </p:nvSpPr>
        <p:spPr>
          <a:xfrm>
            <a:off x="5715000" y="2267712"/>
            <a:ext cx="2103120" cy="548640"/>
          </a:xfrm>
          <a:prstGeom prst="rect">
            <a:avLst/>
          </a:prstGeom>
          <a:noFill/>
          <a:ln>
            <a:noFill/>
          </a:ln>
        </p:spPr>
        <p:txBody>
          <a:bodyPr wrap="square" lIns="0" tIns="0" rIns="0" bIns="0" anchor="t">
            <a:noAutofit/>
          </a:bodyPr>
          <a:lstStyle/>
          <a:p>
            <a:pPr algn="l">
              <a:lnSpc>
                <a:spcPct val="105000"/>
              </a:lnSpc>
              <a:spcAft>
                <a:spcPts val="0"/>
              </a:spcAft>
              <a:buNone/>
            </a:pPr>
            <a:r>
              <a:rPr lang="en-SG" sz="3600" b="1">
                <a:solidFill>
                  <a:srgbClr val="181C62"/>
                </a:solidFill>
                <a:latin typeface="Times New Roman"/>
                <a:ea typeface="Times New Roman"/>
                <a:cs typeface="Times New Roman"/>
              </a:rPr>
              <a:t>22</a:t>
            </a:r>
            <a:endParaRPr lang="en-SG" sz="3600"/>
          </a:p>
        </p:txBody>
      </p:sp>
      <p:sp>
        <p:nvSpPr>
          <p:cNvPr id="107" name="Project content 107"/>
          <p:cNvSpPr txBox="1"/>
          <p:nvPr/>
        </p:nvSpPr>
        <p:spPr>
          <a:xfrm>
            <a:off x="5715000" y="2816352"/>
            <a:ext cx="2103120" cy="365760"/>
          </a:xfrm>
          <a:prstGeom prst="rect">
            <a:avLst/>
          </a:prstGeom>
          <a:noFill/>
          <a:ln>
            <a:noFill/>
          </a:ln>
        </p:spPr>
        <p:txBody>
          <a:bodyPr wrap="square" lIns="0" tIns="0" rIns="0" bIns="0" anchor="t">
            <a:noAutofit/>
          </a:bodyPr>
          <a:lstStyle/>
          <a:p>
            <a:pPr algn="l">
              <a:lnSpc>
                <a:spcPct val="105000"/>
              </a:lnSpc>
              <a:spcAft>
                <a:spcPts val="0"/>
              </a:spcAft>
              <a:buNone/>
            </a:pPr>
            <a:r>
              <a:rPr lang="en-SG" sz="1800" b="0">
                <a:solidFill>
                  <a:srgbClr val="000000"/>
                </a:solidFill>
                <a:latin typeface="Times New Roman"/>
                <a:ea typeface="Times New Roman"/>
                <a:cs typeface="Times New Roman"/>
              </a:rPr>
              <a:t>possible careers</a:t>
            </a:r>
            <a:endParaRPr lang="en-SG" sz="1800"/>
          </a:p>
        </p:txBody>
      </p:sp>
      <p:sp>
        <p:nvSpPr>
          <p:cNvPr id="108" name="Project content 108"/>
          <p:cNvSpPr txBox="1"/>
          <p:nvPr/>
        </p:nvSpPr>
        <p:spPr>
          <a:xfrm>
            <a:off x="594360" y="3520440"/>
            <a:ext cx="7406640" cy="457200"/>
          </a:xfrm>
          <a:prstGeom prst="rect">
            <a:avLst/>
          </a:prstGeom>
          <a:noFill/>
          <a:ln>
            <a:noFill/>
          </a:ln>
        </p:spPr>
        <p:txBody>
          <a:bodyPr wrap="square" lIns="0" tIns="0" rIns="0" bIns="0" anchor="t">
            <a:noAutofit/>
          </a:bodyPr>
          <a:lstStyle/>
          <a:p>
            <a:pPr algn="l">
              <a:lnSpc>
                <a:spcPct val="105000"/>
              </a:lnSpc>
              <a:spcAft>
                <a:spcPts val="0"/>
              </a:spcAft>
              <a:buNone/>
            </a:pPr>
            <a:r>
              <a:rPr lang="en-SG" sz="1900" b="0">
                <a:solidFill>
                  <a:srgbClr val="000000"/>
                </a:solidFill>
                <a:latin typeface="Times New Roman"/>
                <a:ea typeface="Times New Roman"/>
                <a:cs typeface="Times New Roman"/>
              </a:rPr>
              <a:t>Input: a profile CSV     Output: a ranked shortlist with model scores</a:t>
            </a:r>
            <a:endParaRPr lang="en-SG" sz="1900"/>
          </a:p>
        </p:txBody>
      </p:sp>
      <p:sp>
        <p:nvSpPr>
          <p:cNvPr id="109" name="Project content 109"/>
          <p:cNvSpPr txBox="1"/>
          <p:nvPr/>
        </p:nvSpPr>
        <p:spPr>
          <a:xfrm>
            <a:off x="594360" y="4096512"/>
            <a:ext cx="7406640" cy="365760"/>
          </a:xfrm>
          <a:prstGeom prst="rect">
            <a:avLst/>
          </a:prstGeom>
          <a:noFill/>
          <a:ln>
            <a:noFill/>
          </a:ln>
        </p:spPr>
        <p:txBody>
          <a:bodyPr wrap="square" lIns="0" tIns="0" rIns="0" bIns="0" anchor="t">
            <a:noAutofit/>
          </a:bodyPr>
          <a:lstStyle/>
          <a:p>
            <a:pPr algn="l">
              <a:lnSpc>
                <a:spcPct val="105000"/>
              </a:lnSpc>
              <a:spcAft>
                <a:spcPts val="0"/>
              </a:spcAft>
              <a:buNone/>
            </a:pPr>
            <a:r>
              <a:rPr lang="en-SG" sz="1700" b="0">
                <a:solidFill>
                  <a:srgbClr val="444444"/>
                </a:solidFill>
                <a:latin typeface="Times New Roman"/>
                <a:ea typeface="Times New Roman"/>
                <a:cs typeface="Times New Roman"/>
              </a:rPr>
              <a:t>Current prototype: Python command line with CSV export</a:t>
            </a:r>
            <a:endParaRPr lang="en-SG" sz="1700"/>
          </a:p>
        </p:txBody>
      </p:sp>
    </p:spTree>
    <p:extLst>
      <p:ext uri="{BB962C8B-B14F-4D97-AF65-F5344CB8AC3E}">
        <p14:creationId xmlns:p14="http://schemas.microsoft.com/office/powerpoint/2010/main" val="3159390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6C103-8E6B-FB59-53B9-86C5750B0C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19D573-F488-59A9-9DB4-99799600D0E6}"/>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03 AI Application </a:t>
            </a:r>
          </a:p>
        </p:txBody>
      </p:sp>
      <p:sp>
        <p:nvSpPr>
          <p:cNvPr id="6" name="Slide Number Placeholder 5">
            <a:extLst>
              <a:ext uri="{FF2B5EF4-FFF2-40B4-BE49-F238E27FC236}">
                <a16:creationId xmlns:a16="http://schemas.microsoft.com/office/drawing/2014/main" id="{D32C60F6-C9D3-E56E-D615-A867D0722D4A}"/>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10</a:t>
            </a:fld>
            <a:endParaRPr lang="en-US" dirty="0"/>
          </a:p>
        </p:txBody>
      </p:sp>
      <p:cxnSp>
        <p:nvCxnSpPr>
          <p:cNvPr id="28" name="Straight Connector 27">
            <a:extLst>
              <a:ext uri="{FF2B5EF4-FFF2-40B4-BE49-F238E27FC236}">
                <a16:creationId xmlns:a16="http://schemas.microsoft.com/office/drawing/2014/main" id="{27F37A32-ACD8-98A7-84FA-C1FB0052DE48}"/>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7DDF53BF-62AE-D657-78C8-071493FC988E}"/>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363BABCA-60B7-1596-9B64-F1B28669C8C8}"/>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74ED7A61-BAD4-6517-239A-0C07F94FD7D9}"/>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24A9F612-7E73-53BC-1C79-13141FB17762}"/>
              </a:ext>
            </a:extLst>
          </p:cNvPr>
          <p:cNvSpPr txBox="1"/>
          <p:nvPr/>
        </p:nvSpPr>
        <p:spPr>
          <a:xfrm rot="5400000">
            <a:off x="8356032" y="1274739"/>
            <a:ext cx="94288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1DF34EA3-C361-F1EB-276A-E288A3469EB1}"/>
              </a:ext>
            </a:extLst>
          </p:cNvPr>
          <p:cNvSpPr txBox="1"/>
          <p:nvPr/>
        </p:nvSpPr>
        <p:spPr>
          <a:xfrm rot="5400000">
            <a:off x="8287102" y="2205227"/>
            <a:ext cx="1080745" cy="261610"/>
          </a:xfrm>
          <a:prstGeom prst="rect">
            <a:avLst/>
          </a:prstGeom>
          <a:noFill/>
        </p:spPr>
        <p:txBody>
          <a:bodyPr wrap="none" rtlCol="0">
            <a:spAutoFit/>
          </a:bodyPr>
          <a:lstStyle/>
          <a:p>
            <a:r>
              <a:rPr lang="en-SG" sz="1100" b="1" dirty="0">
                <a:solidFill>
                  <a:schemeClr val="bg1"/>
                </a:solidFill>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79E8DE10-FE9B-2F08-6037-D719FCF758CE}"/>
              </a:ext>
            </a:extLst>
          </p:cNvPr>
          <p:cNvSpPr txBox="1"/>
          <p:nvPr/>
        </p:nvSpPr>
        <p:spPr>
          <a:xfrm rot="5400000">
            <a:off x="8523546" y="2952171"/>
            <a:ext cx="607859"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49CE078D-E5B9-12FF-B921-766DA80B16B0}"/>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851CEA15-B827-175E-EC54-93C53416F765}"/>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C7941C50-DCD0-7748-2B3C-96608B4BAE6F}"/>
              </a:ext>
            </a:extLst>
          </p:cNvPr>
          <p:cNvSpPr txBox="1"/>
          <p:nvPr/>
        </p:nvSpPr>
        <p:spPr>
          <a:xfrm>
            <a:off x="870708" y="937730"/>
            <a:ext cx="6500000"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Data parameters</a:t>
            </a:r>
          </a:p>
        </p:txBody>
      </p:sp>
      <p:graphicFrame>
        <p:nvGraphicFramePr>
          <p:cNvPr id="101" name="Editable project table 101"/>
          <p:cNvGraphicFramePr/>
          <p:nvPr/>
        </p:nvGraphicFramePr>
        <p:xfrm>
          <a:off x="594360" y="1481328"/>
          <a:ext cx="7406640" cy="2636331"/>
        </p:xfrm>
        <a:graphic>
          <a:graphicData uri="http://schemas.openxmlformats.org/drawingml/2006/table">
            <a:tbl>
              <a:tblPr firstRow="1"/>
              <a:tblGrid>
                <a:gridCol w="2331720">
                  <a:extLst>
                    <a:ext uri="{9D8B030D-6E8A-4147-A177-3AD203B41FA5}">
                      <a16:colId xmlns:a16="http://schemas.microsoft.com/office/drawing/2014/main" val="20000"/>
                    </a:ext>
                  </a:extLst>
                </a:gridCol>
                <a:gridCol w="5074920">
                  <a:extLst>
                    <a:ext uri="{9D8B030D-6E8A-4147-A177-3AD203B41FA5}">
                      <a16:colId xmlns:a16="http://schemas.microsoft.com/office/drawing/2014/main" val="20001"/>
                    </a:ext>
                  </a:extLst>
                </a:gridCol>
              </a:tblGrid>
              <a:tr h="384048">
                <a:tc>
                  <a:txBody>
                    <a:bodyPr/>
                    <a:lstStyle/>
                    <a:p>
                      <a:pPr algn="l">
                        <a:lnSpc>
                          <a:spcPct val="105000"/>
                        </a:lnSpc>
                        <a:spcAft>
                          <a:spcPts val="0"/>
                        </a:spcAft>
                        <a:buNone/>
                      </a:pPr>
                      <a:r>
                        <a:rPr lang="en-SG" sz="1650" b="1">
                          <a:solidFill>
                            <a:srgbClr val="FFFFFF"/>
                          </a:solidFill>
                          <a:latin typeface="Times New Roman"/>
                          <a:ea typeface="Times New Roman"/>
                          <a:cs typeface="Times New Roman"/>
                        </a:rPr>
                        <a:t>Input group</a:t>
                      </a:r>
                      <a:endParaRPr lang="en-SG" sz="1650"/>
                    </a:p>
                  </a:txBody>
                  <a:tcPr anchor="ctr">
                    <a:lnL w="0">
                      <a:noFill/>
                    </a:lnL>
                    <a:lnR w="0">
                      <a:noFill/>
                    </a:lnR>
                    <a:lnT w="0">
                      <a:noFill/>
                    </a:lnT>
                    <a:lnB w="6350">
                      <a:solidFill>
                        <a:srgbClr val="CCD5E0"/>
                      </a:solidFill>
                    </a:lnB>
                    <a:solidFill>
                      <a:srgbClr val="181C62"/>
                    </a:solidFill>
                  </a:tcPr>
                </a:tc>
                <a:tc>
                  <a:txBody>
                    <a:bodyPr/>
                    <a:lstStyle/>
                    <a:p>
                      <a:pPr algn="l">
                        <a:lnSpc>
                          <a:spcPct val="105000"/>
                        </a:lnSpc>
                        <a:spcAft>
                          <a:spcPts val="0"/>
                        </a:spcAft>
                        <a:buNone/>
                      </a:pPr>
                      <a:r>
                        <a:rPr lang="en-SG" sz="1650" b="1">
                          <a:solidFill>
                            <a:srgbClr val="FFFFFF"/>
                          </a:solidFill>
                          <a:latin typeface="Times New Roman"/>
                          <a:ea typeface="Times New Roman"/>
                          <a:cs typeface="Times New Roman"/>
                        </a:rPr>
                        <a:t>Fields used by the model</a:t>
                      </a:r>
                      <a:endParaRPr lang="en-SG" sz="1650"/>
                    </a:p>
                  </a:txBody>
                  <a:tcPr anchor="ctr">
                    <a:lnL w="0">
                      <a:noFill/>
                    </a:lnL>
                    <a:lnR w="0">
                      <a:noFill/>
                    </a:lnR>
                    <a:lnT w="0">
                      <a:noFill/>
                    </a:lnT>
                    <a:lnB w="6350">
                      <a:solidFill>
                        <a:srgbClr val="CCD5E0"/>
                      </a:solidFill>
                    </a:lnB>
                    <a:solidFill>
                      <a:srgbClr val="181C62"/>
                    </a:solidFill>
                  </a:tcPr>
                </a:tc>
                <a:extLst>
                  <a:ext uri="{0D108BD9-81ED-4DB2-BD59-A6C34878D82A}">
                    <a16:rowId xmlns:a16="http://schemas.microsoft.com/office/drawing/2014/main" val="10000"/>
                  </a:ext>
                </a:extLst>
              </a:tr>
              <a:tr h="429768">
                <a:tc>
                  <a:txBody>
                    <a:bodyPr/>
                    <a:lstStyle/>
                    <a:p>
                      <a:pPr algn="l">
                        <a:lnSpc>
                          <a:spcPct val="105000"/>
                        </a:lnSpc>
                        <a:spcAft>
                          <a:spcPts val="0"/>
                        </a:spcAft>
                        <a:buNone/>
                      </a:pPr>
                      <a:r>
                        <a:rPr lang="en-SG" sz="1650" b="0">
                          <a:solidFill>
                            <a:srgbClr val="000000"/>
                          </a:solidFill>
                          <a:latin typeface="Times New Roman"/>
                          <a:ea typeface="Times New Roman"/>
                          <a:cs typeface="Times New Roman"/>
                        </a:rPr>
                        <a:t>Education</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tc>
                  <a:txBody>
                    <a:bodyPr/>
                    <a:lstStyle/>
                    <a:p>
                      <a:pPr algn="l">
                        <a:lnSpc>
                          <a:spcPct val="105000"/>
                        </a:lnSpc>
                        <a:spcAft>
                          <a:spcPts val="0"/>
                        </a:spcAft>
                        <a:buNone/>
                      </a:pPr>
                      <a:r>
                        <a:rPr lang="en-SG" sz="1650" b="0">
                          <a:solidFill>
                            <a:srgbClr val="000000"/>
                          </a:solidFill>
                          <a:latin typeface="Times New Roman"/>
                          <a:ea typeface="Times New Roman"/>
                          <a:cs typeface="Times New Roman"/>
                        </a:rPr>
                        <a:t>Qualification, stream, academic level, grade</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extLst>
                  <a:ext uri="{0D108BD9-81ED-4DB2-BD59-A6C34878D82A}">
                    <a16:rowId xmlns:a16="http://schemas.microsoft.com/office/drawing/2014/main" val="10001"/>
                  </a:ext>
                </a:extLst>
              </a:tr>
              <a:tr h="594360">
                <a:tc>
                  <a:txBody>
                    <a:bodyPr/>
                    <a:lstStyle/>
                    <a:p>
                      <a:pPr algn="l">
                        <a:lnSpc>
                          <a:spcPct val="105000"/>
                        </a:lnSpc>
                        <a:spcAft>
                          <a:spcPts val="0"/>
                        </a:spcAft>
                        <a:buNone/>
                      </a:pPr>
                      <a:r>
                        <a:rPr lang="en-SG" sz="1650" b="0">
                          <a:solidFill>
                            <a:srgbClr val="000000"/>
                          </a:solidFill>
                          <a:latin typeface="Times New Roman"/>
                          <a:ea typeface="Times New Roman"/>
                          <a:cs typeface="Times New Roman"/>
                        </a:rPr>
                        <a:t>Skills</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tc>
                  <a:txBody>
                    <a:bodyPr/>
                    <a:lstStyle/>
                    <a:p>
                      <a:pPr algn="l">
                        <a:lnSpc>
                          <a:spcPct val="105000"/>
                        </a:lnSpc>
                        <a:spcAft>
                          <a:spcPts val="0"/>
                        </a:spcAft>
                        <a:buNone/>
                      </a:pPr>
                      <a:r>
                        <a:rPr lang="en-SG" sz="1650" b="0">
                          <a:solidFill>
                            <a:srgbClr val="000000"/>
                          </a:solidFill>
                          <a:latin typeface="Times New Roman"/>
                          <a:ea typeface="Times New Roman"/>
                          <a:cs typeface="Times New Roman"/>
                        </a:rPr>
                        <a:t>Technical skills, soft skills, languages,</a:t>
                      </a:r>
                      <a:endParaRPr lang="en-SG" sz="1650"/>
                    </a:p>
                    <a:p>
                      <a:pPr algn="l">
                        <a:lnSpc>
                          <a:spcPct val="105000"/>
                        </a:lnSpc>
                        <a:spcAft>
                          <a:spcPts val="0"/>
                        </a:spcAft>
                        <a:buNone/>
                      </a:pPr>
                      <a:r>
                        <a:rPr lang="en-SG" sz="1650" b="0">
                          <a:solidFill>
                            <a:srgbClr val="000000"/>
                          </a:solidFill>
                          <a:latin typeface="Times New Roman"/>
                          <a:ea typeface="Times New Roman"/>
                          <a:cs typeface="Times New Roman"/>
                        </a:rPr>
                        <a:t>certifications, skills gained</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extLst>
                  <a:ext uri="{0D108BD9-81ED-4DB2-BD59-A6C34878D82A}">
                    <a16:rowId xmlns:a16="http://schemas.microsoft.com/office/drawing/2014/main" val="10002"/>
                  </a:ext>
                </a:extLst>
              </a:tr>
              <a:tr h="594360">
                <a:tc>
                  <a:txBody>
                    <a:bodyPr/>
                    <a:lstStyle/>
                    <a:p>
                      <a:pPr algn="l">
                        <a:lnSpc>
                          <a:spcPct val="105000"/>
                        </a:lnSpc>
                        <a:spcAft>
                          <a:spcPts val="0"/>
                        </a:spcAft>
                        <a:buNone/>
                      </a:pPr>
                      <a:r>
                        <a:rPr lang="en-SG" sz="1650" b="0">
                          <a:solidFill>
                            <a:srgbClr val="000000"/>
                          </a:solidFill>
                          <a:latin typeface="Times New Roman"/>
                          <a:ea typeface="Times New Roman"/>
                          <a:cs typeface="Times New Roman"/>
                        </a:rPr>
                        <a:t>Interests and preferences</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tc>
                  <a:txBody>
                    <a:bodyPr/>
                    <a:lstStyle/>
                    <a:p>
                      <a:pPr algn="l">
                        <a:lnSpc>
                          <a:spcPct val="105000"/>
                        </a:lnSpc>
                        <a:spcAft>
                          <a:spcPts val="0"/>
                        </a:spcAft>
                        <a:buNone/>
                      </a:pPr>
                      <a:r>
                        <a:rPr lang="en-SG" sz="1650" b="0">
                          <a:solidFill>
                            <a:srgbClr val="000000"/>
                          </a:solidFill>
                          <a:latin typeface="Times New Roman"/>
                          <a:ea typeface="Times New Roman"/>
                          <a:cs typeface="Times New Roman"/>
                        </a:rPr>
                        <a:t>Career interest, work style, work type,</a:t>
                      </a:r>
                      <a:endParaRPr lang="en-SG" sz="1650"/>
                    </a:p>
                    <a:p>
                      <a:pPr algn="l">
                        <a:lnSpc>
                          <a:spcPct val="105000"/>
                        </a:lnSpc>
                        <a:spcAft>
                          <a:spcPts val="0"/>
                        </a:spcAft>
                        <a:buNone/>
                      </a:pPr>
                      <a:r>
                        <a:rPr lang="en-SG" sz="1650" b="0">
                          <a:solidFill>
                            <a:srgbClr val="000000"/>
                          </a:solidFill>
                          <a:latin typeface="Times New Roman"/>
                          <a:ea typeface="Times New Roman"/>
                          <a:cs typeface="Times New Roman"/>
                        </a:rPr>
                        <a:t>willingness to relocate</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extLst>
                  <a:ext uri="{0D108BD9-81ED-4DB2-BD59-A6C34878D82A}">
                    <a16:rowId xmlns:a16="http://schemas.microsoft.com/office/drawing/2014/main" val="10003"/>
                  </a:ext>
                </a:extLst>
              </a:tr>
              <a:tr h="594360">
                <a:tc>
                  <a:txBody>
                    <a:bodyPr/>
                    <a:lstStyle/>
                    <a:p>
                      <a:pPr algn="l">
                        <a:lnSpc>
                          <a:spcPct val="105000"/>
                        </a:lnSpc>
                        <a:spcAft>
                          <a:spcPts val="0"/>
                        </a:spcAft>
                        <a:buNone/>
                      </a:pPr>
                      <a:r>
                        <a:rPr lang="en-SG" sz="1650" b="0">
                          <a:solidFill>
                            <a:srgbClr val="000000"/>
                          </a:solidFill>
                          <a:latin typeface="Times New Roman"/>
                          <a:ea typeface="Times New Roman"/>
                          <a:cs typeface="Times New Roman"/>
                        </a:rPr>
                        <a:t>Personal and experience</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tc>
                  <a:txBody>
                    <a:bodyPr/>
                    <a:lstStyle/>
                    <a:p>
                      <a:pPr algn="l">
                        <a:lnSpc>
                          <a:spcPct val="105000"/>
                        </a:lnSpc>
                        <a:spcAft>
                          <a:spcPts val="0"/>
                        </a:spcAft>
                        <a:buNone/>
                      </a:pPr>
                      <a:r>
                        <a:rPr lang="en-SG" sz="1650" b="0">
                          <a:solidFill>
                            <a:srgbClr val="000000"/>
                          </a:solidFill>
                          <a:latin typeface="Times New Roman"/>
                          <a:ea typeface="Times New Roman"/>
                          <a:cs typeface="Times New Roman"/>
                        </a:rPr>
                        <a:t>Age, gender, location, past jobs or internships,</a:t>
                      </a:r>
                      <a:endParaRPr lang="en-SG" sz="1650"/>
                    </a:p>
                    <a:p>
                      <a:pPr algn="l">
                        <a:lnSpc>
                          <a:spcPct val="105000"/>
                        </a:lnSpc>
                        <a:spcAft>
                          <a:spcPts val="0"/>
                        </a:spcAft>
                        <a:buNone/>
                      </a:pPr>
                      <a:r>
                        <a:rPr lang="en-SG" sz="1650" b="0">
                          <a:solidFill>
                            <a:srgbClr val="000000"/>
                          </a:solidFill>
                          <a:latin typeface="Times New Roman"/>
                          <a:ea typeface="Times New Roman"/>
                          <a:cs typeface="Times New Roman"/>
                        </a:rPr>
                        <a:t>achievements</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extLst>
                  <a:ext uri="{0D108BD9-81ED-4DB2-BD59-A6C34878D82A}">
                    <a16:rowId xmlns:a16="http://schemas.microsoft.com/office/drawing/2014/main" val="10004"/>
                  </a:ext>
                </a:extLst>
              </a:tr>
            </a:tbl>
          </a:graphicData>
        </a:graphic>
      </p:graphicFrame>
      <p:sp>
        <p:nvSpPr>
          <p:cNvPr id="102" name="Project content 102"/>
          <p:cNvSpPr txBox="1"/>
          <p:nvPr/>
        </p:nvSpPr>
        <p:spPr>
          <a:xfrm>
            <a:off x="594360" y="4215384"/>
            <a:ext cx="7406640" cy="320040"/>
          </a:xfrm>
          <a:prstGeom prst="rect">
            <a:avLst/>
          </a:prstGeom>
          <a:noFill/>
          <a:ln>
            <a:noFill/>
          </a:ln>
        </p:spPr>
        <p:txBody>
          <a:bodyPr wrap="square" lIns="0" tIns="0" rIns="0" bIns="0" anchor="t">
            <a:noAutofit/>
          </a:bodyPr>
          <a:lstStyle/>
          <a:p>
            <a:pPr algn="l">
              <a:lnSpc>
                <a:spcPct val="105000"/>
              </a:lnSpc>
              <a:spcAft>
                <a:spcPts val="0"/>
              </a:spcAft>
              <a:buNone/>
            </a:pPr>
            <a:r>
              <a:rPr lang="en-SG" sz="1700" b="1">
                <a:solidFill>
                  <a:srgbClr val="181C62"/>
                </a:solidFill>
                <a:latin typeface="Times New Roman"/>
                <a:ea typeface="Times New Roman"/>
                <a:cs typeface="Times New Roman"/>
              </a:rPr>
              <a:t>2 numeric fields: median fill and scaling</a:t>
            </a:r>
            <a:endParaRPr lang="en-SG" sz="1700"/>
          </a:p>
        </p:txBody>
      </p:sp>
      <p:sp>
        <p:nvSpPr>
          <p:cNvPr id="103" name="Project content 103"/>
          <p:cNvSpPr txBox="1"/>
          <p:nvPr/>
        </p:nvSpPr>
        <p:spPr>
          <a:xfrm>
            <a:off x="594360" y="4553712"/>
            <a:ext cx="7406640" cy="320040"/>
          </a:xfrm>
          <a:prstGeom prst="rect">
            <a:avLst/>
          </a:prstGeom>
          <a:noFill/>
          <a:ln>
            <a:noFill/>
          </a:ln>
        </p:spPr>
        <p:txBody>
          <a:bodyPr wrap="square" lIns="0" tIns="0" rIns="0" bIns="0" anchor="t">
            <a:noAutofit/>
          </a:bodyPr>
          <a:lstStyle/>
          <a:p>
            <a:pPr algn="l">
              <a:lnSpc>
                <a:spcPct val="105000"/>
              </a:lnSpc>
              <a:spcAft>
                <a:spcPts val="0"/>
              </a:spcAft>
              <a:buNone/>
            </a:pPr>
            <a:r>
              <a:rPr lang="en-SG" sz="1700" b="0">
                <a:solidFill>
                  <a:srgbClr val="000000"/>
                </a:solidFill>
                <a:latin typeface="Times New Roman"/>
                <a:ea typeface="Times New Roman"/>
                <a:cs typeface="Times New Roman"/>
              </a:rPr>
              <a:t>16 profile fields: split lists, preserve field names, encode missing values</a:t>
            </a:r>
            <a:endParaRPr lang="en-SG" sz="1700"/>
          </a:p>
        </p:txBody>
      </p:sp>
    </p:spTree>
    <p:extLst>
      <p:ext uri="{BB962C8B-B14F-4D97-AF65-F5344CB8AC3E}">
        <p14:creationId xmlns:p14="http://schemas.microsoft.com/office/powerpoint/2010/main" val="12116558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93CCBD-DFEF-52A7-56E7-2E2AA5B869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F51561-66BA-CF4A-2E3E-7B845DB9285D}"/>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03 AI Application </a:t>
            </a:r>
          </a:p>
        </p:txBody>
      </p:sp>
      <p:sp>
        <p:nvSpPr>
          <p:cNvPr id="6" name="Slide Number Placeholder 5">
            <a:extLst>
              <a:ext uri="{FF2B5EF4-FFF2-40B4-BE49-F238E27FC236}">
                <a16:creationId xmlns:a16="http://schemas.microsoft.com/office/drawing/2014/main" id="{A864FC3C-1186-D51F-2B8E-D00EB6FC2980}"/>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11</a:t>
            </a:fld>
            <a:endParaRPr lang="en-US" dirty="0"/>
          </a:p>
        </p:txBody>
      </p:sp>
      <p:cxnSp>
        <p:nvCxnSpPr>
          <p:cNvPr id="28" name="Straight Connector 27">
            <a:extLst>
              <a:ext uri="{FF2B5EF4-FFF2-40B4-BE49-F238E27FC236}">
                <a16:creationId xmlns:a16="http://schemas.microsoft.com/office/drawing/2014/main" id="{0BA970B7-74B9-0E0C-8243-E5D8574F9621}"/>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702D9B95-1B84-39E7-8CB5-8F8A90660DED}"/>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0EA689CF-FF13-41DC-F407-58D8B69EB431}"/>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6C759E67-D2FC-C4C2-A9AA-25040CD996B9}"/>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DBD5ED28-B1C7-A365-F059-DF772F12272A}"/>
              </a:ext>
            </a:extLst>
          </p:cNvPr>
          <p:cNvSpPr txBox="1"/>
          <p:nvPr/>
        </p:nvSpPr>
        <p:spPr>
          <a:xfrm rot="5400000">
            <a:off x="8356032" y="1274739"/>
            <a:ext cx="94288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3131A017-4666-5E2B-A5B5-7D1518E6D368}"/>
              </a:ext>
            </a:extLst>
          </p:cNvPr>
          <p:cNvSpPr txBox="1"/>
          <p:nvPr/>
        </p:nvSpPr>
        <p:spPr>
          <a:xfrm rot="5400000">
            <a:off x="8287102" y="2205227"/>
            <a:ext cx="1080745" cy="261610"/>
          </a:xfrm>
          <a:prstGeom prst="rect">
            <a:avLst/>
          </a:prstGeom>
          <a:noFill/>
        </p:spPr>
        <p:txBody>
          <a:bodyPr wrap="none" rtlCol="0">
            <a:spAutoFit/>
          </a:bodyPr>
          <a:lstStyle/>
          <a:p>
            <a:r>
              <a:rPr lang="en-SG" sz="1100" b="1" dirty="0">
                <a:solidFill>
                  <a:schemeClr val="bg1"/>
                </a:solidFill>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D7EA36BA-52FB-7E1A-FE32-F408A841DFE0}"/>
              </a:ext>
            </a:extLst>
          </p:cNvPr>
          <p:cNvSpPr txBox="1"/>
          <p:nvPr/>
        </p:nvSpPr>
        <p:spPr>
          <a:xfrm rot="5400000">
            <a:off x="8523546" y="2952171"/>
            <a:ext cx="607859"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F0BABE94-C8A6-3C7E-FDC5-793E0F235339}"/>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B3F305AA-DECE-E03B-9D9D-13A6AEE55024}"/>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F38D322E-6186-4C1F-B8CD-6723ACACE66C}"/>
              </a:ext>
            </a:extLst>
          </p:cNvPr>
          <p:cNvSpPr txBox="1"/>
          <p:nvPr/>
        </p:nvSpPr>
        <p:spPr>
          <a:xfrm>
            <a:off x="870708" y="937730"/>
            <a:ext cx="6500000"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Machine learning models</a:t>
            </a:r>
          </a:p>
        </p:txBody>
      </p:sp>
      <p:graphicFrame>
        <p:nvGraphicFramePr>
          <p:cNvPr id="101" name="Editable project table 101"/>
          <p:cNvGraphicFramePr/>
          <p:nvPr/>
        </p:nvGraphicFramePr>
        <p:xfrm>
          <a:off x="594360" y="1463040"/>
          <a:ext cx="7406640" cy="2752344"/>
        </p:xfrm>
        <a:graphic>
          <a:graphicData uri="http://schemas.openxmlformats.org/drawingml/2006/table">
            <a:tbl>
              <a:tblPr firstRow="1" bandRow="0"/>
              <a:tblGrid>
                <a:gridCol w="2331720"/>
                <a:gridCol w="5074920"/>
              </a:tblGrid>
              <a:tr h="393192">
                <a:tc>
                  <a:txBody>
                    <a:bodyPr wrap="square"/>
                    <a:lstStyle/>
                    <a:p>
                      <a:pPr algn="l">
                        <a:lnSpc>
                          <a:spcPct val="105000"/>
                        </a:lnSpc>
                        <a:spcAft>
                          <a:spcPts val="0"/>
                        </a:spcAft>
                        <a:buNone/>
                      </a:pPr>
                      <a:r>
                        <a:rPr lang="en-SG" sz="1700" b="1">
                          <a:solidFill>
                            <a:srgbClr val="FFFFFF"/>
                          </a:solidFill>
                          <a:latin typeface="Times New Roman"/>
                          <a:ea typeface="Times New Roman"/>
                          <a:cs typeface="Times New Roman"/>
                        </a:rPr>
                        <a:t>Model</a:t>
                      </a:r>
                      <a:endParaRPr lang="en-SG" sz="1700"/>
                    </a:p>
                  </a:txBody>
                  <a:tcPr marL="91440" marR="91440" marT="45720" marB="45720" anchor="ctr">
                    <a:lnL w="0">
                      <a:noFill/>
                    </a:lnL>
                    <a:lnR w="0">
                      <a:noFill/>
                    </a:lnR>
                    <a:lnT w="0">
                      <a:noFill/>
                    </a:lnT>
                    <a:lnB w="6350">
                      <a:solidFill>
                        <a:srgbClr val="CCD5E0"/>
                      </a:solidFill>
                    </a:lnB>
                    <a:solidFill>
                      <a:srgbClr val="181C62"/>
                    </a:solidFill>
                  </a:tcPr>
                </a:tc>
                <a:tc>
                  <a:txBody>
                    <a:bodyPr wrap="square"/>
                    <a:lstStyle/>
                    <a:p>
                      <a:pPr algn="l">
                        <a:lnSpc>
                          <a:spcPct val="105000"/>
                        </a:lnSpc>
                        <a:spcAft>
                          <a:spcPts val="0"/>
                        </a:spcAft>
                        <a:buNone/>
                      </a:pPr>
                      <a:r>
                        <a:rPr lang="en-SG" sz="1700" b="1">
                          <a:solidFill>
                            <a:srgbClr val="FFFFFF"/>
                          </a:solidFill>
                          <a:latin typeface="Times New Roman"/>
                          <a:ea typeface="Times New Roman"/>
                          <a:cs typeface="Times New Roman"/>
                        </a:rPr>
                        <a:t>How it works and settings used</a:t>
                      </a:r>
                      <a:endParaRPr lang="en-SG" sz="1700"/>
                    </a:p>
                  </a:txBody>
                  <a:tcPr marL="91440" marR="91440" marT="45720" marB="45720" anchor="ctr">
                    <a:lnL w="0">
                      <a:noFill/>
                    </a:lnL>
                    <a:lnR w="0">
                      <a:noFill/>
                    </a:lnR>
                    <a:lnT w="0">
                      <a:noFill/>
                    </a:lnT>
                    <a:lnB w="6350">
                      <a:solidFill>
                        <a:srgbClr val="CCD5E0"/>
                      </a:solidFill>
                    </a:lnB>
                    <a:solidFill>
                      <a:srgbClr val="181C62"/>
                    </a:solidFill>
                  </a:tcPr>
                </a:tc>
              </a:tr>
              <a:tr h="786384">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Logistic Regression</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Weights features to estimate career probabilities</a:t>
                      </a:r>
                      <a:endParaRPr lang="en-SG" sz="1700"/>
                    </a:p>
                    <a:p>
                      <a:pPr algn="l">
                        <a:lnSpc>
                          <a:spcPct val="105000"/>
                        </a:lnSpc>
                        <a:spcAft>
                          <a:spcPts val="0"/>
                        </a:spcAft>
                        <a:buNone/>
                      </a:pPr>
                      <a:r>
                        <a:rPr lang="en-SG" sz="1700" b="0">
                          <a:solidFill>
                            <a:srgbClr val="000000"/>
                          </a:solidFill>
                          <a:latin typeface="Times New Roman"/>
                          <a:ea typeface="Times New Roman"/>
                          <a:cs typeface="Times New Roman"/>
                        </a:rPr>
                        <a:t>TF-IDF features; regularisation C = 16</a:t>
                      </a:r>
                      <a:endParaRPr lang="en-SG" sz="1700"/>
                    </a:p>
                  </a:txBody>
                  <a:tcPr marL="91440" marR="91440" marT="45720" marB="45720" anchor="ctr">
                    <a:lnL w="0">
                      <a:noFill/>
                    </a:lnL>
                    <a:lnR w="0">
                      <a:noFill/>
                    </a:lnR>
                    <a:lnT w="0">
                      <a:noFill/>
                    </a:lnT>
                    <a:lnB w="6350">
                      <a:solidFill>
                        <a:srgbClr val="CCD5E0"/>
                      </a:solidFill>
                    </a:lnB>
                    <a:solidFill>
                      <a:srgbClr val="FFFFFF"/>
                    </a:solidFill>
                  </a:tcPr>
                </a:tc>
              </a:tr>
              <a:tr h="786384">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Random Forest</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Averages predictions from 500 decision trees</a:t>
                      </a:r>
                      <a:endParaRPr lang="en-SG" sz="1700"/>
                    </a:p>
                    <a:p>
                      <a:pPr algn="l">
                        <a:lnSpc>
                          <a:spcPct val="105000"/>
                        </a:lnSpc>
                        <a:spcAft>
                          <a:spcPts val="0"/>
                        </a:spcAft>
                        <a:buNone/>
                      </a:pPr>
                      <a:r>
                        <a:rPr lang="en-SG" sz="1700" b="0">
                          <a:solidFill>
                            <a:srgbClr val="000000"/>
                          </a:solidFill>
                          <a:latin typeface="Times New Roman"/>
                          <a:ea typeface="Times New Roman"/>
                          <a:cs typeface="Times New Roman"/>
                        </a:rPr>
                        <a:t>Binary features; minimum 2 profiles per leaf</a:t>
                      </a:r>
                      <a:endParaRPr lang="en-SG" sz="1700"/>
                    </a:p>
                  </a:txBody>
                  <a:tcPr marL="91440" marR="91440" marT="45720" marB="45720" anchor="ctr">
                    <a:lnL w="0">
                      <a:noFill/>
                    </a:lnL>
                    <a:lnR w="0">
                      <a:noFill/>
                    </a:lnR>
                    <a:lnT w="0">
                      <a:noFill/>
                    </a:lnT>
                    <a:lnB w="6350">
                      <a:solidFill>
                        <a:srgbClr val="CCD5E0"/>
                      </a:solidFill>
                    </a:lnB>
                    <a:solidFill>
                      <a:srgbClr val="FFFFFF"/>
                    </a:solidFill>
                  </a:tcPr>
                </a:tc>
              </a:tr>
              <a:tr h="786384">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Extra Trees</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500 trees with randomised split thresholds</a:t>
                      </a:r>
                      <a:endParaRPr lang="en-SG" sz="1700"/>
                    </a:p>
                    <a:p>
                      <a:pPr algn="l">
                        <a:lnSpc>
                          <a:spcPct val="105000"/>
                        </a:lnSpc>
                        <a:spcAft>
                          <a:spcPts val="0"/>
                        </a:spcAft>
                        <a:buNone/>
                      </a:pPr>
                      <a:r>
                        <a:rPr lang="en-SG" sz="1700" b="0">
                          <a:solidFill>
                            <a:srgbClr val="000000"/>
                          </a:solidFill>
                          <a:latin typeface="Times New Roman"/>
                          <a:ea typeface="Times New Roman"/>
                          <a:cs typeface="Times New Roman"/>
                        </a:rPr>
                        <a:t>Binary features; minimum 2 profiles per leaf</a:t>
                      </a:r>
                      <a:endParaRPr lang="en-SG" sz="1700"/>
                    </a:p>
                  </a:txBody>
                  <a:tcPr marL="91440" marR="91440" marT="45720" marB="45720" anchor="ctr">
                    <a:lnL w="0">
                      <a:noFill/>
                    </a:lnL>
                    <a:lnR w="0">
                      <a:noFill/>
                    </a:lnR>
                    <a:lnT w="0">
                      <a:noFill/>
                    </a:lnT>
                    <a:lnB w="6350">
                      <a:solidFill>
                        <a:srgbClr val="CCD5E0"/>
                      </a:solidFill>
                    </a:lnB>
                    <a:solidFill>
                      <a:srgbClr val="FFFFFF"/>
                    </a:solidFill>
                  </a:tcPr>
                </a:tc>
              </a:tr>
            </a:tbl>
          </a:graphicData>
        </a:graphic>
      </p:graphicFrame>
      <p:sp>
        <p:nvSpPr>
          <p:cNvPr id="102" name="Project content 102"/>
          <p:cNvSpPr txBox="1"/>
          <p:nvPr/>
        </p:nvSpPr>
        <p:spPr>
          <a:xfrm>
            <a:off x="594360" y="4279392"/>
            <a:ext cx="7406640" cy="274320"/>
          </a:xfrm>
          <a:prstGeom prst="rect">
            <a:avLst/>
          </a:prstGeom>
          <a:noFill/>
          <a:ln>
            <a:noFill/>
          </a:ln>
        </p:spPr>
        <p:txBody>
          <a:bodyPr wrap="square" lIns="0" rIns="0" tIns="0" bIns="0" anchor="t">
            <a:noAutofit/>
          </a:bodyPr>
          <a:lstStyle/>
          <a:p>
            <a:pPr algn="l">
              <a:lnSpc>
                <a:spcPct val="105000"/>
              </a:lnSpc>
              <a:spcAft>
                <a:spcPts val="0"/>
              </a:spcAft>
              <a:buNone/>
            </a:pPr>
            <a:r>
              <a:rPr lang="en-SG" sz="1700" b="1">
                <a:solidFill>
                  <a:srgbClr val="181C62"/>
                </a:solidFill>
                <a:latin typeface="Times New Roman"/>
                <a:ea typeface="Times New Roman"/>
                <a:cs typeface="Times New Roman"/>
              </a:rPr>
              <a:t>Logistic Regression is the model used by the CSV prototype.</a:t>
            </a:r>
            <a:endParaRPr lang="en-SG" sz="1700"/>
          </a:p>
        </p:txBody>
      </p:sp>
      <p:sp>
        <p:nvSpPr>
          <p:cNvPr id="103" name="Project content 103"/>
          <p:cNvSpPr txBox="1"/>
          <p:nvPr/>
        </p:nvSpPr>
        <p:spPr>
          <a:xfrm>
            <a:off x="594360" y="4581144"/>
            <a:ext cx="7406640" cy="256032"/>
          </a:xfrm>
          <a:prstGeom prst="rect">
            <a:avLst/>
          </a:prstGeom>
          <a:noFill/>
          <a:ln>
            <a:noFill/>
          </a:ln>
        </p:spPr>
        <p:txBody>
          <a:bodyPr wrap="square" lIns="0" rIns="0" tIns="0" bIns="0" anchor="t">
            <a:noAutofit/>
          </a:bodyPr>
          <a:lstStyle/>
          <a:p>
            <a:pPr algn="l">
              <a:lnSpc>
                <a:spcPct val="105000"/>
              </a:lnSpc>
              <a:spcAft>
                <a:spcPts val="0"/>
              </a:spcAft>
              <a:buNone/>
            </a:pPr>
            <a:r>
              <a:rPr lang="en-SG" sz="1550" b="0">
                <a:solidFill>
                  <a:srgbClr val="444444"/>
                </a:solidFill>
                <a:latin typeface="Times New Roman"/>
                <a:ea typeface="Times New Roman"/>
                <a:cs typeface="Times New Roman"/>
              </a:rPr>
              <a:t>Same five stratified folds: 12,000 training and 3,000 test profiles per fold.</a:t>
            </a:r>
            <a:endParaRPr lang="en-SG" sz="1550"/>
          </a:p>
        </p:txBody>
      </p:sp>
    </p:spTree>
    <p:extLst>
      <p:ext uri="{BB962C8B-B14F-4D97-AF65-F5344CB8AC3E}">
        <p14:creationId xmlns:p14="http://schemas.microsoft.com/office/powerpoint/2010/main" val="38336644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2225D-6047-29AB-5998-6B86B367D8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45A0BF-2B84-8CFF-CBB7-DC926978A978}"/>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03 AI Application </a:t>
            </a:r>
          </a:p>
        </p:txBody>
      </p:sp>
      <p:sp>
        <p:nvSpPr>
          <p:cNvPr id="6" name="Slide Number Placeholder 5">
            <a:extLst>
              <a:ext uri="{FF2B5EF4-FFF2-40B4-BE49-F238E27FC236}">
                <a16:creationId xmlns:a16="http://schemas.microsoft.com/office/drawing/2014/main" id="{253703FC-8D08-CDEA-0E7C-0EACE28E88D3}"/>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12</a:t>
            </a:fld>
            <a:endParaRPr lang="en-US" dirty="0"/>
          </a:p>
        </p:txBody>
      </p:sp>
      <p:cxnSp>
        <p:nvCxnSpPr>
          <p:cNvPr id="28" name="Straight Connector 27">
            <a:extLst>
              <a:ext uri="{FF2B5EF4-FFF2-40B4-BE49-F238E27FC236}">
                <a16:creationId xmlns:a16="http://schemas.microsoft.com/office/drawing/2014/main" id="{2FBBF38C-951A-E4B7-3783-A279E46BA5D5}"/>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C45697B2-C90F-9066-D1B7-989CF25D5FE3}"/>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66CB294B-3264-9096-334F-3EBDCB55E57E}"/>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E0E008A0-D52C-BF35-EF13-081021D2FB22}"/>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32039CD6-274D-8135-673B-26A04AE1C5F8}"/>
              </a:ext>
            </a:extLst>
          </p:cNvPr>
          <p:cNvSpPr txBox="1"/>
          <p:nvPr/>
        </p:nvSpPr>
        <p:spPr>
          <a:xfrm rot="5400000">
            <a:off x="8356032" y="1274739"/>
            <a:ext cx="94288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EF03D6BD-FC2C-1F2D-6716-8E111EE368E8}"/>
              </a:ext>
            </a:extLst>
          </p:cNvPr>
          <p:cNvSpPr txBox="1"/>
          <p:nvPr/>
        </p:nvSpPr>
        <p:spPr>
          <a:xfrm rot="5400000">
            <a:off x="8287102" y="2205227"/>
            <a:ext cx="1080745" cy="261610"/>
          </a:xfrm>
          <a:prstGeom prst="rect">
            <a:avLst/>
          </a:prstGeom>
          <a:noFill/>
        </p:spPr>
        <p:txBody>
          <a:bodyPr wrap="none" rtlCol="0">
            <a:spAutoFit/>
          </a:bodyPr>
          <a:lstStyle/>
          <a:p>
            <a:r>
              <a:rPr lang="en-SG" sz="1100" b="1" dirty="0">
                <a:solidFill>
                  <a:schemeClr val="bg1"/>
                </a:solidFill>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EA7159A7-2980-1C5C-A36C-46E66BC9E6DD}"/>
              </a:ext>
            </a:extLst>
          </p:cNvPr>
          <p:cNvSpPr txBox="1"/>
          <p:nvPr/>
        </p:nvSpPr>
        <p:spPr>
          <a:xfrm rot="5400000">
            <a:off x="8523546" y="2952171"/>
            <a:ext cx="607859"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58FB5C2C-5C22-A92B-F77B-1189F648E37D}"/>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0FBAA057-D595-210D-6A6A-87751E409B08}"/>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9948C935-4D1C-A1A4-C8BE-5AEC59739CD7}"/>
              </a:ext>
            </a:extLst>
          </p:cNvPr>
          <p:cNvSpPr txBox="1"/>
          <p:nvPr/>
        </p:nvSpPr>
        <p:spPr>
          <a:xfrm>
            <a:off x="870708" y="937730"/>
            <a:ext cx="6500000"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Deep learning models</a:t>
            </a:r>
          </a:p>
        </p:txBody>
      </p:sp>
      <p:graphicFrame>
        <p:nvGraphicFramePr>
          <p:cNvPr id="101" name="Editable project table 101"/>
          <p:cNvGraphicFramePr/>
          <p:nvPr/>
        </p:nvGraphicFramePr>
        <p:xfrm>
          <a:off x="594360" y="1463040"/>
          <a:ext cx="7406640" cy="2221992"/>
        </p:xfrm>
        <a:graphic>
          <a:graphicData uri="http://schemas.openxmlformats.org/drawingml/2006/table">
            <a:tbl>
              <a:tblPr firstRow="1" bandRow="0"/>
              <a:tblGrid>
                <a:gridCol w="2148840"/>
                <a:gridCol w="5257800"/>
              </a:tblGrid>
              <a:tr h="393192">
                <a:tc>
                  <a:txBody>
                    <a:bodyPr wrap="square"/>
                    <a:lstStyle/>
                    <a:p>
                      <a:pPr algn="l">
                        <a:lnSpc>
                          <a:spcPct val="105000"/>
                        </a:lnSpc>
                        <a:spcAft>
                          <a:spcPts val="0"/>
                        </a:spcAft>
                        <a:buNone/>
                      </a:pPr>
                      <a:r>
                        <a:rPr lang="en-SG" sz="1700" b="1">
                          <a:solidFill>
                            <a:srgbClr val="FFFFFF"/>
                          </a:solidFill>
                          <a:latin typeface="Times New Roman"/>
                          <a:ea typeface="Times New Roman"/>
                          <a:cs typeface="Times New Roman"/>
                        </a:rPr>
                        <a:t>Model</a:t>
                      </a:r>
                      <a:endParaRPr lang="en-SG" sz="1700"/>
                    </a:p>
                  </a:txBody>
                  <a:tcPr marL="91440" marR="91440" marT="45720" marB="45720" anchor="ctr">
                    <a:lnL w="0">
                      <a:noFill/>
                    </a:lnL>
                    <a:lnR w="0">
                      <a:noFill/>
                    </a:lnR>
                    <a:lnT w="0">
                      <a:noFill/>
                    </a:lnT>
                    <a:lnB w="6350">
                      <a:solidFill>
                        <a:srgbClr val="CCD5E0"/>
                      </a:solidFill>
                    </a:lnB>
                    <a:solidFill>
                      <a:srgbClr val="181C62"/>
                    </a:solidFill>
                  </a:tcPr>
                </a:tc>
                <a:tc>
                  <a:txBody>
                    <a:bodyPr wrap="square"/>
                    <a:lstStyle/>
                    <a:p>
                      <a:pPr algn="l">
                        <a:lnSpc>
                          <a:spcPct val="105000"/>
                        </a:lnSpc>
                        <a:spcAft>
                          <a:spcPts val="0"/>
                        </a:spcAft>
                        <a:buNone/>
                      </a:pPr>
                      <a:r>
                        <a:rPr lang="en-SG" sz="1700" b="1">
                          <a:solidFill>
                            <a:srgbClr val="FFFFFF"/>
                          </a:solidFill>
                          <a:latin typeface="Times New Roman"/>
                          <a:ea typeface="Times New Roman"/>
                          <a:cs typeface="Times New Roman"/>
                        </a:rPr>
                        <a:t>How it works and architecture tested</a:t>
                      </a:r>
                      <a:endParaRPr lang="en-SG" sz="1700"/>
                    </a:p>
                  </a:txBody>
                  <a:tcPr marL="91440" marR="91440" marT="45720" marB="45720" anchor="ctr">
                    <a:lnL w="0">
                      <a:noFill/>
                    </a:lnL>
                    <a:lnR w="0">
                      <a:noFill/>
                    </a:lnR>
                    <a:lnT w="0">
                      <a:noFill/>
                    </a:lnT>
                    <a:lnB w="6350">
                      <a:solidFill>
                        <a:srgbClr val="CCD5E0"/>
                      </a:solidFill>
                    </a:lnB>
                    <a:solidFill>
                      <a:srgbClr val="181C62"/>
                    </a:solidFill>
                  </a:tcPr>
                </a:tc>
              </a:tr>
              <a:tr h="914400">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Deep MLP</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3 or 5 hidden layers learn nonlinear patterns</a:t>
                      </a:r>
                      <a:endParaRPr lang="en-SG" sz="1700"/>
                    </a:p>
                    <a:p>
                      <a:pPr algn="l">
                        <a:lnSpc>
                          <a:spcPct val="105000"/>
                        </a:lnSpc>
                        <a:spcAft>
                          <a:spcPts val="0"/>
                        </a:spcAft>
                        <a:buNone/>
                      </a:pPr>
                      <a:r>
                        <a:rPr lang="en-SG" sz="1700" b="0">
                          <a:solidFill>
                            <a:srgbClr val="000000"/>
                          </a:solidFill>
                          <a:latin typeface="Times New Roman"/>
                          <a:ea typeface="Times New Roman"/>
                          <a:cs typeface="Times New Roman"/>
                        </a:rPr>
                        <a:t>GELU, LayerNorm; 68,310 to 226,934 parameters</a:t>
                      </a:r>
                      <a:endParaRPr lang="en-SG" sz="1700"/>
                    </a:p>
                  </a:txBody>
                  <a:tcPr marL="91440" marR="91440" marT="45720" marB="45720" anchor="ctr">
                    <a:lnL w="0">
                      <a:noFill/>
                    </a:lnL>
                    <a:lnR w="0">
                      <a:noFill/>
                    </a:lnR>
                    <a:lnT w="0">
                      <a:noFill/>
                    </a:lnT>
                    <a:lnB w="6350">
                      <a:solidFill>
                        <a:srgbClr val="CCD5E0"/>
                      </a:solidFill>
                    </a:lnB>
                    <a:solidFill>
                      <a:srgbClr val="FFFFFF"/>
                    </a:solidFill>
                  </a:tcPr>
                </a:tc>
              </a:tr>
              <a:tr h="914400">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Field Transformer</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Attention combines information from 18 field tokens</a:t>
                      </a:r>
                      <a:endParaRPr lang="en-SG" sz="1700"/>
                    </a:p>
                    <a:p>
                      <a:pPr algn="l">
                        <a:lnSpc>
                          <a:spcPct val="105000"/>
                        </a:lnSpc>
                        <a:spcAft>
                          <a:spcPts val="0"/>
                        </a:spcAft>
                        <a:buNone/>
                      </a:pPr>
                      <a:r>
                        <a:rPr lang="en-SG" sz="1700" b="0">
                          <a:solidFill>
                            <a:srgbClr val="000000"/>
                          </a:solidFill>
                          <a:latin typeface="Times New Roman"/>
                          <a:ea typeface="Times New Roman"/>
                          <a:cs typeface="Times New Roman"/>
                        </a:rPr>
                        <a:t>4 heads, 2 or 4 blocks; 29,878 to 108,886 parameters</a:t>
                      </a:r>
                      <a:endParaRPr lang="en-SG" sz="1700"/>
                    </a:p>
                  </a:txBody>
                  <a:tcPr marL="91440" marR="91440" marT="45720" marB="45720" anchor="ctr">
                    <a:lnL w="0">
                      <a:noFill/>
                    </a:lnL>
                    <a:lnR w="0">
                      <a:noFill/>
                    </a:lnR>
                    <a:lnT w="0">
                      <a:noFill/>
                    </a:lnT>
                    <a:lnB w="6350">
                      <a:solidFill>
                        <a:srgbClr val="CCD5E0"/>
                      </a:solidFill>
                    </a:lnB>
                    <a:solidFill>
                      <a:srgbClr val="FFFFFF"/>
                    </a:solidFill>
                  </a:tcPr>
                </a:tc>
              </a:tr>
            </a:tbl>
          </a:graphicData>
        </a:graphic>
      </p:graphicFrame>
      <p:sp>
        <p:nvSpPr>
          <p:cNvPr id="102" name="Project content 102"/>
          <p:cNvSpPr txBox="1"/>
          <p:nvPr/>
        </p:nvSpPr>
        <p:spPr>
          <a:xfrm>
            <a:off x="594360" y="3840480"/>
            <a:ext cx="7406640" cy="292608"/>
          </a:xfrm>
          <a:prstGeom prst="rect">
            <a:avLst/>
          </a:prstGeom>
          <a:noFill/>
          <a:ln>
            <a:noFill/>
          </a:ln>
        </p:spPr>
        <p:txBody>
          <a:bodyPr wrap="square" lIns="0" rIns="0" tIns="0" bIns="0" anchor="t">
            <a:noAutofit/>
          </a:bodyPr>
          <a:lstStyle/>
          <a:p>
            <a:pPr algn="l">
              <a:lnSpc>
                <a:spcPct val="105000"/>
              </a:lnSpc>
              <a:spcAft>
                <a:spcPts val="0"/>
              </a:spcAft>
              <a:buNone/>
            </a:pPr>
            <a:r>
              <a:rPr lang="en-SG" sz="1700" b="0">
                <a:solidFill>
                  <a:srgbClr val="000000"/>
                </a:solidFill>
                <a:latin typeface="Times New Roman"/>
                <a:ea typeface="Times New Roman"/>
                <a:cs typeface="Times New Roman"/>
              </a:rPr>
              <a:t>AdamW: learning rates 0.0003, 0.001 or 0.003; dropout 10-30%.</a:t>
            </a:r>
            <a:endParaRPr lang="en-SG" sz="1700"/>
          </a:p>
        </p:txBody>
      </p:sp>
      <p:sp>
        <p:nvSpPr>
          <p:cNvPr id="103" name="Project content 103"/>
          <p:cNvSpPr txBox="1"/>
          <p:nvPr/>
        </p:nvSpPr>
        <p:spPr>
          <a:xfrm>
            <a:off x="594360" y="4224528"/>
            <a:ext cx="7406640" cy="292608"/>
          </a:xfrm>
          <a:prstGeom prst="rect">
            <a:avLst/>
          </a:prstGeom>
          <a:noFill/>
          <a:ln>
            <a:noFill/>
          </a:ln>
        </p:spPr>
        <p:txBody>
          <a:bodyPr wrap="square" lIns="0" rIns="0" tIns="0" bIns="0" anchor="t">
            <a:noAutofit/>
          </a:bodyPr>
          <a:lstStyle/>
          <a:p>
            <a:pPr algn="l">
              <a:lnSpc>
                <a:spcPct val="105000"/>
              </a:lnSpc>
              <a:spcAft>
                <a:spcPts val="0"/>
              </a:spcAft>
              <a:buNone/>
            </a:pPr>
            <a:r>
              <a:rPr lang="en-SG" sz="1700" b="0">
                <a:solidFill>
                  <a:srgbClr val="000000"/>
                </a:solidFill>
                <a:latin typeface="Times New Roman"/>
                <a:ea typeface="Times New Roman"/>
                <a:cs typeface="Times New Roman"/>
              </a:rPr>
              <a:t>Inner split: 9,600 train / 2,400 validate; 3,000 test profiles held out.</a:t>
            </a:r>
            <a:endParaRPr lang="en-SG" sz="1700"/>
          </a:p>
        </p:txBody>
      </p:sp>
      <p:sp>
        <p:nvSpPr>
          <p:cNvPr id="104" name="Project content 104"/>
          <p:cNvSpPr txBox="1"/>
          <p:nvPr/>
        </p:nvSpPr>
        <p:spPr>
          <a:xfrm>
            <a:off x="594360" y="4581144"/>
            <a:ext cx="7406640" cy="274320"/>
          </a:xfrm>
          <a:prstGeom prst="rect">
            <a:avLst/>
          </a:prstGeom>
          <a:noFill/>
          <a:ln>
            <a:noFill/>
          </a:ln>
        </p:spPr>
        <p:txBody>
          <a:bodyPr wrap="square" lIns="0" rIns="0" tIns="0" bIns="0" anchor="t">
            <a:noAutofit/>
          </a:bodyPr>
          <a:lstStyle/>
          <a:p>
            <a:pPr algn="l">
              <a:lnSpc>
                <a:spcPct val="105000"/>
              </a:lnSpc>
              <a:spcAft>
                <a:spcPts val="0"/>
              </a:spcAft>
              <a:buNone/>
            </a:pPr>
            <a:r>
              <a:rPr lang="en-SG" sz="1650" b="1">
                <a:solidFill>
                  <a:srgbClr val="181C62"/>
                </a:solidFill>
                <a:latin typeface="Times New Roman"/>
                <a:ea typeface="Times New Roman"/>
                <a:cs typeface="Times New Roman"/>
              </a:rPr>
              <a:t>22 career outputs; network settings are selected within each fold.</a:t>
            </a:r>
            <a:endParaRPr lang="en-SG" sz="1650"/>
          </a:p>
        </p:txBody>
      </p:sp>
    </p:spTree>
    <p:extLst>
      <p:ext uri="{BB962C8B-B14F-4D97-AF65-F5344CB8AC3E}">
        <p14:creationId xmlns:p14="http://schemas.microsoft.com/office/powerpoint/2010/main" val="9997097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434E28-7838-E2DA-F1DA-A3A64C7435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F5961F-5949-AE6D-5FA8-49FCAD8CCA84}"/>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04 Results </a:t>
            </a:r>
          </a:p>
        </p:txBody>
      </p:sp>
      <p:sp>
        <p:nvSpPr>
          <p:cNvPr id="6" name="Slide Number Placeholder 5">
            <a:extLst>
              <a:ext uri="{FF2B5EF4-FFF2-40B4-BE49-F238E27FC236}">
                <a16:creationId xmlns:a16="http://schemas.microsoft.com/office/drawing/2014/main" id="{3832C804-7856-BBFE-3EDE-9559B2FE2254}"/>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13</a:t>
            </a:fld>
            <a:endParaRPr lang="en-US" dirty="0"/>
          </a:p>
        </p:txBody>
      </p:sp>
      <p:cxnSp>
        <p:nvCxnSpPr>
          <p:cNvPr id="28" name="Straight Connector 27">
            <a:extLst>
              <a:ext uri="{FF2B5EF4-FFF2-40B4-BE49-F238E27FC236}">
                <a16:creationId xmlns:a16="http://schemas.microsoft.com/office/drawing/2014/main" id="{663C28E0-5B15-9EDD-EB0F-9C5F1403FECC}"/>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69F0D9CF-AF18-59F7-FD6B-080B63C42DCF}"/>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7A1FA3E3-D6D4-5D66-A02E-B14A629A1A36}"/>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26F69E0F-CC99-76BC-7F92-41BD68975DA2}"/>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BC821F48-F98D-CE27-00BF-D75F10D5A025}"/>
              </a:ext>
            </a:extLst>
          </p:cNvPr>
          <p:cNvSpPr txBox="1"/>
          <p:nvPr/>
        </p:nvSpPr>
        <p:spPr>
          <a:xfrm rot="5400000">
            <a:off x="8356032" y="1274739"/>
            <a:ext cx="94288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F4E576D5-95BA-9591-2884-D565C84E4742}"/>
              </a:ext>
            </a:extLst>
          </p:cNvPr>
          <p:cNvSpPr txBox="1"/>
          <p:nvPr/>
        </p:nvSpPr>
        <p:spPr>
          <a:xfrm rot="5400000">
            <a:off x="8311147" y="2205227"/>
            <a:ext cx="1032655"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881CC73C-7271-8629-219E-ABD5801EA961}"/>
              </a:ext>
            </a:extLst>
          </p:cNvPr>
          <p:cNvSpPr txBox="1"/>
          <p:nvPr/>
        </p:nvSpPr>
        <p:spPr>
          <a:xfrm rot="5400000">
            <a:off x="8496296" y="2944477"/>
            <a:ext cx="662361" cy="276999"/>
          </a:xfrm>
          <a:prstGeom prst="rect">
            <a:avLst/>
          </a:prstGeom>
          <a:noFill/>
        </p:spPr>
        <p:txBody>
          <a:bodyPr wrap="none" rtlCol="0">
            <a:spAutoFit/>
          </a:bodyPr>
          <a:lstStyle/>
          <a:p>
            <a:r>
              <a:rPr lang="en-SG" sz="1200" b="1" dirty="0">
                <a:solidFill>
                  <a:schemeClr val="bg1"/>
                </a:solidFill>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590DB634-6A9F-2495-CBFF-638DAC0C78D0}"/>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5AE4235B-3229-99C8-935D-5F52368E43FB}"/>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CD8D0D39-468E-6229-0CEA-F64D9391CEBD}"/>
              </a:ext>
            </a:extLst>
          </p:cNvPr>
          <p:cNvSpPr txBox="1"/>
          <p:nvPr/>
        </p:nvSpPr>
        <p:spPr>
          <a:xfrm>
            <a:off x="870708" y="937730"/>
            <a:ext cx="6500000"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Machine learning vs deep learning</a:t>
            </a:r>
          </a:p>
        </p:txBody>
      </p:sp>
      <p:sp>
        <p:nvSpPr>
          <p:cNvPr id="101" name="Project content 101"/>
          <p:cNvSpPr txBox="1"/>
          <p:nvPr/>
        </p:nvSpPr>
        <p:spPr>
          <a:xfrm>
            <a:off x="594360" y="1353312"/>
            <a:ext cx="7406640" cy="292608"/>
          </a:xfrm>
          <a:prstGeom prst="rect">
            <a:avLst/>
          </a:prstGeom>
          <a:noFill/>
          <a:ln>
            <a:noFill/>
          </a:ln>
        </p:spPr>
        <p:txBody>
          <a:bodyPr wrap="square" lIns="0" rIns="0" tIns="0" bIns="0" anchor="t">
            <a:noAutofit/>
          </a:bodyPr>
          <a:lstStyle/>
          <a:p>
            <a:pPr algn="l">
              <a:lnSpc>
                <a:spcPct val="105000"/>
              </a:lnSpc>
              <a:spcAft>
                <a:spcPts val="0"/>
              </a:spcAft>
              <a:buNone/>
            </a:pPr>
            <a:r>
              <a:rPr lang="en-SG" sz="1550" b="0">
                <a:solidFill>
                  <a:srgbClr val="444444"/>
                </a:solidFill>
                <a:latin typeface="Times New Roman"/>
                <a:ea typeface="Times New Roman"/>
                <a:cs typeface="Times New Roman"/>
              </a:rPr>
              <a:t>Five-fold means. Neural networks use tuning within each training fold.</a:t>
            </a:r>
            <a:endParaRPr lang="en-SG" sz="1550"/>
          </a:p>
        </p:txBody>
      </p:sp>
      <p:graphicFrame>
        <p:nvGraphicFramePr>
          <p:cNvPr id="102" name="Editable project table 102"/>
          <p:cNvGraphicFramePr/>
          <p:nvPr/>
        </p:nvGraphicFramePr>
        <p:xfrm>
          <a:off x="594360" y="1755648"/>
          <a:ext cx="7406640" cy="2414016"/>
        </p:xfrm>
        <a:graphic>
          <a:graphicData uri="http://schemas.openxmlformats.org/drawingml/2006/table">
            <a:tbl>
              <a:tblPr firstRow="1" bandRow="0"/>
              <a:tblGrid>
                <a:gridCol w="3108960"/>
                <a:gridCol w="1371600"/>
                <a:gridCol w="1463040"/>
                <a:gridCol w="1463040"/>
              </a:tblGrid>
              <a:tr h="402336">
                <a:tc>
                  <a:txBody>
                    <a:bodyPr wrap="square"/>
                    <a:lstStyle/>
                    <a:p>
                      <a:pPr algn="l">
                        <a:lnSpc>
                          <a:spcPct val="105000"/>
                        </a:lnSpc>
                        <a:spcAft>
                          <a:spcPts val="0"/>
                        </a:spcAft>
                        <a:buNone/>
                      </a:pPr>
                      <a:r>
                        <a:rPr lang="en-SG" sz="1700" b="1">
                          <a:solidFill>
                            <a:srgbClr val="FFFFFF"/>
                          </a:solidFill>
                          <a:latin typeface="Times New Roman"/>
                          <a:ea typeface="Times New Roman"/>
                          <a:cs typeface="Times New Roman"/>
                        </a:rPr>
                        <a:t>Model</a:t>
                      </a:r>
                      <a:endParaRPr lang="en-SG" sz="1700"/>
                    </a:p>
                  </a:txBody>
                  <a:tcPr marL="91440" marR="91440" marT="45720" marB="45720" anchor="ctr">
                    <a:lnL w="0">
                      <a:noFill/>
                    </a:lnL>
                    <a:lnR w="0">
                      <a:noFill/>
                    </a:lnR>
                    <a:lnT w="0">
                      <a:noFill/>
                    </a:lnT>
                    <a:lnB w="6350">
                      <a:solidFill>
                        <a:srgbClr val="CCD5E0"/>
                      </a:solidFill>
                    </a:lnB>
                    <a:solidFill>
                      <a:srgbClr val="181C62"/>
                    </a:solidFill>
                  </a:tcPr>
                </a:tc>
                <a:tc>
                  <a:txBody>
                    <a:bodyPr wrap="square"/>
                    <a:lstStyle/>
                    <a:p>
                      <a:pPr algn="ctr">
                        <a:lnSpc>
                          <a:spcPct val="105000"/>
                        </a:lnSpc>
                        <a:spcAft>
                          <a:spcPts val="0"/>
                        </a:spcAft>
                        <a:buNone/>
                      </a:pPr>
                      <a:r>
                        <a:rPr lang="en-SG" sz="1700" b="1">
                          <a:solidFill>
                            <a:srgbClr val="FFFFFF"/>
                          </a:solidFill>
                          <a:latin typeface="Times New Roman"/>
                          <a:ea typeface="Times New Roman"/>
                          <a:cs typeface="Times New Roman"/>
                        </a:rPr>
                        <a:t>Top-1</a:t>
                      </a:r>
                      <a:endParaRPr lang="en-SG" sz="1700"/>
                    </a:p>
                  </a:txBody>
                  <a:tcPr marL="91440" marR="91440" marT="45720" marB="45720" anchor="ctr">
                    <a:lnL w="0">
                      <a:noFill/>
                    </a:lnL>
                    <a:lnR w="0">
                      <a:noFill/>
                    </a:lnR>
                    <a:lnT w="0">
                      <a:noFill/>
                    </a:lnT>
                    <a:lnB w="6350">
                      <a:solidFill>
                        <a:srgbClr val="CCD5E0"/>
                      </a:solidFill>
                    </a:lnB>
                    <a:solidFill>
                      <a:srgbClr val="181C62"/>
                    </a:solidFill>
                  </a:tcPr>
                </a:tc>
                <a:tc>
                  <a:txBody>
                    <a:bodyPr wrap="square"/>
                    <a:lstStyle/>
                    <a:p>
                      <a:pPr algn="ctr">
                        <a:lnSpc>
                          <a:spcPct val="105000"/>
                        </a:lnSpc>
                        <a:spcAft>
                          <a:spcPts val="0"/>
                        </a:spcAft>
                        <a:buNone/>
                      </a:pPr>
                      <a:r>
                        <a:rPr lang="en-SG" sz="1700" b="1">
                          <a:solidFill>
                            <a:srgbClr val="FFFFFF"/>
                          </a:solidFill>
                          <a:latin typeface="Times New Roman"/>
                          <a:ea typeface="Times New Roman"/>
                          <a:cs typeface="Times New Roman"/>
                        </a:rPr>
                        <a:t>Macro-F1</a:t>
                      </a:r>
                      <a:endParaRPr lang="en-SG" sz="1700"/>
                    </a:p>
                  </a:txBody>
                  <a:tcPr marL="91440" marR="91440" marT="45720" marB="45720" anchor="ctr">
                    <a:lnL w="0">
                      <a:noFill/>
                    </a:lnL>
                    <a:lnR w="0">
                      <a:noFill/>
                    </a:lnR>
                    <a:lnT w="0">
                      <a:noFill/>
                    </a:lnT>
                    <a:lnB w="6350">
                      <a:solidFill>
                        <a:srgbClr val="CCD5E0"/>
                      </a:solidFill>
                    </a:lnB>
                    <a:solidFill>
                      <a:srgbClr val="181C62"/>
                    </a:solidFill>
                  </a:tcPr>
                </a:tc>
                <a:tc>
                  <a:txBody>
                    <a:bodyPr wrap="square"/>
                    <a:lstStyle/>
                    <a:p>
                      <a:pPr algn="ctr">
                        <a:lnSpc>
                          <a:spcPct val="105000"/>
                        </a:lnSpc>
                        <a:spcAft>
                          <a:spcPts val="0"/>
                        </a:spcAft>
                        <a:buNone/>
                      </a:pPr>
                      <a:r>
                        <a:rPr lang="en-SG" sz="1700" b="1">
                          <a:solidFill>
                            <a:srgbClr val="FFFFFF"/>
                          </a:solidFill>
                          <a:latin typeface="Times New Roman"/>
                          <a:ea typeface="Times New Roman"/>
                          <a:cs typeface="Times New Roman"/>
                        </a:rPr>
                        <a:t>Top-3</a:t>
                      </a:r>
                      <a:endParaRPr lang="en-SG" sz="1700"/>
                    </a:p>
                  </a:txBody>
                  <a:tcPr marL="91440" marR="91440" marT="45720" marB="45720" anchor="ctr">
                    <a:lnL w="0">
                      <a:noFill/>
                    </a:lnL>
                    <a:lnR w="0">
                      <a:noFill/>
                    </a:lnR>
                    <a:lnT w="0">
                      <a:noFill/>
                    </a:lnT>
                    <a:lnB w="6350">
                      <a:solidFill>
                        <a:srgbClr val="CCD5E0"/>
                      </a:solidFill>
                    </a:lnB>
                    <a:solidFill>
                      <a:srgbClr val="181C62"/>
                    </a:solidFill>
                  </a:tcPr>
                </a:tc>
              </a:tr>
              <a:tr h="402336">
                <a:tc>
                  <a:txBody>
                    <a:bodyPr wrap="square"/>
                    <a:lstStyle/>
                    <a:p>
                      <a:pPr algn="l">
                        <a:lnSpc>
                          <a:spcPct val="105000"/>
                        </a:lnSpc>
                        <a:spcAft>
                          <a:spcPts val="0"/>
                        </a:spcAft>
                        <a:buNone/>
                      </a:pPr>
                      <a:r>
                        <a:rPr lang="en-SG" sz="1700" b="1">
                          <a:solidFill>
                            <a:srgbClr val="000000"/>
                          </a:solidFill>
                          <a:latin typeface="Times New Roman"/>
                          <a:ea typeface="Times New Roman"/>
                          <a:cs typeface="Times New Roman"/>
                        </a:rPr>
                        <a:t>Logistic Regression</a:t>
                      </a:r>
                      <a:endParaRPr lang="en-SG" sz="1700"/>
                    </a:p>
                  </a:txBody>
                  <a:tcPr marL="91440" marR="91440" marT="45720" marB="45720" anchor="ctr">
                    <a:lnL w="0">
                      <a:noFill/>
                    </a:lnL>
                    <a:lnR w="0">
                      <a:noFill/>
                    </a:lnR>
                    <a:lnT w="0">
                      <a:noFill/>
                    </a:lnT>
                    <a:lnB w="6350">
                      <a:solidFill>
                        <a:srgbClr val="CCD5E0"/>
                      </a:solidFill>
                    </a:lnB>
                    <a:solidFill>
                      <a:srgbClr val="EEF3FA"/>
                    </a:solidFill>
                  </a:tcPr>
                </a:tc>
                <a:tc>
                  <a:txBody>
                    <a:bodyPr wrap="square"/>
                    <a:lstStyle/>
                    <a:p>
                      <a:pPr algn="ctr">
                        <a:lnSpc>
                          <a:spcPct val="105000"/>
                        </a:lnSpc>
                        <a:spcAft>
                          <a:spcPts val="0"/>
                        </a:spcAft>
                        <a:buNone/>
                      </a:pPr>
                      <a:r>
                        <a:rPr lang="en-SG" sz="1700" b="1">
                          <a:solidFill>
                            <a:srgbClr val="000000"/>
                          </a:solidFill>
                          <a:latin typeface="Times New Roman"/>
                          <a:ea typeface="Times New Roman"/>
                          <a:cs typeface="Times New Roman"/>
                        </a:rPr>
                        <a:t>32.82%</a:t>
                      </a:r>
                      <a:endParaRPr lang="en-SG" sz="1700"/>
                    </a:p>
                  </a:txBody>
                  <a:tcPr marL="91440" marR="91440" marT="45720" marB="45720" anchor="ctr">
                    <a:lnL w="0">
                      <a:noFill/>
                    </a:lnL>
                    <a:lnR w="0">
                      <a:noFill/>
                    </a:lnR>
                    <a:lnT w="0">
                      <a:noFill/>
                    </a:lnT>
                    <a:lnB w="6350">
                      <a:solidFill>
                        <a:srgbClr val="CCD5E0"/>
                      </a:solidFill>
                    </a:lnB>
                    <a:solidFill>
                      <a:srgbClr val="EEF3FA"/>
                    </a:solidFill>
                  </a:tcPr>
                </a:tc>
                <a:tc>
                  <a:txBody>
                    <a:bodyPr wrap="square"/>
                    <a:lstStyle/>
                    <a:p>
                      <a:pPr algn="ctr">
                        <a:lnSpc>
                          <a:spcPct val="105000"/>
                        </a:lnSpc>
                        <a:spcAft>
                          <a:spcPts val="0"/>
                        </a:spcAft>
                        <a:buNone/>
                      </a:pPr>
                      <a:r>
                        <a:rPr lang="en-SG" sz="1700" b="1">
                          <a:solidFill>
                            <a:srgbClr val="000000"/>
                          </a:solidFill>
                          <a:latin typeface="Times New Roman"/>
                          <a:ea typeface="Times New Roman"/>
                          <a:cs typeface="Times New Roman"/>
                        </a:rPr>
                        <a:t>0.3248</a:t>
                      </a:r>
                      <a:endParaRPr lang="en-SG" sz="1700"/>
                    </a:p>
                  </a:txBody>
                  <a:tcPr marL="91440" marR="91440" marT="45720" marB="45720" anchor="ctr">
                    <a:lnL w="0">
                      <a:noFill/>
                    </a:lnL>
                    <a:lnR w="0">
                      <a:noFill/>
                    </a:lnR>
                    <a:lnT w="0">
                      <a:noFill/>
                    </a:lnT>
                    <a:lnB w="6350">
                      <a:solidFill>
                        <a:srgbClr val="CCD5E0"/>
                      </a:solidFill>
                    </a:lnB>
                    <a:solidFill>
                      <a:srgbClr val="EEF3FA"/>
                    </a:solidFill>
                  </a:tcPr>
                </a:tc>
                <a:tc>
                  <a:txBody>
                    <a:bodyPr wrap="square"/>
                    <a:lstStyle/>
                    <a:p>
                      <a:pPr algn="ctr">
                        <a:lnSpc>
                          <a:spcPct val="105000"/>
                        </a:lnSpc>
                        <a:spcAft>
                          <a:spcPts val="0"/>
                        </a:spcAft>
                        <a:buNone/>
                      </a:pPr>
                      <a:r>
                        <a:rPr lang="en-SG" sz="1700" b="1">
                          <a:solidFill>
                            <a:srgbClr val="000000"/>
                          </a:solidFill>
                          <a:latin typeface="Times New Roman"/>
                          <a:ea typeface="Times New Roman"/>
                          <a:cs typeface="Times New Roman"/>
                        </a:rPr>
                        <a:t>96.49%</a:t>
                      </a:r>
                      <a:endParaRPr lang="en-SG" sz="1700"/>
                    </a:p>
                  </a:txBody>
                  <a:tcPr marL="91440" marR="91440" marT="45720" marB="45720" anchor="ctr">
                    <a:lnL w="0">
                      <a:noFill/>
                    </a:lnL>
                    <a:lnR w="0">
                      <a:noFill/>
                    </a:lnR>
                    <a:lnT w="0">
                      <a:noFill/>
                    </a:lnT>
                    <a:lnB w="6350">
                      <a:solidFill>
                        <a:srgbClr val="CCD5E0"/>
                      </a:solidFill>
                    </a:lnB>
                    <a:solidFill>
                      <a:srgbClr val="EEF3FA"/>
                    </a:solidFill>
                  </a:tcPr>
                </a:tc>
              </a:tr>
              <a:tr h="402336">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Random Forest</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32.49%</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0.3195</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96.34%</a:t>
                      </a:r>
                      <a:endParaRPr lang="en-SG" sz="1700"/>
                    </a:p>
                  </a:txBody>
                  <a:tcPr marL="91440" marR="91440" marT="45720" marB="45720" anchor="ctr">
                    <a:lnL w="0">
                      <a:noFill/>
                    </a:lnL>
                    <a:lnR w="0">
                      <a:noFill/>
                    </a:lnR>
                    <a:lnT w="0">
                      <a:noFill/>
                    </a:lnT>
                    <a:lnB w="6350">
                      <a:solidFill>
                        <a:srgbClr val="CCD5E0"/>
                      </a:solidFill>
                    </a:lnB>
                    <a:solidFill>
                      <a:srgbClr val="FFFFFF"/>
                    </a:solidFill>
                  </a:tcPr>
                </a:tc>
              </a:tr>
              <a:tr h="402336">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Extra Trees</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32.25%</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0.3173</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96.18%</a:t>
                      </a:r>
                      <a:endParaRPr lang="en-SG" sz="1700"/>
                    </a:p>
                  </a:txBody>
                  <a:tcPr marL="91440" marR="91440" marT="45720" marB="45720" anchor="ctr">
                    <a:lnL w="0">
                      <a:noFill/>
                    </a:lnL>
                    <a:lnR w="0">
                      <a:noFill/>
                    </a:lnR>
                    <a:lnT w="0">
                      <a:noFill/>
                    </a:lnT>
                    <a:lnB w="6350">
                      <a:solidFill>
                        <a:srgbClr val="CCD5E0"/>
                      </a:solidFill>
                    </a:lnB>
                    <a:solidFill>
                      <a:srgbClr val="FFFFFF"/>
                    </a:solidFill>
                  </a:tcPr>
                </a:tc>
              </a:tr>
              <a:tr h="402336">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Tuned deep MLP</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32.32%</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0.2439</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95.48%</a:t>
                      </a:r>
                      <a:endParaRPr lang="en-SG" sz="1700"/>
                    </a:p>
                  </a:txBody>
                  <a:tcPr marL="91440" marR="91440" marT="45720" marB="45720" anchor="ctr">
                    <a:lnL w="0">
                      <a:noFill/>
                    </a:lnL>
                    <a:lnR w="0">
                      <a:noFill/>
                    </a:lnR>
                    <a:lnT w="0">
                      <a:noFill/>
                    </a:lnT>
                    <a:lnB w="6350">
                      <a:solidFill>
                        <a:srgbClr val="CCD5E0"/>
                      </a:solidFill>
                    </a:lnB>
                    <a:solidFill>
                      <a:srgbClr val="FFFFFF"/>
                    </a:solidFill>
                  </a:tcPr>
                </a:tc>
              </a:tr>
              <a:tr h="402336">
                <a:tc>
                  <a:txBody>
                    <a:bodyPr wrap="square"/>
                    <a:lstStyle/>
                    <a:p>
                      <a:pPr algn="l">
                        <a:lnSpc>
                          <a:spcPct val="105000"/>
                        </a:lnSpc>
                        <a:spcAft>
                          <a:spcPts val="0"/>
                        </a:spcAft>
                        <a:buNone/>
                      </a:pPr>
                      <a:r>
                        <a:rPr lang="en-SG" sz="1700" b="0">
                          <a:solidFill>
                            <a:srgbClr val="000000"/>
                          </a:solidFill>
                          <a:latin typeface="Times New Roman"/>
                          <a:ea typeface="Times New Roman"/>
                          <a:cs typeface="Times New Roman"/>
                        </a:rPr>
                        <a:t>Tuned field Transformer</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32.23%</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0.2353</a:t>
                      </a:r>
                      <a:endParaRPr lang="en-SG" sz="1700"/>
                    </a:p>
                  </a:txBody>
                  <a:tcPr marL="91440" marR="91440" marT="45720" marB="45720" anchor="ctr">
                    <a:lnL w="0">
                      <a:noFill/>
                    </a:lnL>
                    <a:lnR w="0">
                      <a:noFill/>
                    </a:lnR>
                    <a:lnT w="0">
                      <a:noFill/>
                    </a:lnT>
                    <a:lnB w="6350">
                      <a:solidFill>
                        <a:srgbClr val="CCD5E0"/>
                      </a:solidFill>
                    </a:lnB>
                    <a:solidFill>
                      <a:srgbClr val="FFFFFF"/>
                    </a:solidFill>
                  </a:tcPr>
                </a:tc>
                <a:tc>
                  <a:txBody>
                    <a:bodyPr wrap="square"/>
                    <a:lstStyle/>
                    <a:p>
                      <a:pPr algn="ctr">
                        <a:lnSpc>
                          <a:spcPct val="105000"/>
                        </a:lnSpc>
                        <a:spcAft>
                          <a:spcPts val="0"/>
                        </a:spcAft>
                        <a:buNone/>
                      </a:pPr>
                      <a:r>
                        <a:rPr lang="en-SG" sz="1700" b="0">
                          <a:solidFill>
                            <a:srgbClr val="000000"/>
                          </a:solidFill>
                          <a:latin typeface="Times New Roman"/>
                          <a:ea typeface="Times New Roman"/>
                          <a:cs typeface="Times New Roman"/>
                        </a:rPr>
                        <a:t>96.47%</a:t>
                      </a:r>
                      <a:endParaRPr lang="en-SG" sz="1700"/>
                    </a:p>
                  </a:txBody>
                  <a:tcPr marL="91440" marR="91440" marT="45720" marB="45720" anchor="ctr">
                    <a:lnL w="0">
                      <a:noFill/>
                    </a:lnL>
                    <a:lnR w="0">
                      <a:noFill/>
                    </a:lnR>
                    <a:lnT w="0">
                      <a:noFill/>
                    </a:lnT>
                    <a:lnB w="6350">
                      <a:solidFill>
                        <a:srgbClr val="CCD5E0"/>
                      </a:solidFill>
                    </a:lnB>
                    <a:solidFill>
                      <a:srgbClr val="FFFFFF"/>
                    </a:solidFill>
                  </a:tcPr>
                </a:tc>
              </a:tr>
            </a:tbl>
          </a:graphicData>
        </a:graphic>
      </p:graphicFrame>
      <p:sp>
        <p:nvSpPr>
          <p:cNvPr id="103" name="Project content 103"/>
          <p:cNvSpPr txBox="1"/>
          <p:nvPr/>
        </p:nvSpPr>
        <p:spPr>
          <a:xfrm>
            <a:off x="594360" y="4297680"/>
            <a:ext cx="7406640" cy="292608"/>
          </a:xfrm>
          <a:prstGeom prst="rect">
            <a:avLst/>
          </a:prstGeom>
          <a:noFill/>
          <a:ln>
            <a:noFill/>
          </a:ln>
        </p:spPr>
        <p:txBody>
          <a:bodyPr wrap="square" lIns="0" rIns="0" tIns="0" bIns="0" anchor="t">
            <a:noAutofit/>
          </a:bodyPr>
          <a:lstStyle/>
          <a:p>
            <a:pPr algn="l">
              <a:lnSpc>
                <a:spcPct val="105000"/>
              </a:lnSpc>
              <a:spcAft>
                <a:spcPts val="0"/>
              </a:spcAft>
              <a:buNone/>
            </a:pPr>
            <a:r>
              <a:rPr lang="en-SG" sz="1600" b="0">
                <a:solidFill>
                  <a:srgbClr val="000000"/>
                </a:solidFill>
                <a:latin typeface="Times New Roman"/>
                <a:ea typeface="Times New Roman"/>
                <a:cs typeface="Times New Roman"/>
              </a:rPr>
              <a:t>Top-1: correct first choice. Top-3: correct label among three suggestions.</a:t>
            </a:r>
            <a:endParaRPr lang="en-SG" sz="1600"/>
          </a:p>
        </p:txBody>
      </p:sp>
      <p:sp>
        <p:nvSpPr>
          <p:cNvPr id="104" name="Project content 104"/>
          <p:cNvSpPr txBox="1"/>
          <p:nvPr/>
        </p:nvSpPr>
        <p:spPr>
          <a:xfrm>
            <a:off x="594360" y="4599432"/>
            <a:ext cx="7406640" cy="274320"/>
          </a:xfrm>
          <a:prstGeom prst="rect">
            <a:avLst/>
          </a:prstGeom>
          <a:noFill/>
          <a:ln>
            <a:noFill/>
          </a:ln>
        </p:spPr>
        <p:txBody>
          <a:bodyPr wrap="square" lIns="0" rIns="0" tIns="0" bIns="0" anchor="t">
            <a:noAutofit/>
          </a:bodyPr>
          <a:lstStyle/>
          <a:p>
            <a:pPr algn="l">
              <a:lnSpc>
                <a:spcPct val="105000"/>
              </a:lnSpc>
              <a:spcAft>
                <a:spcPts val="0"/>
              </a:spcAft>
              <a:buNone/>
            </a:pPr>
            <a:r>
              <a:rPr lang="en-SG" sz="1700" b="1">
                <a:solidFill>
                  <a:srgbClr val="181C62"/>
                </a:solidFill>
                <a:latin typeface="Times New Roman"/>
                <a:ea typeface="Times New Roman"/>
                <a:cs typeface="Times New Roman"/>
              </a:rPr>
              <a:t>Logistic Regression leads on Top-1 and macro-F1 in these tests.</a:t>
            </a:r>
            <a:endParaRPr lang="en-SG" sz="1700"/>
          </a:p>
        </p:txBody>
      </p:sp>
    </p:spTree>
    <p:extLst>
      <p:ext uri="{BB962C8B-B14F-4D97-AF65-F5344CB8AC3E}">
        <p14:creationId xmlns:p14="http://schemas.microsoft.com/office/powerpoint/2010/main" val="134323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682E0-3E72-0E25-09F1-7A9996DEF8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64EB73-66DF-111F-3E09-71FE79F65808}"/>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04 Results </a:t>
            </a:r>
          </a:p>
        </p:txBody>
      </p:sp>
      <p:sp>
        <p:nvSpPr>
          <p:cNvPr id="6" name="Slide Number Placeholder 5">
            <a:extLst>
              <a:ext uri="{FF2B5EF4-FFF2-40B4-BE49-F238E27FC236}">
                <a16:creationId xmlns:a16="http://schemas.microsoft.com/office/drawing/2014/main" id="{8EECB2E3-F03C-2AB7-DAF9-D70B78504EAF}"/>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14</a:t>
            </a:fld>
            <a:endParaRPr lang="en-US" dirty="0"/>
          </a:p>
        </p:txBody>
      </p:sp>
      <p:cxnSp>
        <p:nvCxnSpPr>
          <p:cNvPr id="28" name="Straight Connector 27">
            <a:extLst>
              <a:ext uri="{FF2B5EF4-FFF2-40B4-BE49-F238E27FC236}">
                <a16:creationId xmlns:a16="http://schemas.microsoft.com/office/drawing/2014/main" id="{9F43E73B-610A-1460-3B87-94885F6226B4}"/>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07F9E4CB-9049-9725-7A30-3B84794AC47C}"/>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04D1A79B-5701-1FE1-BB6E-0A382A09EBB7}"/>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369A3EB5-D3C1-27B6-2DA3-4DA808FCD093}"/>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2DF09FFD-9288-6E04-51E1-9DC83DD00E9E}"/>
              </a:ext>
            </a:extLst>
          </p:cNvPr>
          <p:cNvSpPr txBox="1"/>
          <p:nvPr/>
        </p:nvSpPr>
        <p:spPr>
          <a:xfrm rot="5400000">
            <a:off x="8356032" y="1274739"/>
            <a:ext cx="94288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AABCADA6-189D-5699-7978-CAC03A738900}"/>
              </a:ext>
            </a:extLst>
          </p:cNvPr>
          <p:cNvSpPr txBox="1"/>
          <p:nvPr/>
        </p:nvSpPr>
        <p:spPr>
          <a:xfrm rot="5400000">
            <a:off x="8311147" y="2205227"/>
            <a:ext cx="1032655"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5F4766D7-8D2D-58A9-D63C-73247F883495}"/>
              </a:ext>
            </a:extLst>
          </p:cNvPr>
          <p:cNvSpPr txBox="1"/>
          <p:nvPr/>
        </p:nvSpPr>
        <p:spPr>
          <a:xfrm rot="5400000">
            <a:off x="8496296" y="2944477"/>
            <a:ext cx="662361" cy="276999"/>
          </a:xfrm>
          <a:prstGeom prst="rect">
            <a:avLst/>
          </a:prstGeom>
          <a:noFill/>
        </p:spPr>
        <p:txBody>
          <a:bodyPr wrap="none" rtlCol="0">
            <a:spAutoFit/>
          </a:bodyPr>
          <a:lstStyle/>
          <a:p>
            <a:r>
              <a:rPr lang="en-SG" sz="1200" b="1" dirty="0">
                <a:solidFill>
                  <a:schemeClr val="bg1"/>
                </a:solidFill>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A963A992-647C-53D4-C0DB-6005B33A7571}"/>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2AE85482-8131-ED08-9BF2-0BC055E68DDF}"/>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9D2ADD4C-0ACC-6A2F-C9F1-7DC9D24F4424}"/>
              </a:ext>
            </a:extLst>
          </p:cNvPr>
          <p:cNvSpPr txBox="1"/>
          <p:nvPr/>
        </p:nvSpPr>
        <p:spPr>
          <a:xfrm>
            <a:off x="870708" y="937730"/>
            <a:ext cx="6500000"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Why Top-1 and Top-3 differ</a:t>
            </a:r>
          </a:p>
        </p:txBody>
      </p:sp>
      <p:sp>
        <p:nvSpPr>
          <p:cNvPr id="101" name="Project content 101"/>
          <p:cNvSpPr txBox="1"/>
          <p:nvPr/>
        </p:nvSpPr>
        <p:spPr>
          <a:xfrm>
            <a:off x="594360" y="1508760"/>
            <a:ext cx="3749040" cy="365760"/>
          </a:xfrm>
          <a:prstGeom prst="rect">
            <a:avLst/>
          </a:prstGeom>
          <a:noFill/>
          <a:ln>
            <a:noFill/>
          </a:ln>
        </p:spPr>
        <p:txBody>
          <a:bodyPr wrap="square" lIns="0" tIns="0" rIns="0" bIns="0" anchor="t">
            <a:noAutofit/>
          </a:bodyPr>
          <a:lstStyle/>
          <a:p>
            <a:pPr algn="l">
              <a:lnSpc>
                <a:spcPct val="105000"/>
              </a:lnSpc>
              <a:spcAft>
                <a:spcPts val="0"/>
              </a:spcAft>
              <a:buNone/>
            </a:pPr>
            <a:r>
              <a:rPr lang="en-SG" sz="1900" b="1">
                <a:solidFill>
                  <a:srgbClr val="181C62"/>
                </a:solidFill>
                <a:latin typeface="Times New Roman"/>
                <a:ea typeface="Times New Roman"/>
                <a:cs typeface="Times New Roman"/>
              </a:rPr>
              <a:t>2,140 Data Science profiles</a:t>
            </a:r>
            <a:endParaRPr lang="en-SG" sz="1900"/>
          </a:p>
        </p:txBody>
      </p:sp>
      <p:graphicFrame>
        <p:nvGraphicFramePr>
          <p:cNvPr id="102" name="Editable project table 102"/>
          <p:cNvGraphicFramePr/>
          <p:nvPr/>
        </p:nvGraphicFramePr>
        <p:xfrm>
          <a:off x="594360" y="1965960"/>
          <a:ext cx="3886200" cy="1728216"/>
        </p:xfrm>
        <a:graphic>
          <a:graphicData uri="http://schemas.openxmlformats.org/drawingml/2006/table">
            <a:tbl>
              <a:tblPr firstRow="1"/>
              <a:tblGrid>
                <a:gridCol w="210312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tblGrid>
              <a:tr h="411480">
                <a:tc>
                  <a:txBody>
                    <a:bodyPr/>
                    <a:lstStyle/>
                    <a:p>
                      <a:pPr algn="l">
                        <a:lnSpc>
                          <a:spcPct val="105000"/>
                        </a:lnSpc>
                        <a:spcAft>
                          <a:spcPts val="0"/>
                        </a:spcAft>
                        <a:buNone/>
                      </a:pPr>
                      <a:r>
                        <a:rPr lang="en-SG" sz="1650" b="1">
                          <a:solidFill>
                            <a:srgbClr val="FFFFFF"/>
                          </a:solidFill>
                          <a:latin typeface="Times New Roman"/>
                          <a:ea typeface="Times New Roman"/>
                          <a:cs typeface="Times New Roman"/>
                        </a:rPr>
                        <a:t>Career</a:t>
                      </a:r>
                      <a:endParaRPr lang="en-SG" sz="1650"/>
                    </a:p>
                  </a:txBody>
                  <a:tcPr anchor="ctr">
                    <a:lnL w="0">
                      <a:noFill/>
                    </a:lnL>
                    <a:lnR w="0">
                      <a:noFill/>
                    </a:lnR>
                    <a:lnT w="0">
                      <a:noFill/>
                    </a:lnT>
                    <a:lnB w="6350">
                      <a:solidFill>
                        <a:srgbClr val="CCD5E0"/>
                      </a:solidFill>
                    </a:lnB>
                    <a:solidFill>
                      <a:srgbClr val="181C62"/>
                    </a:solidFill>
                  </a:tcPr>
                </a:tc>
                <a:tc>
                  <a:txBody>
                    <a:bodyPr/>
                    <a:lstStyle/>
                    <a:p>
                      <a:pPr algn="ctr">
                        <a:lnSpc>
                          <a:spcPct val="105000"/>
                        </a:lnSpc>
                        <a:spcAft>
                          <a:spcPts val="0"/>
                        </a:spcAft>
                        <a:buNone/>
                      </a:pPr>
                      <a:r>
                        <a:rPr lang="en-SG" sz="1650" b="1">
                          <a:solidFill>
                            <a:srgbClr val="FFFFFF"/>
                          </a:solidFill>
                          <a:latin typeface="Times New Roman"/>
                          <a:ea typeface="Times New Roman"/>
                          <a:cs typeface="Times New Roman"/>
                        </a:rPr>
                        <a:t>Count</a:t>
                      </a:r>
                      <a:endParaRPr lang="en-SG" sz="1650"/>
                    </a:p>
                  </a:txBody>
                  <a:tcPr anchor="ctr">
                    <a:lnL w="0">
                      <a:noFill/>
                    </a:lnL>
                    <a:lnR w="0">
                      <a:noFill/>
                    </a:lnR>
                    <a:lnT w="0">
                      <a:noFill/>
                    </a:lnT>
                    <a:lnB w="6350">
                      <a:solidFill>
                        <a:srgbClr val="CCD5E0"/>
                      </a:solidFill>
                    </a:lnB>
                    <a:solidFill>
                      <a:srgbClr val="181C62"/>
                    </a:solidFill>
                  </a:tcPr>
                </a:tc>
                <a:tc>
                  <a:txBody>
                    <a:bodyPr/>
                    <a:lstStyle/>
                    <a:p>
                      <a:pPr algn="ctr">
                        <a:lnSpc>
                          <a:spcPct val="105000"/>
                        </a:lnSpc>
                        <a:spcAft>
                          <a:spcPts val="0"/>
                        </a:spcAft>
                        <a:buNone/>
                      </a:pPr>
                      <a:r>
                        <a:rPr lang="en-SG" sz="1650" b="1">
                          <a:solidFill>
                            <a:srgbClr val="FFFFFF"/>
                          </a:solidFill>
                          <a:latin typeface="Times New Roman"/>
                          <a:ea typeface="Times New Roman"/>
                          <a:cs typeface="Times New Roman"/>
                        </a:rPr>
                        <a:t>Share</a:t>
                      </a:r>
                      <a:endParaRPr lang="en-SG" sz="1650"/>
                    </a:p>
                  </a:txBody>
                  <a:tcPr anchor="ctr">
                    <a:lnL w="0">
                      <a:noFill/>
                    </a:lnL>
                    <a:lnR w="0">
                      <a:noFill/>
                    </a:lnR>
                    <a:lnT w="0">
                      <a:noFill/>
                    </a:lnT>
                    <a:lnB w="6350">
                      <a:solidFill>
                        <a:srgbClr val="CCD5E0"/>
                      </a:solidFill>
                    </a:lnB>
                    <a:solidFill>
                      <a:srgbClr val="181C62"/>
                    </a:solidFill>
                  </a:tcPr>
                </a:tc>
                <a:extLst>
                  <a:ext uri="{0D108BD9-81ED-4DB2-BD59-A6C34878D82A}">
                    <a16:rowId xmlns:a16="http://schemas.microsoft.com/office/drawing/2014/main" val="10000"/>
                  </a:ext>
                </a:extLst>
              </a:tr>
              <a:tr h="438912">
                <a:tc>
                  <a:txBody>
                    <a:bodyPr/>
                    <a:lstStyle/>
                    <a:p>
                      <a:pPr algn="l">
                        <a:lnSpc>
                          <a:spcPct val="105000"/>
                        </a:lnSpc>
                        <a:spcAft>
                          <a:spcPts val="0"/>
                        </a:spcAft>
                        <a:buNone/>
                      </a:pPr>
                      <a:r>
                        <a:rPr lang="en-SG" sz="1650" b="0">
                          <a:solidFill>
                            <a:srgbClr val="000000"/>
                          </a:solidFill>
                          <a:latin typeface="Times New Roman"/>
                          <a:ea typeface="Times New Roman"/>
                          <a:cs typeface="Times New Roman"/>
                        </a:rPr>
                        <a:t>Data Analyst</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tc>
                  <a:txBody>
                    <a:bodyPr/>
                    <a:lstStyle/>
                    <a:p>
                      <a:pPr algn="ctr">
                        <a:lnSpc>
                          <a:spcPct val="105000"/>
                        </a:lnSpc>
                        <a:spcAft>
                          <a:spcPts val="0"/>
                        </a:spcAft>
                        <a:buNone/>
                      </a:pPr>
                      <a:r>
                        <a:rPr lang="en-SG" sz="1650" b="0">
                          <a:solidFill>
                            <a:srgbClr val="000000"/>
                          </a:solidFill>
                          <a:latin typeface="Times New Roman"/>
                          <a:ea typeface="Times New Roman"/>
                          <a:cs typeface="Times New Roman"/>
                        </a:rPr>
                        <a:t>719</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tc>
                  <a:txBody>
                    <a:bodyPr/>
                    <a:lstStyle/>
                    <a:p>
                      <a:pPr algn="ctr">
                        <a:lnSpc>
                          <a:spcPct val="105000"/>
                        </a:lnSpc>
                        <a:spcAft>
                          <a:spcPts val="0"/>
                        </a:spcAft>
                        <a:buNone/>
                      </a:pPr>
                      <a:r>
                        <a:rPr lang="en-SG" sz="1650" b="0">
                          <a:solidFill>
                            <a:srgbClr val="000000"/>
                          </a:solidFill>
                          <a:latin typeface="Times New Roman"/>
                          <a:ea typeface="Times New Roman"/>
                          <a:cs typeface="Times New Roman"/>
                        </a:rPr>
                        <a:t>33.6%</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extLst>
                  <a:ext uri="{0D108BD9-81ED-4DB2-BD59-A6C34878D82A}">
                    <a16:rowId xmlns:a16="http://schemas.microsoft.com/office/drawing/2014/main" val="10001"/>
                  </a:ext>
                </a:extLst>
              </a:tr>
              <a:tr h="438912">
                <a:tc>
                  <a:txBody>
                    <a:bodyPr/>
                    <a:lstStyle/>
                    <a:p>
                      <a:pPr algn="l">
                        <a:lnSpc>
                          <a:spcPct val="105000"/>
                        </a:lnSpc>
                        <a:spcAft>
                          <a:spcPts val="0"/>
                        </a:spcAft>
                        <a:buNone/>
                      </a:pPr>
                      <a:r>
                        <a:rPr lang="en-SG" sz="1650" b="0">
                          <a:solidFill>
                            <a:srgbClr val="000000"/>
                          </a:solidFill>
                          <a:latin typeface="Times New Roman"/>
                          <a:ea typeface="Times New Roman"/>
                          <a:cs typeface="Times New Roman"/>
                        </a:rPr>
                        <a:t>Data Scientist</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tc>
                  <a:txBody>
                    <a:bodyPr/>
                    <a:lstStyle/>
                    <a:p>
                      <a:pPr algn="ctr">
                        <a:lnSpc>
                          <a:spcPct val="105000"/>
                        </a:lnSpc>
                        <a:spcAft>
                          <a:spcPts val="0"/>
                        </a:spcAft>
                        <a:buNone/>
                      </a:pPr>
                      <a:r>
                        <a:rPr lang="en-SG" sz="1650" b="0">
                          <a:solidFill>
                            <a:srgbClr val="000000"/>
                          </a:solidFill>
                          <a:latin typeface="Times New Roman"/>
                          <a:ea typeface="Times New Roman"/>
                          <a:cs typeface="Times New Roman"/>
                        </a:rPr>
                        <a:t>716</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tc>
                  <a:txBody>
                    <a:bodyPr/>
                    <a:lstStyle/>
                    <a:p>
                      <a:pPr algn="ctr">
                        <a:lnSpc>
                          <a:spcPct val="105000"/>
                        </a:lnSpc>
                        <a:spcAft>
                          <a:spcPts val="0"/>
                        </a:spcAft>
                        <a:buNone/>
                      </a:pPr>
                      <a:r>
                        <a:rPr lang="en-SG" sz="1650" b="0">
                          <a:solidFill>
                            <a:srgbClr val="000000"/>
                          </a:solidFill>
                          <a:latin typeface="Times New Roman"/>
                          <a:ea typeface="Times New Roman"/>
                          <a:cs typeface="Times New Roman"/>
                        </a:rPr>
                        <a:t>33.5%</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extLst>
                  <a:ext uri="{0D108BD9-81ED-4DB2-BD59-A6C34878D82A}">
                    <a16:rowId xmlns:a16="http://schemas.microsoft.com/office/drawing/2014/main" val="10002"/>
                  </a:ext>
                </a:extLst>
              </a:tr>
              <a:tr h="438912">
                <a:tc>
                  <a:txBody>
                    <a:bodyPr/>
                    <a:lstStyle/>
                    <a:p>
                      <a:pPr algn="l">
                        <a:lnSpc>
                          <a:spcPct val="105000"/>
                        </a:lnSpc>
                        <a:spcAft>
                          <a:spcPts val="0"/>
                        </a:spcAft>
                        <a:buNone/>
                      </a:pPr>
                      <a:r>
                        <a:rPr lang="en-SG" sz="1650" b="0">
                          <a:solidFill>
                            <a:srgbClr val="000000"/>
                          </a:solidFill>
                          <a:latin typeface="Times New Roman"/>
                          <a:ea typeface="Times New Roman"/>
                          <a:cs typeface="Times New Roman"/>
                        </a:rPr>
                        <a:t>Business Analyst</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tc>
                  <a:txBody>
                    <a:bodyPr/>
                    <a:lstStyle/>
                    <a:p>
                      <a:pPr algn="ctr">
                        <a:lnSpc>
                          <a:spcPct val="105000"/>
                        </a:lnSpc>
                        <a:spcAft>
                          <a:spcPts val="0"/>
                        </a:spcAft>
                        <a:buNone/>
                      </a:pPr>
                      <a:r>
                        <a:rPr lang="en-SG" sz="1650" b="0">
                          <a:solidFill>
                            <a:srgbClr val="000000"/>
                          </a:solidFill>
                          <a:latin typeface="Times New Roman"/>
                          <a:ea typeface="Times New Roman"/>
                          <a:cs typeface="Times New Roman"/>
                        </a:rPr>
                        <a:t>705</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tc>
                  <a:txBody>
                    <a:bodyPr/>
                    <a:lstStyle/>
                    <a:p>
                      <a:pPr algn="ctr">
                        <a:lnSpc>
                          <a:spcPct val="105000"/>
                        </a:lnSpc>
                        <a:spcAft>
                          <a:spcPts val="0"/>
                        </a:spcAft>
                        <a:buNone/>
                      </a:pPr>
                      <a:r>
                        <a:rPr lang="en-SG" sz="1650" b="0">
                          <a:solidFill>
                            <a:srgbClr val="000000"/>
                          </a:solidFill>
                          <a:latin typeface="Times New Roman"/>
                          <a:ea typeface="Times New Roman"/>
                          <a:cs typeface="Times New Roman"/>
                        </a:rPr>
                        <a:t>32.9%</a:t>
                      </a:r>
                      <a:endParaRPr lang="en-SG" sz="1650"/>
                    </a:p>
                  </a:txBody>
                  <a:tcPr anchor="ctr">
                    <a:lnL w="0">
                      <a:noFill/>
                    </a:lnL>
                    <a:lnR w="0">
                      <a:noFill/>
                    </a:lnR>
                    <a:lnT w="6350" cap="flat" cmpd="sng" algn="ctr">
                      <a:solidFill>
                        <a:srgbClr val="CCD5E0"/>
                      </a:solidFill>
                      <a:prstDash val="solid"/>
                      <a:round/>
                      <a:headEnd type="none" w="med" len="med"/>
                      <a:tailEnd type="none" w="med" len="med"/>
                    </a:lnT>
                    <a:lnB w="6350">
                      <a:solidFill>
                        <a:srgbClr val="CCD5E0"/>
                      </a:solidFill>
                    </a:lnB>
                    <a:solidFill>
                      <a:srgbClr val="FFFFFF"/>
                    </a:solidFill>
                  </a:tcPr>
                </a:tc>
                <a:extLst>
                  <a:ext uri="{0D108BD9-81ED-4DB2-BD59-A6C34878D82A}">
                    <a16:rowId xmlns:a16="http://schemas.microsoft.com/office/drawing/2014/main" val="10003"/>
                  </a:ext>
                </a:extLst>
              </a:tr>
            </a:tbl>
          </a:graphicData>
        </a:graphic>
      </p:graphicFrame>
      <p:sp>
        <p:nvSpPr>
          <p:cNvPr id="103" name="Project content 103"/>
          <p:cNvSpPr txBox="1"/>
          <p:nvPr/>
        </p:nvSpPr>
        <p:spPr>
          <a:xfrm>
            <a:off x="4754880" y="1508760"/>
            <a:ext cx="3246120" cy="365760"/>
          </a:xfrm>
          <a:prstGeom prst="rect">
            <a:avLst/>
          </a:prstGeom>
          <a:noFill/>
          <a:ln>
            <a:noFill/>
          </a:ln>
        </p:spPr>
        <p:txBody>
          <a:bodyPr wrap="square" lIns="0" tIns="0" rIns="0" bIns="0" anchor="t">
            <a:noAutofit/>
          </a:bodyPr>
          <a:lstStyle/>
          <a:p>
            <a:pPr algn="l">
              <a:lnSpc>
                <a:spcPct val="105000"/>
              </a:lnSpc>
              <a:spcAft>
                <a:spcPts val="0"/>
              </a:spcAft>
              <a:buNone/>
            </a:pPr>
            <a:r>
              <a:rPr lang="en-SG" sz="2100" b="1">
                <a:solidFill>
                  <a:srgbClr val="181C62"/>
                </a:solidFill>
                <a:latin typeface="Times New Roman"/>
                <a:ea typeface="Times New Roman"/>
                <a:cs typeface="Times New Roman"/>
              </a:rPr>
              <a:t>Top-1 must pick one</a:t>
            </a:r>
            <a:endParaRPr lang="en-SG" sz="2100"/>
          </a:p>
        </p:txBody>
      </p:sp>
      <p:sp>
        <p:nvSpPr>
          <p:cNvPr id="104" name="Project content 104"/>
          <p:cNvSpPr txBox="1"/>
          <p:nvPr/>
        </p:nvSpPr>
        <p:spPr>
          <a:xfrm>
            <a:off x="4754880" y="1993392"/>
            <a:ext cx="3246120" cy="914400"/>
          </a:xfrm>
          <a:prstGeom prst="rect">
            <a:avLst/>
          </a:prstGeom>
          <a:noFill/>
          <a:ln>
            <a:noFill/>
          </a:ln>
        </p:spPr>
        <p:txBody>
          <a:bodyPr wrap="square" lIns="0" tIns="0" rIns="0" bIns="0" anchor="t">
            <a:noAutofit/>
          </a:bodyPr>
          <a:lstStyle/>
          <a:p>
            <a:pPr algn="l">
              <a:lnSpc>
                <a:spcPct val="105000"/>
              </a:lnSpc>
              <a:spcAft>
                <a:spcPts val="0"/>
              </a:spcAft>
              <a:buNone/>
            </a:pPr>
            <a:r>
              <a:rPr lang="en-SG" sz="1800" b="0">
                <a:solidFill>
                  <a:srgbClr val="000000"/>
                </a:solidFill>
                <a:latin typeface="Times New Roman"/>
                <a:ea typeface="Times New Roman"/>
                <a:cs typeface="Times New Roman"/>
              </a:rPr>
              <a:t>Labels split almost equally.</a:t>
            </a:r>
            <a:endParaRPr lang="en-SG" sz="1800"/>
          </a:p>
          <a:p>
            <a:pPr algn="l">
              <a:lnSpc>
                <a:spcPct val="105000"/>
              </a:lnSpc>
              <a:spcAft>
                <a:spcPts val="0"/>
              </a:spcAft>
              <a:buNone/>
            </a:pPr>
            <a:r>
              <a:rPr lang="en-SG" sz="1800" b="0">
                <a:solidFill>
                  <a:srgbClr val="000000"/>
                </a:solidFill>
                <a:latin typeface="Times New Roman"/>
                <a:ea typeface="Times New Roman"/>
                <a:cs typeface="Times New Roman"/>
              </a:rPr>
              <a:t>The tested models struggle to</a:t>
            </a:r>
            <a:endParaRPr lang="en-SG" sz="1800"/>
          </a:p>
          <a:p>
            <a:pPr algn="l">
              <a:lnSpc>
                <a:spcPct val="105000"/>
              </a:lnSpc>
              <a:spcAft>
                <a:spcPts val="0"/>
              </a:spcAft>
              <a:buNone/>
            </a:pPr>
            <a:r>
              <a:rPr lang="en-SG" sz="1800" b="0">
                <a:solidFill>
                  <a:srgbClr val="000000"/>
                </a:solidFill>
                <a:latin typeface="Times New Roman"/>
                <a:ea typeface="Times New Roman"/>
                <a:cs typeface="Times New Roman"/>
              </a:rPr>
              <a:t>separate careers within a group.</a:t>
            </a:r>
            <a:endParaRPr lang="en-SG" sz="1800"/>
          </a:p>
        </p:txBody>
      </p:sp>
      <p:sp>
        <p:nvSpPr>
          <p:cNvPr id="105" name="Project content 105"/>
          <p:cNvSpPr txBox="1"/>
          <p:nvPr/>
        </p:nvSpPr>
        <p:spPr>
          <a:xfrm>
            <a:off x="4754880" y="3081528"/>
            <a:ext cx="3246120" cy="365760"/>
          </a:xfrm>
          <a:prstGeom prst="rect">
            <a:avLst/>
          </a:prstGeom>
          <a:noFill/>
          <a:ln>
            <a:noFill/>
          </a:ln>
        </p:spPr>
        <p:txBody>
          <a:bodyPr wrap="square" lIns="0" tIns="0" rIns="0" bIns="0" anchor="t">
            <a:noAutofit/>
          </a:bodyPr>
          <a:lstStyle/>
          <a:p>
            <a:pPr algn="l">
              <a:lnSpc>
                <a:spcPct val="105000"/>
              </a:lnSpc>
              <a:spcAft>
                <a:spcPts val="0"/>
              </a:spcAft>
              <a:buNone/>
            </a:pPr>
            <a:r>
              <a:rPr lang="en-SG" sz="2100" b="1">
                <a:solidFill>
                  <a:srgbClr val="181C62"/>
                </a:solidFill>
                <a:latin typeface="Times New Roman"/>
                <a:ea typeface="Times New Roman"/>
                <a:cs typeface="Times New Roman"/>
              </a:rPr>
              <a:t>Top-3 can list the group</a:t>
            </a:r>
            <a:endParaRPr lang="en-SG" sz="2100"/>
          </a:p>
        </p:txBody>
      </p:sp>
      <p:sp>
        <p:nvSpPr>
          <p:cNvPr id="106" name="Project content 106"/>
          <p:cNvSpPr txBox="1"/>
          <p:nvPr/>
        </p:nvSpPr>
        <p:spPr>
          <a:xfrm>
            <a:off x="4754880" y="3584448"/>
            <a:ext cx="3246120" cy="457200"/>
          </a:xfrm>
          <a:prstGeom prst="rect">
            <a:avLst/>
          </a:prstGeom>
          <a:noFill/>
          <a:ln>
            <a:noFill/>
          </a:ln>
        </p:spPr>
        <p:txBody>
          <a:bodyPr wrap="square" lIns="0" tIns="0" rIns="0" bIns="0" anchor="t">
            <a:noAutofit/>
          </a:bodyPr>
          <a:lstStyle/>
          <a:p>
            <a:pPr algn="l">
              <a:lnSpc>
                <a:spcPct val="105000"/>
              </a:lnSpc>
              <a:spcAft>
                <a:spcPts val="0"/>
              </a:spcAft>
              <a:buNone/>
            </a:pPr>
            <a:r>
              <a:rPr lang="en-SG" sz="1800" b="0">
                <a:solidFill>
                  <a:srgbClr val="000000"/>
                </a:solidFill>
                <a:latin typeface="Times New Roman"/>
                <a:ea typeface="Times New Roman"/>
                <a:cs typeface="Times New Roman"/>
              </a:rPr>
              <a:t>All three labels fit in the shortlist.</a:t>
            </a:r>
            <a:endParaRPr lang="en-SG" sz="1800"/>
          </a:p>
        </p:txBody>
      </p:sp>
      <p:sp>
        <p:nvSpPr>
          <p:cNvPr id="107" name="Project content 107"/>
          <p:cNvSpPr txBox="1"/>
          <p:nvPr/>
        </p:nvSpPr>
        <p:spPr>
          <a:xfrm>
            <a:off x="594360" y="4133088"/>
            <a:ext cx="7406640" cy="347472"/>
          </a:xfrm>
          <a:prstGeom prst="rect">
            <a:avLst/>
          </a:prstGeom>
          <a:noFill/>
          <a:ln>
            <a:noFill/>
          </a:ln>
        </p:spPr>
        <p:txBody>
          <a:bodyPr wrap="square" lIns="0" tIns="0" rIns="0" bIns="0" anchor="t">
            <a:noAutofit/>
          </a:bodyPr>
          <a:lstStyle/>
          <a:p>
            <a:pPr algn="l">
              <a:lnSpc>
                <a:spcPct val="105000"/>
              </a:lnSpc>
              <a:spcAft>
                <a:spcPts val="0"/>
              </a:spcAft>
              <a:buNone/>
            </a:pPr>
            <a:r>
              <a:rPr lang="en-SG" sz="1700" b="0">
                <a:solidFill>
                  <a:srgbClr val="000000"/>
                </a:solidFill>
                <a:latin typeface="Times New Roman"/>
                <a:ea typeface="Times New Roman"/>
                <a:cs typeface="Times New Roman"/>
              </a:rPr>
              <a:t>Six of seven interests have 3 careers. Software Development has 4.</a:t>
            </a:r>
            <a:endParaRPr lang="en-SG" sz="1700"/>
          </a:p>
        </p:txBody>
      </p:sp>
      <p:sp>
        <p:nvSpPr>
          <p:cNvPr id="108" name="Project content 108"/>
          <p:cNvSpPr txBox="1"/>
          <p:nvPr/>
        </p:nvSpPr>
        <p:spPr>
          <a:xfrm>
            <a:off x="594360" y="4553712"/>
            <a:ext cx="7406640" cy="320040"/>
          </a:xfrm>
          <a:prstGeom prst="rect">
            <a:avLst/>
          </a:prstGeom>
          <a:noFill/>
          <a:ln>
            <a:noFill/>
          </a:ln>
        </p:spPr>
        <p:txBody>
          <a:bodyPr wrap="square" lIns="0" tIns="0" rIns="0" bIns="0" anchor="t">
            <a:noAutofit/>
          </a:bodyPr>
          <a:lstStyle/>
          <a:p>
            <a:pPr algn="l">
              <a:lnSpc>
                <a:spcPct val="105000"/>
              </a:lnSpc>
              <a:spcAft>
                <a:spcPts val="0"/>
              </a:spcAft>
              <a:buNone/>
            </a:pPr>
            <a:r>
              <a:rPr lang="en-SG" sz="1700" b="1">
                <a:solidFill>
                  <a:srgbClr val="181C62"/>
                </a:solidFill>
                <a:latin typeface="Times New Roman"/>
                <a:ea typeface="Times New Roman"/>
                <a:cs typeface="Times New Roman"/>
              </a:rPr>
              <a:t>High Top-3 measures shortlist coverage. First-choice ranking remains difficult.</a:t>
            </a:r>
            <a:endParaRPr lang="en-SG" sz="1700"/>
          </a:p>
        </p:txBody>
      </p:sp>
    </p:spTree>
    <p:extLst>
      <p:ext uri="{BB962C8B-B14F-4D97-AF65-F5344CB8AC3E}">
        <p14:creationId xmlns:p14="http://schemas.microsoft.com/office/powerpoint/2010/main" val="3635135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92A34-321B-4823-198C-E6BEFABE4DB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018BD9-2DD1-B671-AFF5-9BDD92FDB94B}"/>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05 Discussion </a:t>
            </a:r>
          </a:p>
        </p:txBody>
      </p:sp>
      <p:sp>
        <p:nvSpPr>
          <p:cNvPr id="6" name="Slide Number Placeholder 5">
            <a:extLst>
              <a:ext uri="{FF2B5EF4-FFF2-40B4-BE49-F238E27FC236}">
                <a16:creationId xmlns:a16="http://schemas.microsoft.com/office/drawing/2014/main" id="{2DDF7B9E-4C13-2068-8AB6-B8F8DD50C2D8}"/>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15</a:t>
            </a:fld>
            <a:endParaRPr lang="en-US" dirty="0"/>
          </a:p>
        </p:txBody>
      </p:sp>
      <p:cxnSp>
        <p:nvCxnSpPr>
          <p:cNvPr id="28" name="Straight Connector 27">
            <a:extLst>
              <a:ext uri="{FF2B5EF4-FFF2-40B4-BE49-F238E27FC236}">
                <a16:creationId xmlns:a16="http://schemas.microsoft.com/office/drawing/2014/main" id="{EE2C5F07-FC17-0829-8BB2-14D4FB87E07C}"/>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3AC1ECD4-B06D-1D9B-57A7-16BD0CD777D7}"/>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1FE0446E-93F9-C65A-69EB-A29DCDDA17C8}"/>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AC8A0098-6258-BAB4-4089-3667A1849562}"/>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346846BB-CDB1-427E-EA84-BF74831021FD}"/>
              </a:ext>
            </a:extLst>
          </p:cNvPr>
          <p:cNvSpPr txBox="1"/>
          <p:nvPr/>
        </p:nvSpPr>
        <p:spPr>
          <a:xfrm rot="5400000">
            <a:off x="8356032" y="1274739"/>
            <a:ext cx="94288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A9D8413A-DBDD-6770-59CC-31A95049CD6F}"/>
              </a:ext>
            </a:extLst>
          </p:cNvPr>
          <p:cNvSpPr txBox="1"/>
          <p:nvPr/>
        </p:nvSpPr>
        <p:spPr>
          <a:xfrm rot="5400000">
            <a:off x="8311147" y="2205227"/>
            <a:ext cx="1032655"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BAE6C876-A75E-19EA-972E-5E7B4C79CA5A}"/>
              </a:ext>
            </a:extLst>
          </p:cNvPr>
          <p:cNvSpPr txBox="1"/>
          <p:nvPr/>
        </p:nvSpPr>
        <p:spPr>
          <a:xfrm rot="5400000">
            <a:off x="8528356" y="2952171"/>
            <a:ext cx="59824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75B6532F-BE12-5BFD-4AB3-0BD62B46D161}"/>
              </a:ext>
            </a:extLst>
          </p:cNvPr>
          <p:cNvSpPr txBox="1"/>
          <p:nvPr/>
        </p:nvSpPr>
        <p:spPr>
          <a:xfrm rot="5400000">
            <a:off x="8389695" y="3573600"/>
            <a:ext cx="875561" cy="276999"/>
          </a:xfrm>
          <a:prstGeom prst="rect">
            <a:avLst/>
          </a:prstGeom>
          <a:noFill/>
        </p:spPr>
        <p:txBody>
          <a:bodyPr wrap="none" rtlCol="0">
            <a:spAutoFit/>
          </a:bodyPr>
          <a:lstStyle/>
          <a:p>
            <a:r>
              <a:rPr lang="en-SG" sz="1200" b="1" dirty="0">
                <a:solidFill>
                  <a:schemeClr val="bg1"/>
                </a:solidFill>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61993968-4BAF-7601-9273-2FDE52FE35F9}"/>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883E5FA3-B52D-5C45-8962-EC8F84510092}"/>
              </a:ext>
            </a:extLst>
          </p:cNvPr>
          <p:cNvSpPr txBox="1"/>
          <p:nvPr/>
        </p:nvSpPr>
        <p:spPr>
          <a:xfrm>
            <a:off x="870708" y="937730"/>
            <a:ext cx="2961067"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Limitations and Challenges </a:t>
            </a:r>
          </a:p>
        </p:txBody>
      </p:sp>
    </p:spTree>
    <p:extLst>
      <p:ext uri="{BB962C8B-B14F-4D97-AF65-F5344CB8AC3E}">
        <p14:creationId xmlns:p14="http://schemas.microsoft.com/office/powerpoint/2010/main" val="25401882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0B3C0-F398-6ABD-409F-01DE5E4871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3E25D4-8F42-5AD3-3C61-38BF1C2E7635}"/>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05 Discussion </a:t>
            </a:r>
          </a:p>
        </p:txBody>
      </p:sp>
      <p:sp>
        <p:nvSpPr>
          <p:cNvPr id="6" name="Slide Number Placeholder 5">
            <a:extLst>
              <a:ext uri="{FF2B5EF4-FFF2-40B4-BE49-F238E27FC236}">
                <a16:creationId xmlns:a16="http://schemas.microsoft.com/office/drawing/2014/main" id="{4F8A4893-90F9-4550-A724-D19D6BC8AF86}"/>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16</a:t>
            </a:fld>
            <a:endParaRPr lang="en-US" dirty="0"/>
          </a:p>
        </p:txBody>
      </p:sp>
      <p:cxnSp>
        <p:nvCxnSpPr>
          <p:cNvPr id="28" name="Straight Connector 27">
            <a:extLst>
              <a:ext uri="{FF2B5EF4-FFF2-40B4-BE49-F238E27FC236}">
                <a16:creationId xmlns:a16="http://schemas.microsoft.com/office/drawing/2014/main" id="{ECE90057-5110-B1A4-3EAE-ABA66A26FDC5}"/>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FA9F88BE-6458-D94D-4DFA-F4D74AEE488F}"/>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2" name="Teardrop 17">
            <a:extLst>
              <a:ext uri="{FF2B5EF4-FFF2-40B4-BE49-F238E27FC236}">
                <a16:creationId xmlns:a16="http://schemas.microsoft.com/office/drawing/2014/main" id="{2BB54BB6-6885-62F0-5C30-85D3DB5E465C}"/>
              </a:ext>
            </a:extLst>
          </p:cNvPr>
          <p:cNvSpPr/>
          <p:nvPr/>
        </p:nvSpPr>
        <p:spPr>
          <a:xfrm>
            <a:off x="559485" y="995841"/>
            <a:ext cx="311223" cy="311222"/>
          </a:xfrm>
          <a:prstGeom prst="teardrop">
            <a:avLst/>
          </a:prstGeom>
          <a:solidFill>
            <a:srgbClr val="181C6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rIns="0" anchor="ctr">
            <a:normAutofit fontScale="55000" lnSpcReduction="20000"/>
            <a:scene3d>
              <a:camera prst="orthographicFront"/>
              <a:lightRig rig="threePt" dir="t"/>
            </a:scene3d>
            <a:sp3d contourW="12700"/>
          </a:bodyPr>
          <a:lstStyle/>
          <a:p>
            <a:pPr algn="ctr"/>
            <a:endParaRPr lang="en-US" b="1" spc="-100" dirty="0">
              <a:solidFill>
                <a:schemeClr val="bg1"/>
              </a:solidFill>
              <a:latin typeface="Arial" panose="020B0604020202020204" pitchFamily="34" charset="0"/>
              <a:cs typeface="Arial" panose="020B0604020202020204" pitchFamily="34" charset="0"/>
            </a:endParaRPr>
          </a:p>
        </p:txBody>
      </p:sp>
      <p:sp>
        <p:nvSpPr>
          <p:cNvPr id="15" name="TextBox 14">
            <a:extLst>
              <a:ext uri="{FF2B5EF4-FFF2-40B4-BE49-F238E27FC236}">
                <a16:creationId xmlns:a16="http://schemas.microsoft.com/office/drawing/2014/main" id="{1D620807-7468-3810-5D36-1EDBDF1F039C}"/>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0731E80D-4830-C447-EE8C-BF0C717FD4C1}"/>
              </a:ext>
            </a:extLst>
          </p:cNvPr>
          <p:cNvSpPr txBox="1"/>
          <p:nvPr/>
        </p:nvSpPr>
        <p:spPr>
          <a:xfrm rot="5400000">
            <a:off x="8356032" y="1274739"/>
            <a:ext cx="94288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FC820707-F509-4B23-5FB6-77F7F2CEB762}"/>
              </a:ext>
            </a:extLst>
          </p:cNvPr>
          <p:cNvSpPr txBox="1"/>
          <p:nvPr/>
        </p:nvSpPr>
        <p:spPr>
          <a:xfrm rot="5400000">
            <a:off x="8311147" y="2205227"/>
            <a:ext cx="1032655"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38A324C9-8A6B-F51C-61EF-3A0D7CFCF4F9}"/>
              </a:ext>
            </a:extLst>
          </p:cNvPr>
          <p:cNvSpPr txBox="1"/>
          <p:nvPr/>
        </p:nvSpPr>
        <p:spPr>
          <a:xfrm rot="5400000">
            <a:off x="8528355" y="2952171"/>
            <a:ext cx="59824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6781C6BE-6DA7-6079-EDEF-C18DBC5BF161}"/>
              </a:ext>
            </a:extLst>
          </p:cNvPr>
          <p:cNvSpPr txBox="1"/>
          <p:nvPr/>
        </p:nvSpPr>
        <p:spPr>
          <a:xfrm rot="5400000">
            <a:off x="8389695" y="3573600"/>
            <a:ext cx="875561" cy="276999"/>
          </a:xfrm>
          <a:prstGeom prst="rect">
            <a:avLst/>
          </a:prstGeom>
          <a:noFill/>
        </p:spPr>
        <p:txBody>
          <a:bodyPr wrap="none" rtlCol="0">
            <a:spAutoFit/>
          </a:bodyPr>
          <a:lstStyle/>
          <a:p>
            <a:r>
              <a:rPr lang="en-SG" sz="1200" b="1" dirty="0">
                <a:solidFill>
                  <a:schemeClr val="bg1"/>
                </a:solidFill>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D946A901-6AF8-AD88-1878-75FCEDA27C80}"/>
              </a:ext>
            </a:extLst>
          </p:cNvPr>
          <p:cNvSpPr txBox="1"/>
          <p:nvPr/>
        </p:nvSpPr>
        <p:spPr>
          <a:xfrm rot="5400000">
            <a:off x="8416145" y="4317816"/>
            <a:ext cx="82266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Conclusion</a:t>
            </a:r>
          </a:p>
        </p:txBody>
      </p:sp>
      <p:sp>
        <p:nvSpPr>
          <p:cNvPr id="30" name="TextBox 29">
            <a:extLst>
              <a:ext uri="{FF2B5EF4-FFF2-40B4-BE49-F238E27FC236}">
                <a16:creationId xmlns:a16="http://schemas.microsoft.com/office/drawing/2014/main" id="{E49B61C5-CA1D-0B45-E2D6-E85EC1D15DE0}"/>
              </a:ext>
            </a:extLst>
          </p:cNvPr>
          <p:cNvSpPr txBox="1"/>
          <p:nvPr/>
        </p:nvSpPr>
        <p:spPr>
          <a:xfrm>
            <a:off x="870708" y="937730"/>
            <a:ext cx="2525050" cy="369332"/>
          </a:xfrm>
          <a:prstGeom prst="rect">
            <a:avLst/>
          </a:prstGeom>
          <a:noFill/>
        </p:spPr>
        <p:txBody>
          <a:bodyPr wrap="none" rtlCol="0">
            <a:spAutoFit/>
          </a:bodyPr>
          <a:lstStyle/>
          <a:p>
            <a:r>
              <a:rPr lang="en-SG" b="1" dirty="0">
                <a:latin typeface="Times New Roman" panose="02020603050405020304" pitchFamily="18" charset="0"/>
                <a:cs typeface="Times New Roman" panose="02020603050405020304" pitchFamily="18" charset="0"/>
              </a:rPr>
              <a:t>Ethics and</a:t>
            </a:r>
            <a:r>
              <a:rPr lang="ko-KR" altLang="en-US" b="1" dirty="0">
                <a:latin typeface="Times New Roman" panose="02020603050405020304" pitchFamily="18" charset="0"/>
                <a:cs typeface="Times New Roman" panose="02020603050405020304" pitchFamily="18" charset="0"/>
              </a:rPr>
              <a:t> </a:t>
            </a:r>
            <a:r>
              <a:rPr lang="en-SG" altLang="ko-KR" b="1" dirty="0">
                <a:latin typeface="Times New Roman" panose="02020603050405020304" pitchFamily="18" charset="0"/>
                <a:cs typeface="Times New Roman" panose="02020603050405020304" pitchFamily="18" charset="0"/>
              </a:rPr>
              <a:t>Responsible</a:t>
            </a:r>
            <a:endParaRPr lang="en-SG"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30612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459781-99AD-C097-0C58-A89BA4FD0A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B1FD99-653A-730F-3BAF-6B57E0FCCDF4}"/>
              </a:ext>
            </a:extLst>
          </p:cNvPr>
          <p:cNvSpPr>
            <a:spLocks noGrp="1"/>
          </p:cNvSpPr>
          <p:nvPr>
            <p:ph type="title"/>
          </p:nvPr>
        </p:nvSpPr>
        <p:spPr>
          <a:xfrm>
            <a:off x="64929" y="114298"/>
            <a:ext cx="3238648" cy="554419"/>
          </a:xfrm>
        </p:spPr>
        <p:txBody>
          <a:bodyPr>
            <a:noAutofit/>
          </a:bodyPr>
          <a:lstStyle/>
          <a:p>
            <a:r>
              <a:rPr lang="en-US" sz="2800"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06 Conclusion</a:t>
            </a:r>
          </a:p>
        </p:txBody>
      </p:sp>
      <p:sp>
        <p:nvSpPr>
          <p:cNvPr id="6" name="Slide Number Placeholder 5">
            <a:extLst>
              <a:ext uri="{FF2B5EF4-FFF2-40B4-BE49-F238E27FC236}">
                <a16:creationId xmlns:a16="http://schemas.microsoft.com/office/drawing/2014/main" id="{875F5CA1-2FF5-887C-0A3A-F7BD4A564F6C}"/>
              </a:ext>
            </a:extLst>
          </p:cNvPr>
          <p:cNvSpPr>
            <a:spLocks noGrp="1"/>
          </p:cNvSpPr>
          <p:nvPr>
            <p:ph type="sldNum" sz="quarter" idx="12"/>
          </p:nvPr>
        </p:nvSpPr>
        <p:spPr>
          <a:xfrm>
            <a:off x="6377354" y="4584679"/>
            <a:ext cx="2133600" cy="273844"/>
          </a:xfrm>
        </p:spPr>
        <p:txBody>
          <a:bodyPr/>
          <a:lstStyle/>
          <a:p>
            <a:fld id="{8E6562B1-0B0F-0246-9532-09536BC2AE59}" type="slidenum">
              <a:rPr lang="en-US" smtClean="0"/>
              <a:t>17</a:t>
            </a:fld>
            <a:endParaRPr lang="en-US" dirty="0"/>
          </a:p>
        </p:txBody>
      </p:sp>
      <p:cxnSp>
        <p:nvCxnSpPr>
          <p:cNvPr id="28" name="Straight Connector 27">
            <a:extLst>
              <a:ext uri="{FF2B5EF4-FFF2-40B4-BE49-F238E27FC236}">
                <a16:creationId xmlns:a16="http://schemas.microsoft.com/office/drawing/2014/main" id="{BD722415-9F63-3D1F-C171-150B01F24CF7}"/>
              </a:ext>
            </a:extLst>
          </p:cNvPr>
          <p:cNvCxnSpPr>
            <a:cxnSpLocks/>
          </p:cNvCxnSpPr>
          <p:nvPr/>
        </p:nvCxnSpPr>
        <p:spPr>
          <a:xfrm>
            <a:off x="0" y="712002"/>
            <a:ext cx="9144000" cy="0"/>
          </a:xfrm>
          <a:prstGeom prst="line">
            <a:avLst/>
          </a:prstGeom>
          <a:ln>
            <a:solidFill>
              <a:schemeClr val="accent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 name="직사각형 2">
            <a:extLst>
              <a:ext uri="{FF2B5EF4-FFF2-40B4-BE49-F238E27FC236}">
                <a16:creationId xmlns:a16="http://schemas.microsoft.com/office/drawing/2014/main" id="{045CCDBF-D970-62CA-DB8C-655E4ACFBB9D}"/>
              </a:ext>
            </a:extLst>
          </p:cNvPr>
          <p:cNvSpPr/>
          <p:nvPr/>
        </p:nvSpPr>
        <p:spPr>
          <a:xfrm>
            <a:off x="8510954" y="0"/>
            <a:ext cx="633046" cy="4879340"/>
          </a:xfrm>
          <a:prstGeom prst="rect">
            <a:avLst/>
          </a:prstGeom>
          <a:solidFill>
            <a:srgbClr val="0250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effectLst>
                <a:outerShdw blurRad="38100" dist="38100" dir="2700000" algn="tl">
                  <a:srgbClr val="000000">
                    <a:alpha val="43137"/>
                  </a:srgbClr>
                </a:outerShdw>
              </a:effectLst>
            </a:endParaRPr>
          </a:p>
        </p:txBody>
      </p:sp>
      <p:sp>
        <p:nvSpPr>
          <p:cNvPr id="15" name="TextBox 14">
            <a:extLst>
              <a:ext uri="{FF2B5EF4-FFF2-40B4-BE49-F238E27FC236}">
                <a16:creationId xmlns:a16="http://schemas.microsoft.com/office/drawing/2014/main" id="{636521A6-A53A-90D9-25BC-3AE4A81A94BE}"/>
              </a:ext>
            </a:extLst>
          </p:cNvPr>
          <p:cNvSpPr txBox="1"/>
          <p:nvPr/>
        </p:nvSpPr>
        <p:spPr>
          <a:xfrm rot="5400000">
            <a:off x="8388092" y="385128"/>
            <a:ext cx="87876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Introduction</a:t>
            </a:r>
          </a:p>
        </p:txBody>
      </p:sp>
      <p:sp>
        <p:nvSpPr>
          <p:cNvPr id="20" name="TextBox 19">
            <a:extLst>
              <a:ext uri="{FF2B5EF4-FFF2-40B4-BE49-F238E27FC236}">
                <a16:creationId xmlns:a16="http://schemas.microsoft.com/office/drawing/2014/main" id="{A3270186-C36A-3EB1-25B9-F91DA9F5FFF4}"/>
              </a:ext>
            </a:extLst>
          </p:cNvPr>
          <p:cNvSpPr txBox="1"/>
          <p:nvPr/>
        </p:nvSpPr>
        <p:spPr>
          <a:xfrm rot="5400000">
            <a:off x="8356032" y="1274739"/>
            <a:ext cx="942887"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Methodology</a:t>
            </a:r>
          </a:p>
        </p:txBody>
      </p:sp>
      <p:sp>
        <p:nvSpPr>
          <p:cNvPr id="22" name="TextBox 21">
            <a:extLst>
              <a:ext uri="{FF2B5EF4-FFF2-40B4-BE49-F238E27FC236}">
                <a16:creationId xmlns:a16="http://schemas.microsoft.com/office/drawing/2014/main" id="{AC91CB51-67F8-2495-2C26-A683B2C277FA}"/>
              </a:ext>
            </a:extLst>
          </p:cNvPr>
          <p:cNvSpPr txBox="1"/>
          <p:nvPr/>
        </p:nvSpPr>
        <p:spPr>
          <a:xfrm rot="5400000">
            <a:off x="8311147" y="2205227"/>
            <a:ext cx="1032655"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AI Application</a:t>
            </a:r>
          </a:p>
        </p:txBody>
      </p:sp>
      <p:sp>
        <p:nvSpPr>
          <p:cNvPr id="24" name="TextBox 23">
            <a:extLst>
              <a:ext uri="{FF2B5EF4-FFF2-40B4-BE49-F238E27FC236}">
                <a16:creationId xmlns:a16="http://schemas.microsoft.com/office/drawing/2014/main" id="{E8F9DA54-E959-3841-76F4-EBAA0618B4BB}"/>
              </a:ext>
            </a:extLst>
          </p:cNvPr>
          <p:cNvSpPr txBox="1"/>
          <p:nvPr/>
        </p:nvSpPr>
        <p:spPr>
          <a:xfrm rot="5400000">
            <a:off x="8528356" y="2952171"/>
            <a:ext cx="598241"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Results</a:t>
            </a:r>
          </a:p>
        </p:txBody>
      </p:sp>
      <p:sp>
        <p:nvSpPr>
          <p:cNvPr id="26" name="TextBox 25">
            <a:extLst>
              <a:ext uri="{FF2B5EF4-FFF2-40B4-BE49-F238E27FC236}">
                <a16:creationId xmlns:a16="http://schemas.microsoft.com/office/drawing/2014/main" id="{168EDFDB-89A7-5BD0-BD49-FA10F5B8CDE5}"/>
              </a:ext>
            </a:extLst>
          </p:cNvPr>
          <p:cNvSpPr txBox="1"/>
          <p:nvPr/>
        </p:nvSpPr>
        <p:spPr>
          <a:xfrm rot="5400000">
            <a:off x="8428969" y="3581294"/>
            <a:ext cx="797013" cy="261610"/>
          </a:xfrm>
          <a:prstGeom prst="rect">
            <a:avLst/>
          </a:prstGeom>
          <a:noFill/>
        </p:spPr>
        <p:txBody>
          <a:bodyPr wrap="none" rtlCol="0">
            <a:spAutoFit/>
          </a:bodyPr>
          <a:lstStyle/>
          <a:p>
            <a:r>
              <a:rPr lang="en-SG" sz="1100" dirty="0">
                <a:latin typeface="Times New Roman" panose="02020603050405020304" pitchFamily="18" charset="0"/>
                <a:cs typeface="Times New Roman" panose="02020603050405020304" pitchFamily="18" charset="0"/>
              </a:rPr>
              <a:t>Discussion</a:t>
            </a:r>
          </a:p>
        </p:txBody>
      </p:sp>
      <p:sp>
        <p:nvSpPr>
          <p:cNvPr id="29" name="TextBox 28">
            <a:extLst>
              <a:ext uri="{FF2B5EF4-FFF2-40B4-BE49-F238E27FC236}">
                <a16:creationId xmlns:a16="http://schemas.microsoft.com/office/drawing/2014/main" id="{45B3FF0E-DCAF-63A6-AB5C-E438FFC94C13}"/>
              </a:ext>
            </a:extLst>
          </p:cNvPr>
          <p:cNvSpPr txBox="1"/>
          <p:nvPr/>
        </p:nvSpPr>
        <p:spPr>
          <a:xfrm rot="5400000">
            <a:off x="8368055" y="4310122"/>
            <a:ext cx="918841" cy="276999"/>
          </a:xfrm>
          <a:prstGeom prst="rect">
            <a:avLst/>
          </a:prstGeom>
          <a:noFill/>
        </p:spPr>
        <p:txBody>
          <a:bodyPr wrap="none" rtlCol="0">
            <a:spAutoFit/>
          </a:bodyPr>
          <a:lstStyle/>
          <a:p>
            <a:r>
              <a:rPr lang="en-SG" sz="1200" b="1" dirty="0">
                <a:solidFill>
                  <a:schemeClr val="bg1"/>
                </a:solidFill>
                <a:latin typeface="Times New Roman" panose="02020603050405020304" pitchFamily="18" charset="0"/>
                <a:cs typeface="Times New Roman" panose="02020603050405020304" pitchFamily="18" charset="0"/>
              </a:rPr>
              <a:t>Conclusion</a:t>
            </a:r>
          </a:p>
        </p:txBody>
      </p:sp>
    </p:spTree>
    <p:extLst>
      <p:ext uri="{BB962C8B-B14F-4D97-AF65-F5344CB8AC3E}">
        <p14:creationId xmlns:p14="http://schemas.microsoft.com/office/powerpoint/2010/main" val="5337851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사각형: 잘린 대각선 방향 모서리 3">
            <a:extLst>
              <a:ext uri="{FF2B5EF4-FFF2-40B4-BE49-F238E27FC236}">
                <a16:creationId xmlns:a16="http://schemas.microsoft.com/office/drawing/2014/main" id="{8C73B8BC-6500-93D2-60C1-424375C4DA9F}"/>
              </a:ext>
            </a:extLst>
          </p:cNvPr>
          <p:cNvSpPr/>
          <p:nvPr/>
        </p:nvSpPr>
        <p:spPr>
          <a:xfrm>
            <a:off x="0" y="0"/>
            <a:ext cx="9144000" cy="4885818"/>
          </a:xfrm>
          <a:prstGeom prst="snip2DiagRect">
            <a:avLst>
              <a:gd name="adj1" fmla="val 0"/>
              <a:gd name="adj2" fmla="val 50000"/>
            </a:avLst>
          </a:prstGeom>
          <a:solidFill>
            <a:srgbClr val="181C62">
              <a:alpha val="9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p>
        </p:txBody>
      </p:sp>
      <p:sp>
        <p:nvSpPr>
          <p:cNvPr id="2" name="Title 1">
            <a:extLst>
              <a:ext uri="{FF2B5EF4-FFF2-40B4-BE49-F238E27FC236}">
                <a16:creationId xmlns:a16="http://schemas.microsoft.com/office/drawing/2014/main" id="{A67233FC-B4D4-4804-AB98-60E21CC1B129}"/>
              </a:ext>
            </a:extLst>
          </p:cNvPr>
          <p:cNvSpPr>
            <a:spLocks noGrp="1"/>
          </p:cNvSpPr>
          <p:nvPr>
            <p:ph type="title"/>
          </p:nvPr>
        </p:nvSpPr>
        <p:spPr>
          <a:xfrm>
            <a:off x="280416" y="1780793"/>
            <a:ext cx="8229600" cy="857251"/>
          </a:xfrm>
        </p:spPr>
        <p:txBody>
          <a:bodyPr/>
          <a:lstStyle/>
          <a:p>
            <a:pPr algn="ctr"/>
            <a:r>
              <a:rPr lang="en-US" b="1" dirty="0">
                <a:solidFill>
                  <a:schemeClr val="bg1"/>
                </a:solidFill>
                <a:effectLst>
                  <a:outerShdw blurRad="38100" dist="38100" dir="2700000" algn="tl">
                    <a:srgbClr val="000000">
                      <a:alpha val="43137"/>
                    </a:srgbClr>
                  </a:outerShdw>
                </a:effectLst>
                <a:latin typeface="+mn-lt"/>
              </a:rPr>
              <a:t>Thank you</a:t>
            </a:r>
          </a:p>
        </p:txBody>
      </p:sp>
      <p:pic>
        <p:nvPicPr>
          <p:cNvPr id="6" name="그림 5" descr="Our History | NTU Singapore">
            <a:extLst>
              <a:ext uri="{FF2B5EF4-FFF2-40B4-BE49-F238E27FC236}">
                <a16:creationId xmlns:a16="http://schemas.microsoft.com/office/drawing/2014/main" id="{E9E0B88F-374B-7E80-DD94-EFB95D7A6B6D}"/>
              </a:ext>
            </a:extLst>
          </p:cNvPr>
          <p:cNvPicPr>
            <a:picLocks noChangeAspect="1"/>
          </p:cNvPicPr>
          <p:nvPr/>
        </p:nvPicPr>
        <p:blipFill>
          <a:blip r:embed="rId2"/>
          <a:srcRect l="11131" r="17029"/>
          <a:stretch>
            <a:fillRect/>
          </a:stretch>
        </p:blipFill>
        <p:spPr>
          <a:xfrm>
            <a:off x="6150864" y="0"/>
            <a:ext cx="3264185" cy="2724662"/>
          </a:xfrm>
          <a:prstGeom prst="rect">
            <a:avLst/>
          </a:prstGeom>
          <a:effectLst>
            <a:softEdge rad="635000"/>
          </a:effectLst>
        </p:spPr>
      </p:pic>
      <p:pic>
        <p:nvPicPr>
          <p:cNvPr id="7" name="그림 6" descr="Exploring Nanyang Technological University | IAMCR">
            <a:extLst>
              <a:ext uri="{FF2B5EF4-FFF2-40B4-BE49-F238E27FC236}">
                <a16:creationId xmlns:a16="http://schemas.microsoft.com/office/drawing/2014/main" id="{C30B85B9-B05A-0E2F-0B30-9F0585B50FE1}"/>
              </a:ext>
            </a:extLst>
          </p:cNvPr>
          <p:cNvPicPr>
            <a:picLocks noChangeAspect="1"/>
          </p:cNvPicPr>
          <p:nvPr/>
        </p:nvPicPr>
        <p:blipFill>
          <a:blip r:embed="rId3"/>
          <a:stretch>
            <a:fillRect/>
          </a:stretch>
        </p:blipFill>
        <p:spPr>
          <a:xfrm>
            <a:off x="-137160" y="2461386"/>
            <a:ext cx="3892296" cy="2594864"/>
          </a:xfrm>
          <a:prstGeom prst="rect">
            <a:avLst/>
          </a:prstGeom>
          <a:effectLst>
            <a:softEdge rad="635000"/>
          </a:effectLst>
        </p:spPr>
      </p:pic>
    </p:spTree>
    <p:extLst>
      <p:ext uri="{BB962C8B-B14F-4D97-AF65-F5344CB8AC3E}">
        <p14:creationId xmlns:p14="http://schemas.microsoft.com/office/powerpoint/2010/main" val="34352508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28E816AC679FF4C86C22834E825BD05" ma:contentTypeVersion="1" ma:contentTypeDescription="Create a new document." ma:contentTypeScope="" ma:versionID="066e42d507d75a122d0db91dd470f30a">
  <xsd:schema xmlns:xsd="http://www.w3.org/2001/XMLSchema" xmlns:xs="http://www.w3.org/2001/XMLSchema" xmlns:p="http://schemas.microsoft.com/office/2006/metadata/properties" xmlns:ns1="http://schemas.microsoft.com/sharepoint/v3" targetNamespace="http://schemas.microsoft.com/office/2006/metadata/properties" ma:root="true" ma:fieldsID="48c5b5cd9b8d25ff6dd15848836f4270" ns1:_="">
    <xsd:import namespace="http://schemas.microsoft.com/sharepoint/v3"/>
    <xsd:element name="properties">
      <xsd:complexType>
        <xsd:sequence>
          <xsd:element name="documentManagement">
            <xsd:complexType>
              <xsd:all>
                <xsd:element ref="ns1:PublishingStartDate" minOccurs="0"/>
                <xsd:element ref="ns1:PublishingExpirationDat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8"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9"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64D3FE7-A0C8-4453-A806-BCAD6F53B901}">
  <ds:schemaRefs>
    <ds:schemaRef ds:uri="http://schemas.microsoft.com/office/infopath/2007/PartnerControls"/>
    <ds:schemaRef ds:uri="http://schemas.microsoft.com/office/2006/documentManagement/types"/>
    <ds:schemaRef ds:uri="http://purl.org/dc/dcmitype/"/>
    <ds:schemaRef ds:uri="http://purl.org/dc/terms/"/>
    <ds:schemaRef ds:uri="http://purl.org/dc/elements/1.1/"/>
    <ds:schemaRef ds:uri="http://schemas.openxmlformats.org/package/2006/metadata/core-properties"/>
    <ds:schemaRef ds:uri="http://schemas.microsoft.com/sharepoint/v3"/>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6CCB8030-6F99-446F-BD3B-E5E3F435F1FD}">
  <ds:schemaRefs>
    <ds:schemaRef ds:uri="http://schemas.microsoft.com/sharepoint/v3/contenttype/forms"/>
  </ds:schemaRefs>
</ds:datastoreItem>
</file>

<file path=customXml/itemProps3.xml><?xml version="1.0" encoding="utf-8"?>
<ds:datastoreItem xmlns:ds="http://schemas.openxmlformats.org/officeDocument/2006/customXml" ds:itemID="{AFA540F8-4ACB-4DC8-920F-A3CE5A42B98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20549</TotalTime>
  <Words>1350</Words>
  <Application>Microsoft Office PowerPoint</Application>
  <PresentationFormat>On-screen Show (16:9)</PresentationFormat>
  <Paragraphs>287</Paragraphs>
  <Slides>18</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Times New Roman</vt:lpstr>
      <vt:lpstr>Office Theme</vt:lpstr>
      <vt:lpstr>From Education to Career:  AI-Based Career Recommendation System</vt:lpstr>
      <vt:lpstr>Table of contents</vt:lpstr>
      <vt:lpstr>01 Introduction</vt:lpstr>
      <vt:lpstr>01 Introduction</vt:lpstr>
      <vt:lpstr>01 Introduction</vt:lpstr>
      <vt:lpstr>02 Methodology</vt:lpstr>
      <vt:lpstr>02 Methodology</vt:lpstr>
      <vt:lpstr>02 Methodology</vt:lpstr>
      <vt:lpstr>03 AI Application </vt:lpstr>
      <vt:lpstr>03 AI Application </vt:lpstr>
      <vt:lpstr>03 AI Application </vt:lpstr>
      <vt:lpstr>03 AI Application </vt:lpstr>
      <vt:lpstr>04 Results </vt:lpstr>
      <vt:lpstr>04 Results </vt:lpstr>
      <vt:lpstr>05 Discussion </vt:lpstr>
      <vt:lpstr>05 Discussion </vt:lpstr>
      <vt:lpstr>06 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Modelling and Analysis of Metamaterial for Vibration Control</dc:title>
  <dc:creator>#ZHANG JIAZHEN#</dc:creator>
  <cp:lastModifiedBy>#NGUYEN THIEN AN#</cp:lastModifiedBy>
  <cp:revision>594</cp:revision>
  <cp:lastPrinted>2024-08-10T08:28:50Z</cp:lastPrinted>
  <dcterms:created xsi:type="dcterms:W3CDTF">2017-05-14T01:29:56Z</dcterms:created>
  <dcterms:modified xsi:type="dcterms:W3CDTF">2026-10-22T07:45:18Z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0x010100E28E816AC679FF4C86C22834E825BD05</vt:lpwstr>
  </property>
</Properties>
</file>